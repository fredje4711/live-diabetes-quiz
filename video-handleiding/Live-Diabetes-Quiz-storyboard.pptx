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8acbcc168a54e56" /><Relationship Type="http://schemas.openxmlformats.org/officeDocument/2006/relationships/extended-properties" Target="/docProps/app.xml" Id="R1eb3a7e72a2b40fb" /><Relationship Type="http://schemas.openxmlformats.org/officeDocument/2006/relationships/officeDocument" Target="/ppt/presentation.xml" Id="R7d5d3f52a5dd43dd" /></Relationships>
</file>

<file path=ppt/presentation.xml><?xml version="1.0" encoding="utf-8"?>
<p:presentation xmlns:p="http://schemas.openxmlformats.org/presentationml/2006/main">
  <p:sldMasterIdLst>
    <p:sldMasterId xmlns:r="http://schemas.openxmlformats.org/officeDocument/2006/relationships" id="2147483648" r:id="Re11949a2400a428d"/>
  </p:sldMasterIdLst>
  <p:notesMasterIdLst>
    <p:notesMasterId xmlns:r="http://schemas.openxmlformats.org/officeDocument/2006/relationships" r:id="R01d4e3df2c3841fd"/>
  </p:notesMasterIdLst>
  <p:sldIdLst>
    <p:sldId xmlns:r="http://schemas.openxmlformats.org/officeDocument/2006/relationships" id="256" r:id="R5390eec433b64f83"/>
    <p:sldId xmlns:r="http://schemas.openxmlformats.org/officeDocument/2006/relationships" id="257" r:id="Rdd2bb86bfd3541b8"/>
    <p:sldId xmlns:r="http://schemas.openxmlformats.org/officeDocument/2006/relationships" id="258" r:id="R0da8111bcc524a62"/>
    <p:sldId xmlns:r="http://schemas.openxmlformats.org/officeDocument/2006/relationships" id="259" r:id="Redf4267afbd340c8"/>
    <p:sldId xmlns:r="http://schemas.openxmlformats.org/officeDocument/2006/relationships" id="260" r:id="R661d3f77771d4e46"/>
    <p:sldId xmlns:r="http://schemas.openxmlformats.org/officeDocument/2006/relationships" id="261" r:id="R9dd2262ab7cc44aa"/>
    <p:sldId xmlns:r="http://schemas.openxmlformats.org/officeDocument/2006/relationships" id="262" r:id="R57d690a514c54429"/>
    <p:sldId xmlns:r="http://schemas.openxmlformats.org/officeDocument/2006/relationships" id="263" r:id="R07bca66f728a4e68"/>
    <p:sldId xmlns:r="http://schemas.openxmlformats.org/officeDocument/2006/relationships" id="264" r:id="Rda17c0f82d4d4503"/>
    <p:sldId xmlns:r="http://schemas.openxmlformats.org/officeDocument/2006/relationships" id="265" r:id="R253c3bc08dfa4ef7"/>
    <p:sldId xmlns:r="http://schemas.openxmlformats.org/officeDocument/2006/relationships" id="266" r:id="R41392fcfcb7c483d"/>
    <p:sldId xmlns:r="http://schemas.openxmlformats.org/officeDocument/2006/relationships" id="267" r:id="R39df790da4b6475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4dc5b13fe47411b" /><Relationship Type="http://schemas.openxmlformats.org/officeDocument/2006/relationships/slideMaster" Target="/ppt/slideMasters/slideMaster1.xml" Id="Re11949a2400a428d" /><Relationship Type="http://schemas.openxmlformats.org/officeDocument/2006/relationships/notesMaster" Target="/ppt/notesMasters/notesMaster1.xml" Id="R01d4e3df2c3841fd" /><Relationship Type="http://schemas.openxmlformats.org/officeDocument/2006/relationships/presProps" Target="/ppt/presProps.xml" Id="R6dcc5cdce16c47a2" /><Relationship Type="http://schemas.openxmlformats.org/officeDocument/2006/relationships/tableStyles" Target="/ppt/tableStyles.xml" Id="R46945a6afd484ad3" /><Relationship Type="http://schemas.openxmlformats.org/officeDocument/2006/relationships/slide" Target="/ppt/slides/slide1.xml" Id="R5390eec433b64f83" /><Relationship Type="http://schemas.openxmlformats.org/officeDocument/2006/relationships/slide" Target="/ppt/slides/slide2.xml" Id="Rdd2bb86bfd3541b8" /><Relationship Type="http://schemas.openxmlformats.org/officeDocument/2006/relationships/slide" Target="/ppt/slides/slide3.xml" Id="R0da8111bcc524a62" /><Relationship Type="http://schemas.openxmlformats.org/officeDocument/2006/relationships/slide" Target="/ppt/slides/slide4.xml" Id="Redf4267afbd340c8" /><Relationship Type="http://schemas.openxmlformats.org/officeDocument/2006/relationships/slide" Target="/ppt/slides/slide5.xml" Id="R661d3f77771d4e46" /><Relationship Type="http://schemas.openxmlformats.org/officeDocument/2006/relationships/slide" Target="/ppt/slides/slide6.xml" Id="R9dd2262ab7cc44aa" /><Relationship Type="http://schemas.openxmlformats.org/officeDocument/2006/relationships/slide" Target="/ppt/slides/slide7.xml" Id="R57d690a514c54429" /><Relationship Type="http://schemas.openxmlformats.org/officeDocument/2006/relationships/slide" Target="/ppt/slides/slide8.xml" Id="R07bca66f728a4e68" /><Relationship Type="http://schemas.openxmlformats.org/officeDocument/2006/relationships/slide" Target="/ppt/slides/slide9.xml" Id="Rda17c0f82d4d4503" /><Relationship Type="http://schemas.openxmlformats.org/officeDocument/2006/relationships/slide" Target="/ppt/slides/slide10.xml" Id="R253c3bc08dfa4ef7" /><Relationship Type="http://schemas.openxmlformats.org/officeDocument/2006/relationships/slide" Target="/ppt/slides/slide11.xml" Id="R41392fcfcb7c483d" /><Relationship Type="http://schemas.openxmlformats.org/officeDocument/2006/relationships/slide" Target="/ppt/slides/slide12.xml" Id="R39df790da4b6475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0e83b57009243f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d3c622ebc194390" /><Relationship Type="http://schemas.openxmlformats.org/officeDocument/2006/relationships/notesMaster" Target="/ppt/notesMasters/notesMaster1.xml" Id="Rcf1e6ef501c4448a" /></Relationships>
</file>

<file path=ppt/notesSlides/_rels/notesSlide2.xml.rels>&#65279;<?xml version="1.0" encoding="utf-8"?><Relationships xmlns="http://schemas.openxmlformats.org/package/2006/relationships"><Relationship Type="http://schemas.openxmlformats.org/officeDocument/2006/relationships/slide" Target="/ppt/slides/slide2.xml" Id="Rb87e8b2f770c4e24" /><Relationship Type="http://schemas.openxmlformats.org/officeDocument/2006/relationships/notesMaster" Target="/ppt/notesMasters/notesMaster1.xml" Id="R9915ae0b6cc34cdb" /></Relationships>
</file>

<file path=ppt/notesSlides/_rels/notesSlide3.xml.rels>&#65279;<?xml version="1.0" encoding="utf-8"?><Relationships xmlns="http://schemas.openxmlformats.org/package/2006/relationships"><Relationship Type="http://schemas.openxmlformats.org/officeDocument/2006/relationships/slide" Target="/ppt/slides/slide3.xml" Id="R0f0495ed44214c38" /><Relationship Type="http://schemas.openxmlformats.org/officeDocument/2006/relationships/notesMaster" Target="/ppt/notesMasters/notesMaster1.xml" Id="R863cf82e06f84809" /></Relationships>
</file>

<file path=ppt/notesSlides/_rels/notesSlide4.xml.rels>&#65279;<?xml version="1.0" encoding="utf-8"?><Relationships xmlns="http://schemas.openxmlformats.org/package/2006/relationships"><Relationship Type="http://schemas.openxmlformats.org/officeDocument/2006/relationships/slide" Target="/ppt/slides/slide4.xml" Id="Rb4dfb34b91414650" /><Relationship Type="http://schemas.openxmlformats.org/officeDocument/2006/relationships/notesMaster" Target="/ppt/notesMasters/notesMaster1.xml" Id="R11c4a87dc7524ca1" /></Relationships>
</file>

<file path=ppt/notesSlides/_rels/notesSlide5.xml.rels>&#65279;<?xml version="1.0" encoding="utf-8"?><Relationships xmlns="http://schemas.openxmlformats.org/package/2006/relationships"><Relationship Type="http://schemas.openxmlformats.org/officeDocument/2006/relationships/slide" Target="/ppt/slides/slide5.xml" Id="Rfd0ca8e3cf3f4d0e" /><Relationship Type="http://schemas.openxmlformats.org/officeDocument/2006/relationships/notesMaster" Target="/ppt/notesMasters/notesMaster1.xml" Id="R441e918264b14f7c" /></Relationships>
</file>

<file path=ppt/notesSlides/_rels/notesSlide6.xml.rels>&#65279;<?xml version="1.0" encoding="utf-8"?><Relationships xmlns="http://schemas.openxmlformats.org/package/2006/relationships"><Relationship Type="http://schemas.openxmlformats.org/officeDocument/2006/relationships/slide" Target="/ppt/slides/slide6.xml" Id="R5e3837b90ed24e86" /><Relationship Type="http://schemas.openxmlformats.org/officeDocument/2006/relationships/notesMaster" Target="/ppt/notesMasters/notesMaster1.xml" Id="R08cefa39a6024606" /></Relationships>
</file>

<file path=ppt/notesSlides/_rels/notesSlide7.xml.rels>&#65279;<?xml version="1.0" encoding="utf-8"?><Relationships xmlns="http://schemas.openxmlformats.org/package/2006/relationships"><Relationship Type="http://schemas.openxmlformats.org/officeDocument/2006/relationships/slide" Target="/ppt/slides/slide7.xml" Id="R1e80f418fea34f14" /><Relationship Type="http://schemas.openxmlformats.org/officeDocument/2006/relationships/notesMaster" Target="/ppt/notesMasters/notesMaster1.xml" Id="R223bb8d0ddb3488d" /></Relationships>
</file>

<file path=ppt/notesSlides/_rels/notesSlide8.xml.rels>&#65279;<?xml version="1.0" encoding="utf-8"?><Relationships xmlns="http://schemas.openxmlformats.org/package/2006/relationships"><Relationship Type="http://schemas.openxmlformats.org/officeDocument/2006/relationships/slide" Target="/ppt/slides/slide8.xml" Id="Rf59c000731054e8d" /><Relationship Type="http://schemas.openxmlformats.org/officeDocument/2006/relationships/notesMaster" Target="/ppt/notesMasters/notesMaster1.xml" Id="Rcf044a4afa2f4725" /></Relationships>
</file>

<file path=ppt/notesSlides/_rels/notesSlide9.xml.rels>&#65279;<?xml version="1.0" encoding="utf-8"?><Relationships xmlns="http://schemas.openxmlformats.org/package/2006/relationships"><Relationship Type="http://schemas.openxmlformats.org/officeDocument/2006/relationships/slide" Target="/ppt/slides/slide9.xml" Id="R982292cebbc14dc0" /><Relationship Type="http://schemas.openxmlformats.org/officeDocument/2006/relationships/notesMaster" Target="/ppt/notesMasters/notesMaster1.xml" Id="Rcb5e6714d04b4ca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3fef458cc934ad6" /><Relationship Type="http://schemas.openxmlformats.org/officeDocument/2006/relationships/notesMaster" Target="/ppt/notesMasters/notesMaster1.xml" Id="R4fa838bba9ac439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310bac1ea7a449d" /><Relationship Type="http://schemas.openxmlformats.org/officeDocument/2006/relationships/notesMaster" Target="/ppt/notesMasters/notesMaster1.xml" Id="R0cb9f65d7dda468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3253454f9d44021" /><Relationship Type="http://schemas.openxmlformats.org/officeDocument/2006/relationships/notesMaster" Target="/ppt/notesMasters/notesMaster1.xml" Id="Rb6e543e032424e3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GESCHATTE DUUR: 20 seconden</a:t>
            </a:r>
          </a:p>
          <a:p xmlns:a="http://schemas.openxmlformats.org/drawingml/2006/main">
            <a:r>
              <a:t/>
            </a:r>
          </a:p>
          <a:p xmlns:a="http://schemas.openxmlformats.org/drawingml/2006/main">
            <a:r>
              <a:t>VOICE-OVER:</a:t>
            </a:r>
          </a:p>
          <a:p xmlns:a="http://schemas.openxmlformats.org/drawingml/2006/main">
            <a:r>
              <a:t>Welkom bij de Live Diabetes Quiz. In deze korte handleiding doorlopen we rustig alle stappen, vanaf het voorbereiden van de quiz tot en met de eindanalyse. U ziet telkens dezelfde schermen en knoppen die u later ook werkelijk gebruikt. Zo kunt u vooraf vertrouwd raken met de werking en zonder haast aan een quiz beginnen.</a:t>
            </a:r>
          </a:p>
          <a:p xmlns:a="http://schemas.openxmlformats.org/drawingml/2006/main">
            <a:r>
              <a:t/>
            </a:r>
          </a:p>
          <a:p xmlns:a="http://schemas.openxmlformats.org/drawingml/2006/main">
            <a:r>
              <a:t>CANVA-AANWIJZING:</a:t>
            </a:r>
          </a:p>
          <a:p xmlns:a="http://schemas.openxmlformats.org/drawingml/2006/main">
            <a:r>
              <a:t>Laat eerst het logo verschijnen. Daarna komen titel en ondertitel rustig in beeld.</a:t>
            </a:r>
          </a:p>
          <a:p xmlns:a="http://schemas.openxmlformats.org/drawingml/2006/main">
            <a:r>
              <a:t/>
            </a:r>
          </a:p>
          <a:p xmlns:a="http://schemas.openxmlformats.org/drawingml/2006/main">
            <a:r>
              <a:t>[Sources]</a:t>
            </a:r>
          </a:p>
          <a:p xmlns:a="http://schemas.openxmlformats.org/drawingml/2006/main">
            <a:r>
              <a:t>- Eigen projectbeeld: C:\Users\fredd\Documents\Live quiz\docs\assets\logo-diabetes-liga-midden-limburg.png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GESCHATTE DUUR: 35 seconden</a:t>
            </a:r>
          </a:p>
          <a:p xmlns:a="http://schemas.openxmlformats.org/drawingml/2006/main">
            <a:r>
              <a:t/>
            </a:r>
          </a:p>
          <a:p xmlns:a="http://schemas.openxmlformats.org/drawingml/2006/main">
            <a:r>
              <a:t>VOICE-OVER:</a:t>
            </a:r>
          </a:p>
          <a:p xmlns:a="http://schemas.openxmlformats.org/drawingml/2006/main">
            <a:r>
              <a:t>De quiz gebruikt drie verschillende schermen. De quizmaster bedient de quiz op de laptop. Iedere deelnemer antwoordt anoniem op de eigen gsm. Op het grote zaalscherm ziet iedereen dezelfde vraag en de vier mogelijke antwoorden. Onderaan verschijnen het aantal verbonden deelnemers en het aantal ontvangen antwoorden. Zo kan de quizmaster rustig wachten tot de zaal klaar is.</a:t>
            </a:r>
          </a:p>
          <a:p xmlns:a="http://schemas.openxmlformats.org/drawingml/2006/main">
            <a:r>
              <a:t/>
            </a:r>
          </a:p>
          <a:p xmlns:a="http://schemas.openxmlformats.org/drawingml/2006/main">
            <a:r>
              <a:t>CANVA-AANWIJZING:</a:t>
            </a:r>
          </a:p>
          <a:p xmlns:a="http://schemas.openxmlformats.org/drawingml/2006/main">
            <a:r>
              <a:t>Toon achtereenvolgens de drie regels links. Zoom daarna kort in op de twee aantallen onderaan het zaalscherm.</a:t>
            </a:r>
          </a:p>
          <a:p xmlns:a="http://schemas.openxmlformats.org/drawingml/2006/main">
            <a:r>
              <a:t/>
            </a:r>
          </a:p>
          <a:p xmlns:a="http://schemas.openxmlformats.org/drawingml/2006/main">
            <a:r>
              <a:t>[Sources]</a:t>
            </a:r>
          </a:p>
          <a:p xmlns:a="http://schemas.openxmlformats.org/drawingml/2006/main">
            <a:r>
              <a:t>- Eigen projectbeeld: C:\Users\fredd\Documents\Live quiz\docs\assets\handleiding\zaalscherm-vraag.jpg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GESCHATTE DUUR: 35 seconden</a:t>
            </a:r>
          </a:p>
          <a:p xmlns:a="http://schemas.openxmlformats.org/drawingml/2006/main">
            <a:r>
              <a:t/>
            </a:r>
          </a:p>
          <a:p xmlns:a="http://schemas.openxmlformats.org/drawingml/2006/main">
            <a:r>
              <a:t>VOICE-OVER:</a:t>
            </a:r>
          </a:p>
          <a:p xmlns:a="http://schemas.openxmlformats.org/drawingml/2006/main">
            <a:r>
              <a:t>Open de startpagina en kies Nieuwe quiz starten. U komt op het scherm Quiz voorbereiden. Kies hier het aantal vragen. Vijf vragen is handig voor een korte demonstratie. Tien vragen is aanbevolen voor een gewone quiz. Twintig vragen is het aanbevolen maximum. Klik daarna op Nieuwe quizsessie maken. De quizcode wordt automatisch aangemaakt.</a:t>
            </a:r>
          </a:p>
          <a:p xmlns:a="http://schemas.openxmlformats.org/drawingml/2006/main">
            <a:r>
              <a:t/>
            </a:r>
          </a:p>
          <a:p xmlns:a="http://schemas.openxmlformats.org/drawingml/2006/main">
            <a:r>
              <a:t>CANVA-AANWIJZING:</a:t>
            </a:r>
          </a:p>
          <a:p xmlns:a="http://schemas.openxmlformats.org/drawingml/2006/main">
            <a:r>
              <a:t>Markeer eerst de keuzelijst en daarna de knop Nieuwe quizsessie maken.</a:t>
            </a:r>
          </a:p>
          <a:p xmlns:a="http://schemas.openxmlformats.org/drawingml/2006/main">
            <a:r>
              <a:t/>
            </a:r>
          </a:p>
          <a:p xmlns:a="http://schemas.openxmlformats.org/drawingml/2006/main">
            <a:r>
              <a:t>[Sources]</a:t>
            </a:r>
          </a:p>
          <a:p xmlns:a="http://schemas.openxmlformats.org/drawingml/2006/main">
            <a:r>
              <a:t>- Eigen projectbeeld: C:\Users\fredd\Documents\Live quiz\docs\assets\handleiding\quizmaster-voorbereiden.jpg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GESCHATTE DUUR: 40 seconden</a:t>
            </a:r>
          </a:p>
          <a:p xmlns:a="http://schemas.openxmlformats.org/drawingml/2006/main">
            <a:r>
              <a:t/>
            </a:r>
          </a:p>
          <a:p xmlns:a="http://schemas.openxmlformats.org/drawingml/2006/main">
            <a:r>
              <a:t>VOICE-OVER:</a:t>
            </a:r>
          </a:p>
          <a:p xmlns:a="http://schemas.openxmlformats.org/drawingml/2006/main">
            <a:r>
              <a:t>Na het maken van de sessie verschijnt de quizcode. Op dit scherm staan ook de twee belangrijke voorbereidingsknoppen. Open groot zaalscherm opent het venster dat u op de beamer of grote televisie toont. Deelnemersbriefjes afdrukken maakt twee briefjes per A4. De QR-code op dit scherm is alleen een controlevoorbeeld. Deelnemers gebruiken uitsluitend hun vooraf afgedrukte briefje.</a:t>
            </a:r>
          </a:p>
          <a:p xmlns:a="http://schemas.openxmlformats.org/drawingml/2006/main">
            <a:r>
              <a:t/>
            </a:r>
          </a:p>
          <a:p xmlns:a="http://schemas.openxmlformats.org/drawingml/2006/main">
            <a:r>
              <a:t>CANVA-AANWIJZING:</a:t>
            </a:r>
          </a:p>
          <a:p xmlns:a="http://schemas.openxmlformats.org/drawingml/2006/main">
            <a:r>
              <a:t>Laat eerst de code oplichten, daarna de knop voor het zaalscherm en ten slotte de afdrukknop.</a:t>
            </a:r>
          </a:p>
          <a:p xmlns:a="http://schemas.openxmlformats.org/drawingml/2006/main">
            <a:r>
              <a:t/>
            </a:r>
          </a:p>
          <a:p xmlns:a="http://schemas.openxmlformats.org/drawingml/2006/main">
            <a:r>
              <a:t>[Sources]</a:t>
            </a:r>
          </a:p>
          <a:p xmlns:a="http://schemas.openxmlformats.org/drawingml/2006/main">
            <a:r>
              <a:t>- Eigen projectbeeld: C:\Users\fredd\Documents\Live quiz\docs\assets\handleiding\quizmaster-wachtkamer.jpg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GESCHATTE DUUR: 45 seconden</a:t>
            </a:r>
          </a:p>
          <a:p xmlns:a="http://schemas.openxmlformats.org/drawingml/2006/main">
            <a:r>
              <a:t/>
            </a:r>
          </a:p>
          <a:p xmlns:a="http://schemas.openxmlformats.org/drawingml/2006/main">
            <a:r>
              <a:t>VOICE-OVER:</a:t>
            </a:r>
          </a:p>
          <a:p xmlns:a="http://schemas.openxmlformats.org/drawingml/2006/main">
            <a:r>
              <a:t>Geef iedere deelnemer bij het binnenkomen een briefje. Bovenaan staat eerst de vraag om de gsm met internet te verbinden. Mobiele data is meestal het eenvoudigst. Wie liever de wifi van de zaal gebruikt, kan de wifi-QR-code scannen. Daarna scant de deelnemer de quiz-QR-code. Lukt scannen niet, dan staan ook de internetlink en de driecijferige quizcode duidelijk op het briefje.</a:t>
            </a:r>
          </a:p>
          <a:p xmlns:a="http://schemas.openxmlformats.org/drawingml/2006/main">
            <a:r>
              <a:t/>
            </a:r>
          </a:p>
          <a:p xmlns:a="http://schemas.openxmlformats.org/drawingml/2006/main">
            <a:r>
              <a:t>CANVA-AANWIJZING:</a:t>
            </a:r>
          </a:p>
          <a:p xmlns:a="http://schemas.openxmlformats.org/drawingml/2006/main">
            <a:r>
              <a:t>Volg het briefje van boven naar beneden: internet, wifi, quiz-QR, link en quizcode.</a:t>
            </a:r>
          </a:p>
          <a:p xmlns:a="http://schemas.openxmlformats.org/drawingml/2006/main">
            <a:r>
              <a:t/>
            </a:r>
          </a:p>
          <a:p xmlns:a="http://schemas.openxmlformats.org/drawingml/2006/main">
            <a:r>
              <a:t>[Sources]</a:t>
            </a:r>
          </a:p>
          <a:p xmlns:a="http://schemas.openxmlformats.org/drawingml/2006/main">
            <a:r>
              <a:t>- Eigen projectbeeld: C:\Users\fredd\Documents\Live quiz\docs\assets\handleiding\deelnemersbriefje.jpg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GESCHATTE DUUR: 30 seconden</a:t>
            </a:r>
          </a:p>
          <a:p xmlns:a="http://schemas.openxmlformats.org/drawingml/2006/main">
            <a:r>
              <a:t/>
            </a:r>
          </a:p>
          <a:p xmlns:a="http://schemas.openxmlformats.org/drawingml/2006/main">
            <a:r>
              <a:t>VOICE-OVER:</a:t>
            </a:r>
          </a:p>
          <a:p xmlns:a="http://schemas.openxmlformats.org/drawingml/2006/main">
            <a:r>
              <a:t>Na het scannen komt de deelnemer op het mobiele deelnemersscherm. Zodra de verbinding gelukt is, ziet hij of zij de quizcode, de status Wachtkamer en de melding U bent verbonden. De pagina moet gewoon open blijven staan. Wanneer de quizmaster de eerste vraag start, verschijnt die automatisch. De deelnemer hoeft niets te vernieuwen en geen naam in te vullen.</a:t>
            </a:r>
          </a:p>
          <a:p xmlns:a="http://schemas.openxmlformats.org/drawingml/2006/main">
            <a:r>
              <a:t/>
            </a:r>
          </a:p>
          <a:p xmlns:a="http://schemas.openxmlformats.org/drawingml/2006/main">
            <a:r>
              <a:t>CANVA-AANWIJZING:</a:t>
            </a:r>
          </a:p>
          <a:p xmlns:a="http://schemas.openxmlformats.org/drawingml/2006/main">
            <a:r>
              <a:t>Zoom rustig in op U bent verbonden en daarna op Laat deze pagina open.</a:t>
            </a:r>
          </a:p>
          <a:p xmlns:a="http://schemas.openxmlformats.org/drawingml/2006/main">
            <a:r>
              <a:t/>
            </a:r>
          </a:p>
          <a:p xmlns:a="http://schemas.openxmlformats.org/drawingml/2006/main">
            <a:r>
              <a:t>[Sources]</a:t>
            </a:r>
          </a:p>
          <a:p xmlns:a="http://schemas.openxmlformats.org/drawingml/2006/main">
            <a:r>
              <a:t>- Eigen projectbeeld: C:\Users\fredd\Documents\Live quiz\docs\assets\handleiding\deelnemer-wachtkamer.jpg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GESCHATTE DUUR: 35 seconden</a:t>
            </a:r>
          </a:p>
          <a:p xmlns:a="http://schemas.openxmlformats.org/drawingml/2006/main">
            <a:r>
              <a:t/>
            </a:r>
          </a:p>
          <a:p xmlns:a="http://schemas.openxmlformats.org/drawingml/2006/main">
            <a:r>
              <a:t>VOICE-OVER:</a:t>
            </a:r>
          </a:p>
          <a:p xmlns:a="http://schemas.openxmlformats.org/drawingml/2006/main">
            <a:r>
              <a:t>Wanneer de quiz begint, ziet de deelnemer één vraag met vier grote antwoordknoppen. Tik één keer op het gekozen antwoord. Het antwoord wordt onmiddellijk en anoniem bewaard. Daarna verschijnt een bevestiging. Per vraag wordt maar één antwoord aanvaard. De deelnemer wacht vervolgens rustig tot de quizmaster het juiste antwoord toont of de volgende vraag opent.</a:t>
            </a:r>
          </a:p>
          <a:p xmlns:a="http://schemas.openxmlformats.org/drawingml/2006/main">
            <a:r>
              <a:t/>
            </a:r>
          </a:p>
          <a:p xmlns:a="http://schemas.openxmlformats.org/drawingml/2006/main">
            <a:r>
              <a:t>CANVA-AANWIJZING:</a:t>
            </a:r>
          </a:p>
          <a:p xmlns:a="http://schemas.openxmlformats.org/drawingml/2006/main">
            <a:r>
              <a:t>Laat de vraag verschijnen en markeer daarna één antwoordknop als voorbeeld, zonder een echte keuze voor te schrijven.</a:t>
            </a:r>
          </a:p>
          <a:p xmlns:a="http://schemas.openxmlformats.org/drawingml/2006/main">
            <a:r>
              <a:t/>
            </a:r>
          </a:p>
          <a:p xmlns:a="http://schemas.openxmlformats.org/drawingml/2006/main">
            <a:r>
              <a:t>[Sources]</a:t>
            </a:r>
          </a:p>
          <a:p xmlns:a="http://schemas.openxmlformats.org/drawingml/2006/main">
            <a:r>
              <a:t>- Eigen projectbeeld: C:\Users\fredd\Documents\Live quiz\docs\assets\handleiding\deelnemer-vraag.jpg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GESCHATTE DUUR: 45 seconden</a:t>
            </a:r>
          </a:p>
          <a:p xmlns:a="http://schemas.openxmlformats.org/drawingml/2006/main">
            <a:r>
              <a:t/>
            </a:r>
          </a:p>
          <a:p xmlns:a="http://schemas.openxmlformats.org/drawingml/2006/main">
            <a:r>
              <a:t>VOICE-OVER:</a:t>
            </a:r>
          </a:p>
          <a:p xmlns:a="http://schemas.openxmlformats.org/drawingml/2006/main">
            <a:r>
              <a:t>Op het quizmasterscherm staat dezelfde vraag, maar met extra bedieningsinformatie. U ziet hoeveel deelnemers verbonden zijn en hoeveel antwoorden al ontvangen werden. Wacht rustig tot bijna iedereen geantwoord heeft. Daarna kunt u de antwoorden sluiten. De juiste oplossing is voor de quizmaster al herkenbaar, maar wordt pas aan de zaal getoond wanneer u daar bewust voor kiest.</a:t>
            </a:r>
          </a:p>
          <a:p xmlns:a="http://schemas.openxmlformats.org/drawingml/2006/main">
            <a:r>
              <a:t/>
            </a:r>
          </a:p>
          <a:p xmlns:a="http://schemas.openxmlformats.org/drawingml/2006/main">
            <a:r>
              <a:t>CANVA-AANWIJZING:</a:t>
            </a:r>
          </a:p>
          <a:p xmlns:a="http://schemas.openxmlformats.org/drawingml/2006/main">
            <a:r>
              <a:t>Markeer eerst de twee aantallen, daarna Sluit antwoorden en ten slotte de aanduiding van het juiste antwoord.</a:t>
            </a:r>
          </a:p>
          <a:p xmlns:a="http://schemas.openxmlformats.org/drawingml/2006/main">
            <a:r>
              <a:t/>
            </a:r>
          </a:p>
          <a:p xmlns:a="http://schemas.openxmlformats.org/drawingml/2006/main">
            <a:r>
              <a:t>[Sources]</a:t>
            </a:r>
          </a:p>
          <a:p xmlns:a="http://schemas.openxmlformats.org/drawingml/2006/main">
            <a:r>
              <a:t>- Eigen projectbeeld: C:\Users\fredd\Documents\Live quiz\docs\assets\handleiding\quizmaster-vraag-open.jpg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GESCHATTE DUUR: 40 seconden</a:t>
            </a:r>
          </a:p>
          <a:p xmlns:a="http://schemas.openxmlformats.org/drawingml/2006/main">
            <a:r>
              <a:t/>
            </a:r>
          </a:p>
          <a:p xmlns:a="http://schemas.openxmlformats.org/drawingml/2006/main">
            <a:r>
              <a:t>VOICE-OVER:</a:t>
            </a:r>
          </a:p>
          <a:p xmlns:a="http://schemas.openxmlformats.org/drawingml/2006/main">
            <a:r>
              <a:t>Klik op Toon juiste antwoord wanneer de antwoordtijd voorbij is. Het juiste antwoord wordt dan duidelijk zichtbaar op alle schermen. De quizmaster ziet ook hoe de antwoorden over de vier mogelijkheden verdeeld zijn. Neem even tijd om de oplossing kort toe te lichten. Klik daarna op Volgende vraag. De nieuwe vraag verschijnt automatisch bij alle deelnemers en op het grote zaalscherm.</a:t>
            </a:r>
          </a:p>
          <a:p xmlns:a="http://schemas.openxmlformats.org/drawingml/2006/main">
            <a:r>
              <a:t/>
            </a:r>
          </a:p>
          <a:p xmlns:a="http://schemas.openxmlformats.org/drawingml/2006/main">
            <a:r>
              <a:t>CANVA-AANWIJZING:</a:t>
            </a:r>
          </a:p>
          <a:p xmlns:a="http://schemas.openxmlformats.org/drawingml/2006/main">
            <a:r>
              <a:t>Laat de groene oplossing oplichten, toon kort de antwoordverdeling en eindig bij Volgende vraag.</a:t>
            </a:r>
          </a:p>
          <a:p xmlns:a="http://schemas.openxmlformats.org/drawingml/2006/main">
            <a:r>
              <a:t/>
            </a:r>
          </a:p>
          <a:p xmlns:a="http://schemas.openxmlformats.org/drawingml/2006/main">
            <a:r>
              <a:t>[Sources]</a:t>
            </a:r>
          </a:p>
          <a:p xmlns:a="http://schemas.openxmlformats.org/drawingml/2006/main">
            <a:r>
              <a:t>- Eigen projectbeeld: C:\Users\fredd\Documents\Live quiz\docs\assets\handleiding\quizmaster-oplossing.jpg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GESCHATTE DUUR: 30 seconden</a:t>
            </a:r>
          </a:p>
          <a:p xmlns:a="http://schemas.openxmlformats.org/drawingml/2006/main">
            <a:r>
              <a:t/>
            </a:r>
          </a:p>
          <a:p xmlns:a="http://schemas.openxmlformats.org/drawingml/2006/main">
            <a:r>
              <a:t>VOICE-OVER:</a:t>
            </a:r>
          </a:p>
          <a:p xmlns:a="http://schemas.openxmlformats.org/drawingml/2006/main">
            <a:r>
              <a:t>Na de laatste vraag krijgt iedere deelnemer op de eigen gsm een persoonlijk resultaat. De score en de eigen fout beantwoorde vragen worden overzichtelijk weergegeven. Er wordt geen naam gevraagd en er verschijnt geen publieke rangschikking. Andere deelnemers kunnen dit persoonlijke overzicht dus niet zien. Daarna mag de deelnemer het scherm sluiten.</a:t>
            </a:r>
          </a:p>
          <a:p xmlns:a="http://schemas.openxmlformats.org/drawingml/2006/main">
            <a:r>
              <a:t/>
            </a:r>
          </a:p>
          <a:p xmlns:a="http://schemas.openxmlformats.org/drawingml/2006/main">
            <a:r>
              <a:t>CANVA-AANWIJZING:</a:t>
            </a:r>
          </a:p>
          <a:p xmlns:a="http://schemas.openxmlformats.org/drawingml/2006/main">
            <a:r>
              <a:t>Zoom eerst in op de score en daarna langzaam op één voorbeeld van een fout antwoord.</a:t>
            </a:r>
          </a:p>
          <a:p xmlns:a="http://schemas.openxmlformats.org/drawingml/2006/main">
            <a:r>
              <a:t/>
            </a:r>
          </a:p>
          <a:p xmlns:a="http://schemas.openxmlformats.org/drawingml/2006/main">
            <a:r>
              <a:t>[Sources]</a:t>
            </a:r>
          </a:p>
          <a:p xmlns:a="http://schemas.openxmlformats.org/drawingml/2006/main">
            <a:r>
              <a:t>- Eigen projectbeeld: C:\Users\fredd\Documents\Live quiz\docs\assets\handleiding\deelnemer-resultaat.jpg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GESCHATTE DUUR: 35 seconden</a:t>
            </a:r>
          </a:p>
          <a:p xmlns:a="http://schemas.openxmlformats.org/drawingml/2006/main">
            <a:r>
              <a:t/>
            </a:r>
          </a:p>
          <a:p xmlns:a="http://schemas.openxmlformats.org/drawingml/2006/main">
            <a:r>
              <a:t>VOICE-OVER:</a:t>
            </a:r>
          </a:p>
          <a:p xmlns:a="http://schemas.openxmlformats.org/drawingml/2006/main">
            <a:r>
              <a:t>Op het grote zaalscherm verschijnt de gezamenlijke eindanalyse. Die toont de drie vragen die het vaakst fout werden beantwoord. Bij iedere vraag staat ook het juiste antwoord. Dit is een goed moment om de belangrijkste leerpunten nog eens rustig te herhalen. Persoonlijke scores worden niet op het grote scherm getoond.</a:t>
            </a:r>
          </a:p>
          <a:p xmlns:a="http://schemas.openxmlformats.org/drawingml/2006/main">
            <a:r>
              <a:t/>
            </a:r>
          </a:p>
          <a:p xmlns:a="http://schemas.openxmlformats.org/drawingml/2006/main">
            <a:r>
              <a:t>CANVA-AANWIJZING:</a:t>
            </a:r>
          </a:p>
          <a:p xmlns:a="http://schemas.openxmlformats.org/drawingml/2006/main">
            <a:r>
              <a:t>Laat de titel Eindanalyse verschijnen en toon daarna de nummers één, twee en drie na elkaar.</a:t>
            </a:r>
          </a:p>
          <a:p xmlns:a="http://schemas.openxmlformats.org/drawingml/2006/main">
            <a:r>
              <a:t/>
            </a:r>
          </a:p>
          <a:p xmlns:a="http://schemas.openxmlformats.org/drawingml/2006/main">
            <a:r>
              <a:t>[Sources]</a:t>
            </a:r>
          </a:p>
          <a:p xmlns:a="http://schemas.openxmlformats.org/drawingml/2006/main">
            <a:r>
              <a:t>- Eigen projectbeeld: C:\Users\fredd\Documents\Live quiz\docs\assets\handleiding\zaalscherm-eindanalyse.jpg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GESCHATTE DUUR: 40 seconden</a:t>
            </a:r>
          </a:p>
          <a:p xmlns:a="http://schemas.openxmlformats.org/drawingml/2006/main">
            <a:r>
              <a:t/>
            </a:r>
          </a:p>
          <a:p xmlns:a="http://schemas.openxmlformats.org/drawingml/2006/main">
            <a:r>
              <a:t>VOICE-OVER:</a:t>
            </a:r>
          </a:p>
          <a:p xmlns:a="http://schemas.openxmlformats.org/drawingml/2006/main">
            <a:r>
              <a:t>De quizmaster ziet op de laptop de volledige groepsanalyse. Wilt u nog een quiz spelen, kies dan Nieuwe sessie voorbereiden en selecteer opnieuw het aantal vragen. De gsm’s en het zaalscherm gaan automatisch mee naar de nieuwe sessie. Oefen vóór de eerste echte activiteit gerust eens met vijf vragen en enkele bestuursleden. De volledige handleiding blijft beschikbaar wanneer u later iets opnieuw wilt bekijken.</a:t>
            </a:r>
          </a:p>
          <a:p xmlns:a="http://schemas.openxmlformats.org/drawingml/2006/main">
            <a:r>
              <a:t/>
            </a:r>
          </a:p>
          <a:p xmlns:a="http://schemas.openxmlformats.org/drawingml/2006/main">
            <a:r>
              <a:t>CANVA-AANWIJZING:</a:t>
            </a:r>
          </a:p>
          <a:p xmlns:a="http://schemas.openxmlformats.org/drawingml/2006/main">
            <a:r>
              <a:t>Toon kort de analyse en eindig met een rustige markering rond Nieuwe sessie voorbereiden.</a:t>
            </a:r>
          </a:p>
          <a:p xmlns:a="http://schemas.openxmlformats.org/drawingml/2006/main">
            <a:r>
              <a:t/>
            </a:r>
          </a:p>
          <a:p xmlns:a="http://schemas.openxmlformats.org/drawingml/2006/main">
            <a:r>
              <a:t>[Sources]</a:t>
            </a:r>
          </a:p>
          <a:p xmlns:a="http://schemas.openxmlformats.org/drawingml/2006/main">
            <a:r>
              <a:t>- Eigen projectbeeld: C:\Users\fredd\Documents\Live quiz\docs\assets\handleiding\quizmaster-eindanalyse.jpg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bb9565495a54c7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4babbbd61ad4827" /><Relationship Type="http://schemas.openxmlformats.org/officeDocument/2006/relationships/slideLayout" Target="/ppt/slideLayouts/slideLayout1.xml" Id="R34f70abde92d495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4f70abde92d495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bdf89dff54b4894" /><Relationship Type="http://schemas.openxmlformats.org/officeDocument/2006/relationships/image" Target="/ppt/media/image.png" Id="Rc8a075ad086d4dd2" /><Relationship Type="http://schemas.openxmlformats.org/officeDocument/2006/relationships/notesSlide" Target="/ppt/notesSlides/notesSlide1.xml" Id="Rf2030ebde7e044d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6b2f89c22ed439a" /><Relationship Type="http://schemas.openxmlformats.org/officeDocument/2006/relationships/image" Target="/ppt/media/image.jpeg" Id="R4af33e8894904abf" /><Relationship Type="http://schemas.openxmlformats.org/officeDocument/2006/relationships/notesSlide" Target="/ppt/notesSlides/notesSlide2.xml" Id="R9c6c059e33e54d6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e2b8eeb8c1542ef" /><Relationship Type="http://schemas.openxmlformats.org/officeDocument/2006/relationships/image" Target="/ppt/media/image2.jpeg" Id="R3e2174e2610e4f3d" /><Relationship Type="http://schemas.openxmlformats.org/officeDocument/2006/relationships/notesSlide" Target="/ppt/notesSlides/notesSlide3.xml" Id="Rb6a714f02660458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c3c2321d9f946ff" /><Relationship Type="http://schemas.openxmlformats.org/officeDocument/2006/relationships/image" Target="/ppt/media/image3.jpeg" Id="R766bf5e50de8487a" /><Relationship Type="http://schemas.openxmlformats.org/officeDocument/2006/relationships/notesSlide" Target="/ppt/notesSlides/notesSlide4.xml" Id="R4665243e50fd4bb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abe26e24e4a4870" /><Relationship Type="http://schemas.openxmlformats.org/officeDocument/2006/relationships/image" Target="/ppt/media/image4.jpeg" Id="Rd05a30a22b9145a8" /><Relationship Type="http://schemas.openxmlformats.org/officeDocument/2006/relationships/notesSlide" Target="/ppt/notesSlides/notesSlide5.xml" Id="Rc58da80ad4aa48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073787313ee409b" /><Relationship Type="http://schemas.openxmlformats.org/officeDocument/2006/relationships/image" Target="/ppt/media/image5.jpeg" Id="Re0226e8aee1049d9" /><Relationship Type="http://schemas.openxmlformats.org/officeDocument/2006/relationships/notesSlide" Target="/ppt/notesSlides/notesSlide6.xml" Id="R260d69e0ae23485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20c2e913c02430c" /><Relationship Type="http://schemas.openxmlformats.org/officeDocument/2006/relationships/image" Target="/ppt/media/image6.jpeg" Id="R32c0397d8dd145e8" /><Relationship Type="http://schemas.openxmlformats.org/officeDocument/2006/relationships/notesSlide" Target="/ppt/notesSlides/notesSlide7.xml" Id="Rc5d36c7a75ea4b7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6e5a5f8c3234292" /><Relationship Type="http://schemas.openxmlformats.org/officeDocument/2006/relationships/image" Target="/ppt/media/image7.jpeg" Id="R4bc31bb3dd264ae2" /><Relationship Type="http://schemas.openxmlformats.org/officeDocument/2006/relationships/notesSlide" Target="/ppt/notesSlides/notesSlide8.xml" Id="Rf9bcbde748cd4e7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665c878c703442e" /><Relationship Type="http://schemas.openxmlformats.org/officeDocument/2006/relationships/image" Target="/ppt/media/image8.jpeg" Id="R8898d8dc3386417b" /><Relationship Type="http://schemas.openxmlformats.org/officeDocument/2006/relationships/notesSlide" Target="/ppt/notesSlides/notesSlide9.xml" Id="Rdace7e3dc030456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04eb6f521ac4a95" /><Relationship Type="http://schemas.openxmlformats.org/officeDocument/2006/relationships/image" Target="/ppt/media/image9.jpeg" Id="Rb6a23d047d8949fa" /><Relationship Type="http://schemas.openxmlformats.org/officeDocument/2006/relationships/notesSlide" Target="/ppt/notesSlides/notesSlide10.xml" Id="Rfc934ff80c9e47d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cc9f3db6315480f" /><Relationship Type="http://schemas.openxmlformats.org/officeDocument/2006/relationships/image" Target="/ppt/media/image10.jpeg" Id="R09cb10cfad384195" /><Relationship Type="http://schemas.openxmlformats.org/officeDocument/2006/relationships/notesSlide" Target="/ppt/notesSlides/notesSlide11.xml" Id="R03280ce9659549e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b99f29240424e2b" /><Relationship Type="http://schemas.openxmlformats.org/officeDocument/2006/relationships/image" Target="/ppt/media/image11.jpeg" Id="R763c049e7ceb479a" /><Relationship Type="http://schemas.openxmlformats.org/officeDocument/2006/relationships/notesSlide" Target="/ppt/notesSlides/notesSlide12.xml" Id="R659a10c97488424d" /></Relationships>
</file>

<file path=ppt/slides/slide1.xml><?xml version="1.0" encoding="utf-8"?>
<p:sld xmlns:p="http://schemas.openxmlformats.org/presentationml/2006/main">
  <p:cSld>
    <p:bg>
      <p:bgPr>
        <a:solidFill xmlns:a="http://schemas.openxmlformats.org/drawingml/2006/main">
          <a:srgbClr val="064B70"/>
        </a:solidFill>
      </p:bgPr>
    </p:bg>
    <p:spTree>
      <p:nvGrpSpPr>
        <p:cNvPr id="1" name=""/>
        <p:cNvGrpSpPr/>
        <p:nvPr/>
      </p:nvGrpSpPr>
      <p:grpSpPr>
        <a:xfrm xmlns:a="http://schemas.openxmlformats.org/drawingml/2006/main"/>
      </p:grpSpPr>
      <p:sp>
        <p:nvSpPr>
          <p:cNvPr id="10" name="logo-surface">
            <a:extLst xmlns:a="http://schemas.openxmlformats.org/drawingml/2006/main">
              <a:ext uri="{FF2B5EF4-FFF2-40B4-BE49-F238E27FC236}">
                <a16:creationId xmlns:a16="http://schemas.microsoft.com/office/drawing/2014/main" id="{D535F499-995C-4DC9-8C04-9C1B85AD1F40}"/>
              </a:ext>
            </a:extLst>
          </p:cNvPr>
          <p:cNvSpPr>
            <a:spLocks xmlns:a="http://schemas.openxmlformats.org/drawingml/2006/main" noGrp="1"/>
          </p:cNvSpPr>
          <p:nvPr/>
        </p:nvSpPr>
        <p:spPr>
          <a:xfrm xmlns:a="http://schemas.openxmlformats.org/drawingml/2006/main">
            <a:off x="685800" y="609600"/>
            <a:ext cx="1066800" cy="10668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0">
            <a:noFill/>
            <a:prstDash val="solid"/>
          </a:ln>
        </p:spPr>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c8a075ad086d4dd2"/>
          <a:stretch xmlns:a="http://schemas.openxmlformats.org/drawingml/2006/main"/>
        </p:blipFill>
        <p:spPr>
          <a:xfrm xmlns:a="http://schemas.openxmlformats.org/drawingml/2006/main">
            <a:off x="819150" y="742950"/>
            <a:ext cx="800100" cy="800100"/>
          </a:xfrm>
          <a:prstGeom xmlns:a="http://schemas.openxmlformats.org/drawingml/2006/main" prst="rect">
            <a:avLst/>
          </a:prstGeom>
        </p:spPr>
      </p:pic>
      <p:sp>
        <p:nvSpPr>
          <p:cNvPr id="3" name="title-kicker">
            <a:extLst xmlns:a="http://schemas.openxmlformats.org/drawingml/2006/main">
              <a:ext uri="{FF2B5EF4-FFF2-40B4-BE49-F238E27FC236}">
                <a16:creationId xmlns:a16="http://schemas.microsoft.com/office/drawing/2014/main" id="{1294EDF1-D2B2-4668-A885-E2754F05F627}"/>
              </a:ext>
            </a:extLst>
          </p:cNvPr>
          <p:cNvSpPr>
            <a:spLocks xmlns:a="http://schemas.openxmlformats.org/drawingml/2006/main" noGrp="1"/>
          </p:cNvSpPr>
          <p:nvPr/>
        </p:nvSpPr>
        <p:spPr>
          <a:xfrm xmlns:a="http://schemas.openxmlformats.org/drawingml/2006/main">
            <a:off x="685800" y="21907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BDEFFF"/>
                </a:solidFill>
              </a:defRPr>
            </a:pPr>
            <a:r>
              <a:rPr sz="1200" b="1">
                <a:solidFill>
                  <a:srgbClr val="BDEFFF"/>
                </a:solidFill>
              </a:rPr>
              <a:t>VIDEOHANDLEIDING</a:t>
            </a:r>
          </a:p>
        </p:txBody>
      </p:sp>
      <p:sp>
        <p:nvSpPr>
          <p:cNvPr id="4" name="deck-title">
            <a:extLst xmlns:a="http://schemas.openxmlformats.org/drawingml/2006/main">
              <a:ext uri="{FF2B5EF4-FFF2-40B4-BE49-F238E27FC236}">
                <a16:creationId xmlns:a16="http://schemas.microsoft.com/office/drawing/2014/main" id="{EFDB4DC2-2942-46E2-9A3E-9A697168081C}"/>
              </a:ext>
            </a:extLst>
          </p:cNvPr>
          <p:cNvSpPr>
            <a:spLocks xmlns:a="http://schemas.openxmlformats.org/drawingml/2006/main" noGrp="1"/>
          </p:cNvSpPr>
          <p:nvPr/>
        </p:nvSpPr>
        <p:spPr>
          <a:xfrm xmlns:a="http://schemas.openxmlformats.org/drawingml/2006/main">
            <a:off x="685800" y="2647950"/>
            <a:ext cx="8382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4800" b="1">
                <a:solidFill>
                  <a:srgbClr val="FFFFFF"/>
                </a:solidFill>
              </a:defRPr>
            </a:pPr>
            <a:r>
              <a:rPr sz="4800" b="1">
                <a:solidFill>
                  <a:srgbClr val="FFFFFF"/>
                </a:solidFill>
              </a:rPr>
              <a:t>Live Diabetes Quiz</a:t>
            </a:r>
          </a:p>
        </p:txBody>
      </p:sp>
      <p:sp>
        <p:nvSpPr>
          <p:cNvPr id="5" name="deck-subtitle">
            <a:extLst xmlns:a="http://schemas.openxmlformats.org/drawingml/2006/main">
              <a:ext uri="{FF2B5EF4-FFF2-40B4-BE49-F238E27FC236}">
                <a16:creationId xmlns:a16="http://schemas.microsoft.com/office/drawing/2014/main" id="{E40F9FF5-C31F-466C-BC70-56FE1AADD946}"/>
              </a:ext>
            </a:extLst>
          </p:cNvPr>
          <p:cNvSpPr>
            <a:spLocks xmlns:a="http://schemas.openxmlformats.org/drawingml/2006/main" noGrp="1"/>
          </p:cNvSpPr>
          <p:nvPr/>
        </p:nvSpPr>
        <p:spPr>
          <a:xfrm xmlns:a="http://schemas.openxmlformats.org/drawingml/2006/main">
            <a:off x="685800" y="36385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100">
                <a:solidFill>
                  <a:srgbClr val="E5F8FF"/>
                </a:solidFill>
              </a:defRPr>
            </a:pPr>
            <a:r>
              <a:rPr sz="2100">
                <a:solidFill>
                  <a:srgbClr val="E5F8FF"/>
                </a:solidFill>
              </a:rPr>
              <a:t>Rustig stap voor stap door een volledige zaalquiz</a:t>
            </a:r>
          </a:p>
        </p:txBody>
      </p:sp>
      <p:sp>
        <p:nvSpPr>
          <p:cNvPr id="6" name="title-takeaway">
            <a:extLst xmlns:a="http://schemas.openxmlformats.org/drawingml/2006/main">
              <a:ext uri="{FF2B5EF4-FFF2-40B4-BE49-F238E27FC236}">
                <a16:creationId xmlns:a16="http://schemas.microsoft.com/office/drawing/2014/main" id="{97B2B7D3-60D4-4635-9784-AFE334586FC5}"/>
              </a:ext>
            </a:extLst>
          </p:cNvPr>
          <p:cNvSpPr>
            <a:spLocks xmlns:a="http://schemas.openxmlformats.org/drawingml/2006/main" noGrp="1"/>
          </p:cNvSpPr>
          <p:nvPr/>
        </p:nvSpPr>
        <p:spPr>
          <a:xfrm xmlns:a="http://schemas.openxmlformats.org/drawingml/2006/main">
            <a:off x="685800" y="4953000"/>
            <a:ext cx="8572500" cy="838200"/>
          </a:xfrm>
          <a:prstGeom xmlns:a="http://schemas.openxmlformats.org/drawingml/2006/main" prst="roundRect">
            <a:avLst>
              <a:gd name="adj" fmla="val 13636"/>
            </a:avLst>
          </a:prstGeom>
          <a:solidFill xmlns:a="http://schemas.openxmlformats.org/drawingml/2006/main">
            <a:srgbClr val="0B5C7A"/>
          </a:solidFill>
          <a:ln xmlns:a="http://schemas.openxmlformats.org/drawingml/2006/main" w="9525">
            <a:solidFill>
              <a:srgbClr val="2AA9CF"/>
            </a:solidFill>
            <a:prstDash val="solid"/>
          </a:ln>
        </p:spPr>
      </p:sp>
      <p:sp>
        <p:nvSpPr>
          <p:cNvPr id="7" name="title-takeaway-text">
            <a:extLst xmlns:a="http://schemas.openxmlformats.org/drawingml/2006/main">
              <a:ext uri="{FF2B5EF4-FFF2-40B4-BE49-F238E27FC236}">
                <a16:creationId xmlns:a16="http://schemas.microsoft.com/office/drawing/2014/main" id="{AC3728CC-348D-40A7-A79E-546C240B9F31}"/>
              </a:ext>
            </a:extLst>
          </p:cNvPr>
          <p:cNvSpPr>
            <a:spLocks xmlns:a="http://schemas.openxmlformats.org/drawingml/2006/main" noGrp="1"/>
          </p:cNvSpPr>
          <p:nvPr/>
        </p:nvSpPr>
        <p:spPr>
          <a:xfrm xmlns:a="http://schemas.openxmlformats.org/drawingml/2006/main">
            <a:off x="971550" y="5191125"/>
            <a:ext cx="800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650" b="1">
                <a:solidFill>
                  <a:srgbClr val="FFFFFF"/>
                </a:solidFill>
              </a:defRPr>
            </a:pPr>
            <a:r>
              <a:rPr sz="1650" b="1">
                <a:solidFill>
                  <a:srgbClr val="FFFFFF"/>
                </a:solidFill>
              </a:rPr>
              <a:t>Kijken, herkennen en daarna met vertrouwen zelf starten.</a:t>
            </a:r>
          </a:p>
        </p:txBody>
      </p:sp>
      <p:sp>
        <p:nvSpPr>
          <p:cNvPr id="8" name="organization">
            <a:extLst xmlns:a="http://schemas.openxmlformats.org/drawingml/2006/main">
              <a:ext uri="{FF2B5EF4-FFF2-40B4-BE49-F238E27FC236}">
                <a16:creationId xmlns:a16="http://schemas.microsoft.com/office/drawing/2014/main" id="{7256DA3E-7E5B-4A89-B0BD-90E7CC4B81BE}"/>
              </a:ext>
            </a:extLst>
          </p:cNvPr>
          <p:cNvSpPr>
            <a:spLocks xmlns:a="http://schemas.openxmlformats.org/drawingml/2006/main" noGrp="1"/>
          </p:cNvSpPr>
          <p:nvPr/>
        </p:nvSpPr>
        <p:spPr>
          <a:xfrm xmlns:a="http://schemas.openxmlformats.org/drawingml/2006/main">
            <a:off x="685800" y="628650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BDEFFF"/>
                </a:solidFill>
              </a:defRPr>
            </a:pPr>
            <a:r>
              <a:rPr sz="1200">
                <a:solidFill>
                  <a:srgbClr val="BDEFFF"/>
                </a:solidFill>
              </a:rPr>
              <a:t>Diabetes Liga Midden-Limburg</a:t>
            </a:r>
          </a:p>
        </p:txBody>
      </p:sp>
      <p:sp>
        <p:nvSpPr>
          <p:cNvPr id="9" name="title-accent">
            <a:extLst xmlns:a="http://schemas.openxmlformats.org/drawingml/2006/main">
              <a:ext uri="{FF2B5EF4-FFF2-40B4-BE49-F238E27FC236}">
                <a16:creationId xmlns:a16="http://schemas.microsoft.com/office/drawing/2014/main" id="{DB0D6827-57B0-4ABE-8807-FFA7E63DE067}"/>
              </a:ext>
            </a:extLst>
          </p:cNvPr>
          <p:cNvSpPr>
            <a:spLocks xmlns:a="http://schemas.openxmlformats.org/drawingml/2006/main" noGrp="1"/>
          </p:cNvSpPr>
          <p:nvPr/>
        </p:nvSpPr>
        <p:spPr>
          <a:xfrm xmlns:a="http://schemas.openxmlformats.org/drawingml/2006/main">
            <a:off x="10572750" y="0"/>
            <a:ext cx="1619250" cy="685800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Tree>
    <p:extLst>
      <p:ext uri="{BB962C8B-B14F-4D97-AF65-F5344CB8AC3E}">
        <p14:creationId xmlns:p14="http://schemas.microsoft.com/office/powerpoint/2010/main" val="1546614108"/>
      </p:ext>
    </p:extLst>
  </p:cSld>
</p:sld>
</file>

<file path=ppt/slides/slide2.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2">
            <a:extLst xmlns:a="http://schemas.openxmlformats.org/drawingml/2006/main">
              <a:ext uri="{FF2B5EF4-FFF2-40B4-BE49-F238E27FC236}">
                <a16:creationId xmlns:a16="http://schemas.microsoft.com/office/drawing/2014/main" id="{16902A6D-533E-4B65-94E3-F1B9855BB819}"/>
              </a:ext>
            </a:extLst>
          </p:cNvPr>
          <p:cNvSpPr>
            <a:spLocks xmlns:a="http://schemas.openxmlformats.org/drawingml/2006/main" noGrp="1"/>
          </p:cNvSpPr>
          <p:nvPr/>
        </p:nvSpPr>
        <p:spPr>
          <a:xfrm xmlns:a="http://schemas.openxmlformats.org/drawingml/2006/main">
            <a:off x="72390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086B9C"/>
                </a:solidFill>
              </a:defRPr>
            </a:pPr>
            <a:r>
              <a:rPr sz="1125" b="1">
                <a:solidFill>
                  <a:srgbClr val="086B9C"/>
                </a:solidFill>
              </a:rPr>
              <a:t>EERST HET TOTAALBEELD</a:t>
            </a:r>
          </a:p>
        </p:txBody>
      </p:sp>
      <p:sp>
        <p:nvSpPr>
          <p:cNvPr id="2" name="title-2">
            <a:extLst xmlns:a="http://schemas.openxmlformats.org/drawingml/2006/main">
              <a:ext uri="{FF2B5EF4-FFF2-40B4-BE49-F238E27FC236}">
                <a16:creationId xmlns:a16="http://schemas.microsoft.com/office/drawing/2014/main" id="{9A7309BA-DECF-400A-AF24-0F35F3BEF033}"/>
              </a:ext>
            </a:extLst>
          </p:cNvPr>
          <p:cNvSpPr>
            <a:spLocks xmlns:a="http://schemas.openxmlformats.org/drawingml/2006/main" noGrp="1"/>
          </p:cNvSpPr>
          <p:nvPr/>
        </p:nvSpPr>
        <p:spPr>
          <a:xfrm xmlns:a="http://schemas.openxmlformats.org/drawingml/2006/main">
            <a:off x="72390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7212B"/>
                </a:solidFill>
              </a:defRPr>
            </a:pPr>
            <a:r>
              <a:rPr sz="2925" b="1">
                <a:solidFill>
                  <a:srgbClr val="17212B"/>
                </a:solidFill>
              </a:rPr>
              <a:t>Drie schermen vormen samen één quiz</a:t>
            </a:r>
          </a:p>
        </p:txBody>
      </p:sp>
      <p:sp>
        <p:nvSpPr>
          <p:cNvPr id="3" name="accent-2">
            <a:extLst xmlns:a="http://schemas.openxmlformats.org/drawingml/2006/main">
              <a:ext uri="{FF2B5EF4-FFF2-40B4-BE49-F238E27FC236}">
                <a16:creationId xmlns:a16="http://schemas.microsoft.com/office/drawing/2014/main" id="{C718D8B7-433D-4202-B9D0-AFEB975A8513}"/>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2">
            <a:extLst xmlns:a="http://schemas.openxmlformats.org/drawingml/2006/main">
              <a:ext uri="{FF2B5EF4-FFF2-40B4-BE49-F238E27FC236}">
                <a16:creationId xmlns:a16="http://schemas.microsoft.com/office/drawing/2014/main" id="{5C8DFD90-F658-4C2E-A783-28F18A88A871}"/>
              </a:ext>
            </a:extLst>
          </p:cNvPr>
          <p:cNvSpPr>
            <a:spLocks xmlns:a="http://schemas.openxmlformats.org/drawingml/2006/main" noGrp="1"/>
          </p:cNvSpPr>
          <p:nvPr/>
        </p:nvSpPr>
        <p:spPr>
          <a:xfrm xmlns:a="http://schemas.openxmlformats.org/drawingml/2006/main">
            <a:off x="72390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a:solidFill>
                  <a:srgbClr val="17212B"/>
                </a:solidFill>
              </a:defRPr>
            </a:pPr>
            <a:r>
              <a:rPr sz="1725">
                <a:solidFill>
                  <a:srgbClr val="17212B"/>
                </a:solidFill>
              </a:rPr>
              <a:t>• De quizmaster bedient</a:t>
            </a:r>
          </a:p>
          <a:p xmlns:a="http://schemas.openxmlformats.org/drawingml/2006/main">
            <a:pPr>
              <a:defRPr sz="1725">
                <a:solidFill>
                  <a:srgbClr val="17212B"/>
                </a:solidFill>
              </a:defRPr>
            </a:pPr>
            <a:r>
              <a:rPr sz="1725">
                <a:solidFill>
                  <a:srgbClr val="17212B"/>
                </a:solidFill>
              </a:rPr>
              <a:t>• De deelnemer antwoordt op de gsm</a:t>
            </a:r>
          </a:p>
          <a:p xmlns:a="http://schemas.openxmlformats.org/drawingml/2006/main">
            <a:pPr>
              <a:defRPr sz="1725">
                <a:solidFill>
                  <a:srgbClr val="17212B"/>
                </a:solidFill>
              </a:defRPr>
            </a:pPr>
            <a:r>
              <a:rPr sz="1725">
                <a:solidFill>
                  <a:srgbClr val="17212B"/>
                </a:solidFill>
              </a:rPr>
              <a:t>• De hele zaal volgt mee</a:t>
            </a:r>
          </a:p>
        </p:txBody>
      </p:sp>
      <p:sp>
        <p:nvSpPr>
          <p:cNvPr id="5" name="takeaway-box-2">
            <a:extLst xmlns:a="http://schemas.openxmlformats.org/drawingml/2006/main">
              <a:ext uri="{FF2B5EF4-FFF2-40B4-BE49-F238E27FC236}">
                <a16:creationId xmlns:a16="http://schemas.microsoft.com/office/drawing/2014/main" id="{6F3D12EC-5E00-45DE-9B47-9357BD87D652}"/>
              </a:ext>
            </a:extLst>
          </p:cNvPr>
          <p:cNvSpPr>
            <a:spLocks xmlns:a="http://schemas.openxmlformats.org/drawingml/2006/main" noGrp="1"/>
          </p:cNvSpPr>
          <p:nvPr/>
        </p:nvSpPr>
        <p:spPr>
          <a:xfrm xmlns:a="http://schemas.openxmlformats.org/drawingml/2006/main">
            <a:off x="72390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2">
            <a:extLst xmlns:a="http://schemas.openxmlformats.org/drawingml/2006/main">
              <a:ext uri="{FF2B5EF4-FFF2-40B4-BE49-F238E27FC236}">
                <a16:creationId xmlns:a16="http://schemas.microsoft.com/office/drawing/2014/main" id="{76FF5E44-809E-4E73-828E-4DB12E5C744D}"/>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2">
            <a:extLst xmlns:a="http://schemas.openxmlformats.org/drawingml/2006/main">
              <a:ext uri="{FF2B5EF4-FFF2-40B4-BE49-F238E27FC236}">
                <a16:creationId xmlns:a16="http://schemas.microsoft.com/office/drawing/2014/main" id="{90D6F3B7-FA36-41EA-AAB0-394838943466}"/>
              </a:ext>
            </a:extLst>
          </p:cNvPr>
          <p:cNvSpPr>
            <a:spLocks xmlns:a="http://schemas.openxmlformats.org/drawingml/2006/main" noGrp="1"/>
          </p:cNvSpPr>
          <p:nvPr/>
        </p:nvSpPr>
        <p:spPr>
          <a:xfrm xmlns:a="http://schemas.openxmlformats.org/drawingml/2006/main">
            <a:off x="75057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76B3A"/>
                </a:solidFill>
              </a:defRPr>
            </a:pPr>
            <a:r>
              <a:rPr sz="1500" b="1">
                <a:solidFill>
                  <a:srgbClr val="176B3A"/>
                </a:solidFill>
              </a:rPr>
              <a:t>Iedereen ziet dezelfde vraag, maar ieder scherm heeft een eigen taak.</a:t>
            </a:r>
          </a:p>
        </p:txBody>
      </p:sp>
      <p:sp>
        <p:nvSpPr>
          <p:cNvPr id="8" name="image-frame-zaalscherm-vraag.jpg">
            <a:extLst xmlns:a="http://schemas.openxmlformats.org/drawingml/2006/main">
              <a:ext uri="{FF2B5EF4-FFF2-40B4-BE49-F238E27FC236}">
                <a16:creationId xmlns:a16="http://schemas.microsoft.com/office/drawing/2014/main" id="{A045B5A2-4E8B-4A39-863F-8E997A5B4C8B}"/>
              </a:ext>
            </a:extLst>
          </p:cNvPr>
          <p:cNvSpPr>
            <a:spLocks xmlns:a="http://schemas.openxmlformats.org/drawingml/2006/main" noGrp="1"/>
          </p:cNvSpPr>
          <p:nvPr/>
        </p:nvSpPr>
        <p:spPr>
          <a:xfrm xmlns:a="http://schemas.openxmlformats.org/drawingml/2006/main">
            <a:off x="5905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4af33e8894904abf"/>
          <a:stretch xmlns:a="http://schemas.openxmlformats.org/drawingml/2006/main"/>
        </p:blipFill>
        <p:spPr>
          <a:xfrm xmlns:a="http://schemas.openxmlformats.org/drawingml/2006/main">
            <a:off x="687917" y="1600200"/>
            <a:ext cx="6282267" cy="3533775"/>
          </a:xfrm>
          <a:prstGeom xmlns:a="http://schemas.openxmlformats.org/drawingml/2006/main" prst="roundRect">
            <a:avLst>
              <a:gd name="adj" fmla="val 3235"/>
            </a:avLst>
          </a:prstGeom>
        </p:spPr>
      </p:pic>
      <p:sp>
        <p:nvSpPr>
          <p:cNvPr id="10" name="image-caption-2">
            <a:extLst xmlns:a="http://schemas.openxmlformats.org/drawingml/2006/main">
              <a:ext uri="{FF2B5EF4-FFF2-40B4-BE49-F238E27FC236}">
                <a16:creationId xmlns:a16="http://schemas.microsoft.com/office/drawing/2014/main" id="{DB1A61CA-3FAA-47E8-BE8F-7B9F3B918E21}"/>
              </a:ext>
            </a:extLst>
          </p:cNvPr>
          <p:cNvSpPr>
            <a:spLocks xmlns:a="http://schemas.openxmlformats.org/drawingml/2006/main" noGrp="1"/>
          </p:cNvSpPr>
          <p:nvPr/>
        </p:nvSpPr>
        <p:spPr>
          <a:xfrm xmlns:a="http://schemas.openxmlformats.org/drawingml/2006/main">
            <a:off x="6858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273"/>
                </a:solidFill>
              </a:defRPr>
            </a:pPr>
            <a:r>
              <a:rPr sz="1050" b="1">
                <a:solidFill>
                  <a:srgbClr val="526273"/>
                </a:solidFill>
              </a:rPr>
              <a:t>Echt scherm uit de quiz</a:t>
            </a:r>
          </a:p>
        </p:txBody>
      </p:sp>
      <p:sp>
        <p:nvSpPr>
          <p:cNvPr id="11" name="progress-2">
            <a:extLst xmlns:a="http://schemas.openxmlformats.org/drawingml/2006/main">
              <a:ext uri="{FF2B5EF4-FFF2-40B4-BE49-F238E27FC236}">
                <a16:creationId xmlns:a16="http://schemas.microsoft.com/office/drawing/2014/main" id="{CBEB0818-D3B6-421F-AB06-95FE8B14E71F}"/>
              </a:ext>
            </a:extLst>
          </p:cNvPr>
          <p:cNvSpPr>
            <a:spLocks xmlns:a="http://schemas.openxmlformats.org/drawingml/2006/main" noGrp="1"/>
          </p:cNvSpPr>
          <p:nvPr/>
        </p:nvSpPr>
        <p:spPr>
          <a:xfrm xmlns:a="http://schemas.openxmlformats.org/drawingml/2006/main">
            <a:off x="0" y="6800850"/>
            <a:ext cx="2032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2">
            <a:extLst xmlns:a="http://schemas.openxmlformats.org/drawingml/2006/main">
              <a:ext uri="{FF2B5EF4-FFF2-40B4-BE49-F238E27FC236}">
                <a16:creationId xmlns:a16="http://schemas.microsoft.com/office/drawing/2014/main" id="{CDAE4929-41BF-4604-A8D5-158F774C0965}"/>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26273"/>
                </a:solidFill>
              </a:defRPr>
            </a:pPr>
            <a:r>
              <a:rPr sz="1050">
                <a:solidFill>
                  <a:srgbClr val="526273"/>
                </a:solidFill>
              </a:rPr>
              <a:t>Live Diabetes Quiz</a:t>
            </a:r>
          </a:p>
        </p:txBody>
      </p:sp>
      <p:sp>
        <p:nvSpPr>
          <p:cNvPr id="13" name="footer-number-2">
            <a:extLst xmlns:a="http://schemas.openxmlformats.org/drawingml/2006/main">
              <a:ext uri="{FF2B5EF4-FFF2-40B4-BE49-F238E27FC236}">
                <a16:creationId xmlns:a16="http://schemas.microsoft.com/office/drawing/2014/main" id="{77B85690-69CD-4A23-8DA4-75DF2F167FAC}"/>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526273"/>
                </a:solidFill>
              </a:defRPr>
            </a:pPr>
            <a:r>
              <a:rPr sz="1050">
                <a:solidFill>
                  <a:srgbClr val="526273"/>
                </a:solidFill>
              </a:rPr>
              <a:t>02 / 12</a:t>
            </a:r>
          </a:p>
        </p:txBody>
      </p:sp>
    </p:spTree>
    <p:extLst>
      <p:ext uri="{BB962C8B-B14F-4D97-AF65-F5344CB8AC3E}">
        <p14:creationId xmlns:p14="http://schemas.microsoft.com/office/powerpoint/2010/main" val="1046555428"/>
      </p:ext>
    </p:extLst>
  </p:cSld>
</p:sld>
</file>

<file path=ppt/slides/slide3.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3">
            <a:extLst xmlns:a="http://schemas.openxmlformats.org/drawingml/2006/main">
              <a:ext uri="{FF2B5EF4-FFF2-40B4-BE49-F238E27FC236}">
                <a16:creationId xmlns:a16="http://schemas.microsoft.com/office/drawing/2014/main" id="{B3EB7A98-80D8-4A50-B904-B8EAE273A74C}"/>
              </a:ext>
            </a:extLst>
          </p:cNvPr>
          <p:cNvSpPr>
            <a:spLocks xmlns:a="http://schemas.openxmlformats.org/drawingml/2006/main" noGrp="1"/>
          </p:cNvSpPr>
          <p:nvPr/>
        </p:nvSpPr>
        <p:spPr>
          <a:xfrm xmlns:a="http://schemas.openxmlformats.org/drawingml/2006/main">
            <a:off x="6858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086B9C"/>
                </a:solidFill>
              </a:defRPr>
            </a:pPr>
            <a:r>
              <a:rPr sz="1125" b="1">
                <a:solidFill>
                  <a:srgbClr val="086B9C"/>
                </a:solidFill>
              </a:rPr>
              <a:t>STAP 1 · QUIZ VOORBEREIDEN</a:t>
            </a:r>
          </a:p>
        </p:txBody>
      </p:sp>
      <p:sp>
        <p:nvSpPr>
          <p:cNvPr id="2" name="title-3">
            <a:extLst xmlns:a="http://schemas.openxmlformats.org/drawingml/2006/main">
              <a:ext uri="{FF2B5EF4-FFF2-40B4-BE49-F238E27FC236}">
                <a16:creationId xmlns:a16="http://schemas.microsoft.com/office/drawing/2014/main" id="{85576C65-0D11-41C7-B3C7-203639C7F585}"/>
              </a:ext>
            </a:extLst>
          </p:cNvPr>
          <p:cNvSpPr>
            <a:spLocks xmlns:a="http://schemas.openxmlformats.org/drawingml/2006/main" noGrp="1"/>
          </p:cNvSpPr>
          <p:nvPr/>
        </p:nvSpPr>
        <p:spPr>
          <a:xfrm xmlns:a="http://schemas.openxmlformats.org/drawingml/2006/main">
            <a:off x="6858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7212B"/>
                </a:solidFill>
              </a:defRPr>
            </a:pPr>
            <a:r>
              <a:rPr sz="2925" b="1">
                <a:solidFill>
                  <a:srgbClr val="17212B"/>
                </a:solidFill>
              </a:rPr>
              <a:t>Begin met een passend aantal vragen</a:t>
            </a:r>
          </a:p>
        </p:txBody>
      </p:sp>
      <p:sp>
        <p:nvSpPr>
          <p:cNvPr id="3" name="accent-3">
            <a:extLst xmlns:a="http://schemas.openxmlformats.org/drawingml/2006/main">
              <a:ext uri="{FF2B5EF4-FFF2-40B4-BE49-F238E27FC236}">
                <a16:creationId xmlns:a16="http://schemas.microsoft.com/office/drawing/2014/main" id="{0BAD7015-A19D-49BD-89E4-32800E52AE19}"/>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3">
            <a:extLst xmlns:a="http://schemas.openxmlformats.org/drawingml/2006/main">
              <a:ext uri="{FF2B5EF4-FFF2-40B4-BE49-F238E27FC236}">
                <a16:creationId xmlns:a16="http://schemas.microsoft.com/office/drawing/2014/main" id="{5BC30FB1-1C24-4AC3-993D-F804DD32C07B}"/>
              </a:ext>
            </a:extLst>
          </p:cNvPr>
          <p:cNvSpPr>
            <a:spLocks xmlns:a="http://schemas.openxmlformats.org/drawingml/2006/main" noGrp="1"/>
          </p:cNvSpPr>
          <p:nvPr/>
        </p:nvSpPr>
        <p:spPr>
          <a:xfrm xmlns:a="http://schemas.openxmlformats.org/drawingml/2006/main">
            <a:off x="6858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a:solidFill>
                  <a:srgbClr val="17212B"/>
                </a:solidFill>
              </a:defRPr>
            </a:pPr>
            <a:r>
              <a:rPr sz="1725">
                <a:solidFill>
                  <a:srgbClr val="17212B"/>
                </a:solidFill>
              </a:rPr>
              <a:t>• 5 vragen voor een demonstratie</a:t>
            </a:r>
          </a:p>
          <a:p xmlns:a="http://schemas.openxmlformats.org/drawingml/2006/main">
            <a:pPr>
              <a:defRPr sz="1725">
                <a:solidFill>
                  <a:srgbClr val="17212B"/>
                </a:solidFill>
              </a:defRPr>
            </a:pPr>
            <a:r>
              <a:rPr sz="1725">
                <a:solidFill>
                  <a:srgbClr val="17212B"/>
                </a:solidFill>
              </a:rPr>
              <a:t>• 10 vragen is aanbevolen</a:t>
            </a:r>
          </a:p>
          <a:p xmlns:a="http://schemas.openxmlformats.org/drawingml/2006/main">
            <a:pPr>
              <a:defRPr sz="1725">
                <a:solidFill>
                  <a:srgbClr val="17212B"/>
                </a:solidFill>
              </a:defRPr>
            </a:pPr>
            <a:r>
              <a:rPr sz="1725">
                <a:solidFill>
                  <a:srgbClr val="17212B"/>
                </a:solidFill>
              </a:rPr>
              <a:t>• 20 vragen is het aanbevolen maximum</a:t>
            </a:r>
          </a:p>
        </p:txBody>
      </p:sp>
      <p:sp>
        <p:nvSpPr>
          <p:cNvPr id="5" name="takeaway-box-3">
            <a:extLst xmlns:a="http://schemas.openxmlformats.org/drawingml/2006/main">
              <a:ext uri="{FF2B5EF4-FFF2-40B4-BE49-F238E27FC236}">
                <a16:creationId xmlns:a16="http://schemas.microsoft.com/office/drawing/2014/main" id="{BAC9AF22-B809-406A-90EF-801080F2DCB8}"/>
              </a:ext>
            </a:extLst>
          </p:cNvPr>
          <p:cNvSpPr>
            <a:spLocks xmlns:a="http://schemas.openxmlformats.org/drawingml/2006/main" noGrp="1"/>
          </p:cNvSpPr>
          <p:nvPr/>
        </p:nvSpPr>
        <p:spPr>
          <a:xfrm xmlns:a="http://schemas.openxmlformats.org/drawingml/2006/main">
            <a:off x="6858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3">
            <a:extLst xmlns:a="http://schemas.openxmlformats.org/drawingml/2006/main">
              <a:ext uri="{FF2B5EF4-FFF2-40B4-BE49-F238E27FC236}">
                <a16:creationId xmlns:a16="http://schemas.microsoft.com/office/drawing/2014/main" id="{5AF6AC80-933D-4ADB-B08A-C07144767441}"/>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3">
            <a:extLst xmlns:a="http://schemas.openxmlformats.org/drawingml/2006/main">
              <a:ext uri="{FF2B5EF4-FFF2-40B4-BE49-F238E27FC236}">
                <a16:creationId xmlns:a16="http://schemas.microsoft.com/office/drawing/2014/main" id="{ABA04E8D-AFD2-49C9-B857-90000DDA9495}"/>
              </a:ext>
            </a:extLst>
          </p:cNvPr>
          <p:cNvSpPr>
            <a:spLocks xmlns:a="http://schemas.openxmlformats.org/drawingml/2006/main" noGrp="1"/>
          </p:cNvSpPr>
          <p:nvPr/>
        </p:nvSpPr>
        <p:spPr>
          <a:xfrm xmlns:a="http://schemas.openxmlformats.org/drawingml/2006/main">
            <a:off x="9525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76B3A"/>
                </a:solidFill>
              </a:defRPr>
            </a:pPr>
            <a:r>
              <a:rPr sz="1500" b="1">
                <a:solidFill>
                  <a:srgbClr val="176B3A"/>
                </a:solidFill>
              </a:rPr>
              <a:t>Een korte quiz is vaak prettiger dan een te lange quiz.</a:t>
            </a:r>
          </a:p>
        </p:txBody>
      </p:sp>
      <p:sp>
        <p:nvSpPr>
          <p:cNvPr id="8" name="image-frame-quizmaster-voorbereiden.jpg">
            <a:extLst xmlns:a="http://schemas.openxmlformats.org/drawingml/2006/main">
              <a:ext uri="{FF2B5EF4-FFF2-40B4-BE49-F238E27FC236}">
                <a16:creationId xmlns:a16="http://schemas.microsoft.com/office/drawing/2014/main" id="{0957E3C5-216E-46D1-ACD1-EAC67F479612}"/>
              </a:ext>
            </a:extLst>
          </p:cNvPr>
          <p:cNvSpPr>
            <a:spLocks xmlns:a="http://schemas.openxmlformats.org/drawingml/2006/main" noGrp="1"/>
          </p:cNvSpPr>
          <p:nvPr/>
        </p:nvSpPr>
        <p:spPr>
          <a:xfrm xmlns:a="http://schemas.openxmlformats.org/drawingml/2006/main">
            <a:off x="51244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3e2174e2610e4f3d"/>
          <a:stretch xmlns:a="http://schemas.openxmlformats.org/drawingml/2006/main"/>
        </p:blipFill>
        <p:spPr>
          <a:xfrm xmlns:a="http://schemas.openxmlformats.org/drawingml/2006/main">
            <a:off x="5221817" y="1600200"/>
            <a:ext cx="6282267" cy="3533775"/>
          </a:xfrm>
          <a:prstGeom xmlns:a="http://schemas.openxmlformats.org/drawingml/2006/main" prst="roundRect">
            <a:avLst>
              <a:gd name="adj" fmla="val 3235"/>
            </a:avLst>
          </a:prstGeom>
        </p:spPr>
      </p:pic>
      <p:sp>
        <p:nvSpPr>
          <p:cNvPr id="10" name="image-caption-3">
            <a:extLst xmlns:a="http://schemas.openxmlformats.org/drawingml/2006/main">
              <a:ext uri="{FF2B5EF4-FFF2-40B4-BE49-F238E27FC236}">
                <a16:creationId xmlns:a16="http://schemas.microsoft.com/office/drawing/2014/main" id="{F94CD837-A2CD-4280-92CF-C0F72A717F06}"/>
              </a:ext>
            </a:extLst>
          </p:cNvPr>
          <p:cNvSpPr>
            <a:spLocks xmlns:a="http://schemas.openxmlformats.org/drawingml/2006/main" noGrp="1"/>
          </p:cNvSpPr>
          <p:nvPr/>
        </p:nvSpPr>
        <p:spPr>
          <a:xfrm xmlns:a="http://schemas.openxmlformats.org/drawingml/2006/main">
            <a:off x="52197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273"/>
                </a:solidFill>
              </a:defRPr>
            </a:pPr>
            <a:r>
              <a:rPr sz="1050" b="1">
                <a:solidFill>
                  <a:srgbClr val="526273"/>
                </a:solidFill>
              </a:rPr>
              <a:t>Echt scherm uit de quiz</a:t>
            </a:r>
          </a:p>
        </p:txBody>
      </p:sp>
      <p:sp>
        <p:nvSpPr>
          <p:cNvPr id="11" name="progress-3">
            <a:extLst xmlns:a="http://schemas.openxmlformats.org/drawingml/2006/main">
              <a:ext uri="{FF2B5EF4-FFF2-40B4-BE49-F238E27FC236}">
                <a16:creationId xmlns:a16="http://schemas.microsoft.com/office/drawing/2014/main" id="{527E67A0-7C2C-4353-A487-D44C60C0B117}"/>
              </a:ext>
            </a:extLst>
          </p:cNvPr>
          <p:cNvSpPr>
            <a:spLocks xmlns:a="http://schemas.openxmlformats.org/drawingml/2006/main" noGrp="1"/>
          </p:cNvSpPr>
          <p:nvPr/>
        </p:nvSpPr>
        <p:spPr>
          <a:xfrm xmlns:a="http://schemas.openxmlformats.org/drawingml/2006/main">
            <a:off x="0" y="6800850"/>
            <a:ext cx="3048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3">
            <a:extLst xmlns:a="http://schemas.openxmlformats.org/drawingml/2006/main">
              <a:ext uri="{FF2B5EF4-FFF2-40B4-BE49-F238E27FC236}">
                <a16:creationId xmlns:a16="http://schemas.microsoft.com/office/drawing/2014/main" id="{086E759D-E5DD-4900-8C09-C22517FED3DB}"/>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26273"/>
                </a:solidFill>
              </a:defRPr>
            </a:pPr>
            <a:r>
              <a:rPr sz="1050">
                <a:solidFill>
                  <a:srgbClr val="526273"/>
                </a:solidFill>
              </a:rPr>
              <a:t>Live Diabetes Quiz</a:t>
            </a:r>
          </a:p>
        </p:txBody>
      </p:sp>
      <p:sp>
        <p:nvSpPr>
          <p:cNvPr id="13" name="footer-number-3">
            <a:extLst xmlns:a="http://schemas.openxmlformats.org/drawingml/2006/main">
              <a:ext uri="{FF2B5EF4-FFF2-40B4-BE49-F238E27FC236}">
                <a16:creationId xmlns:a16="http://schemas.microsoft.com/office/drawing/2014/main" id="{F46A182F-FD59-4C51-940D-1498D77A53B6}"/>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526273"/>
                </a:solidFill>
              </a:defRPr>
            </a:pPr>
            <a:r>
              <a:rPr sz="1050">
                <a:solidFill>
                  <a:srgbClr val="526273"/>
                </a:solidFill>
              </a:rPr>
              <a:t>03 / 12</a:t>
            </a:r>
          </a:p>
        </p:txBody>
      </p:sp>
    </p:spTree>
    <p:extLst>
      <p:ext uri="{BB962C8B-B14F-4D97-AF65-F5344CB8AC3E}">
        <p14:creationId xmlns:p14="http://schemas.microsoft.com/office/powerpoint/2010/main" val="704348823"/>
      </p:ext>
    </p:extLst>
  </p:cSld>
</p:sld>
</file>

<file path=ppt/slides/slide4.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4">
            <a:extLst xmlns:a="http://schemas.openxmlformats.org/drawingml/2006/main">
              <a:ext uri="{FF2B5EF4-FFF2-40B4-BE49-F238E27FC236}">
                <a16:creationId xmlns:a16="http://schemas.microsoft.com/office/drawing/2014/main" id="{BCE78DD0-1EF4-4D57-9842-3B128539C561}"/>
              </a:ext>
            </a:extLst>
          </p:cNvPr>
          <p:cNvSpPr>
            <a:spLocks xmlns:a="http://schemas.openxmlformats.org/drawingml/2006/main" noGrp="1"/>
          </p:cNvSpPr>
          <p:nvPr/>
        </p:nvSpPr>
        <p:spPr>
          <a:xfrm xmlns:a="http://schemas.openxmlformats.org/drawingml/2006/main">
            <a:off x="72390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086B9C"/>
                </a:solidFill>
              </a:defRPr>
            </a:pPr>
            <a:r>
              <a:rPr sz="1125" b="1">
                <a:solidFill>
                  <a:srgbClr val="086B9C"/>
                </a:solidFill>
              </a:rPr>
              <a:t>STAP 2 · WACHTKAMER</a:t>
            </a:r>
          </a:p>
        </p:txBody>
      </p:sp>
      <p:sp>
        <p:nvSpPr>
          <p:cNvPr id="2" name="title-4">
            <a:extLst xmlns:a="http://schemas.openxmlformats.org/drawingml/2006/main">
              <a:ext uri="{FF2B5EF4-FFF2-40B4-BE49-F238E27FC236}">
                <a16:creationId xmlns:a16="http://schemas.microsoft.com/office/drawing/2014/main" id="{8AE1106A-9C82-4AC8-A846-AC1EDF4DD74D}"/>
              </a:ext>
            </a:extLst>
          </p:cNvPr>
          <p:cNvSpPr>
            <a:spLocks xmlns:a="http://schemas.openxmlformats.org/drawingml/2006/main" noGrp="1"/>
          </p:cNvSpPr>
          <p:nvPr/>
        </p:nvSpPr>
        <p:spPr>
          <a:xfrm xmlns:a="http://schemas.openxmlformats.org/drawingml/2006/main">
            <a:off x="72390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7212B"/>
                </a:solidFill>
              </a:defRPr>
            </a:pPr>
            <a:r>
              <a:rPr sz="2925" b="1">
                <a:solidFill>
                  <a:srgbClr val="17212B"/>
                </a:solidFill>
              </a:rPr>
              <a:t>Eén sessie maakt de zaal klaar</a:t>
            </a:r>
          </a:p>
        </p:txBody>
      </p:sp>
      <p:sp>
        <p:nvSpPr>
          <p:cNvPr id="3" name="accent-4">
            <a:extLst xmlns:a="http://schemas.openxmlformats.org/drawingml/2006/main">
              <a:ext uri="{FF2B5EF4-FFF2-40B4-BE49-F238E27FC236}">
                <a16:creationId xmlns:a16="http://schemas.microsoft.com/office/drawing/2014/main" id="{55182810-9D99-43C6-BA6A-E60421731F90}"/>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4">
            <a:extLst xmlns:a="http://schemas.openxmlformats.org/drawingml/2006/main">
              <a:ext uri="{FF2B5EF4-FFF2-40B4-BE49-F238E27FC236}">
                <a16:creationId xmlns:a16="http://schemas.microsoft.com/office/drawing/2014/main" id="{85951985-CEE5-4C04-AFB8-FECB970B5AE5}"/>
              </a:ext>
            </a:extLst>
          </p:cNvPr>
          <p:cNvSpPr>
            <a:spLocks xmlns:a="http://schemas.openxmlformats.org/drawingml/2006/main" noGrp="1"/>
          </p:cNvSpPr>
          <p:nvPr/>
        </p:nvSpPr>
        <p:spPr>
          <a:xfrm xmlns:a="http://schemas.openxmlformats.org/drawingml/2006/main">
            <a:off x="72390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a:solidFill>
                  <a:srgbClr val="17212B"/>
                </a:solidFill>
              </a:defRPr>
            </a:pPr>
            <a:r>
              <a:rPr sz="1725">
                <a:solidFill>
                  <a:srgbClr val="17212B"/>
                </a:solidFill>
              </a:rPr>
              <a:t>• Quizcode voor de deelnemers</a:t>
            </a:r>
          </a:p>
          <a:p xmlns:a="http://schemas.openxmlformats.org/drawingml/2006/main">
            <a:pPr>
              <a:defRPr sz="1725">
                <a:solidFill>
                  <a:srgbClr val="17212B"/>
                </a:solidFill>
              </a:defRPr>
            </a:pPr>
            <a:r>
              <a:rPr sz="1725">
                <a:solidFill>
                  <a:srgbClr val="17212B"/>
                </a:solidFill>
              </a:rPr>
              <a:t>• Knop voor het grote zaalscherm</a:t>
            </a:r>
          </a:p>
          <a:p xmlns:a="http://schemas.openxmlformats.org/drawingml/2006/main">
            <a:pPr>
              <a:defRPr sz="1725">
                <a:solidFill>
                  <a:srgbClr val="17212B"/>
                </a:solidFill>
              </a:defRPr>
            </a:pPr>
            <a:r>
              <a:rPr sz="1725">
                <a:solidFill>
                  <a:srgbClr val="17212B"/>
                </a:solidFill>
              </a:rPr>
              <a:t>• Knop voor de deelnemersbriefjes</a:t>
            </a:r>
          </a:p>
        </p:txBody>
      </p:sp>
      <p:sp>
        <p:nvSpPr>
          <p:cNvPr id="5" name="takeaway-box-4">
            <a:extLst xmlns:a="http://schemas.openxmlformats.org/drawingml/2006/main">
              <a:ext uri="{FF2B5EF4-FFF2-40B4-BE49-F238E27FC236}">
                <a16:creationId xmlns:a16="http://schemas.microsoft.com/office/drawing/2014/main" id="{B7206DAE-85E4-4FFA-9DAF-45F22D7D1DAE}"/>
              </a:ext>
            </a:extLst>
          </p:cNvPr>
          <p:cNvSpPr>
            <a:spLocks xmlns:a="http://schemas.openxmlformats.org/drawingml/2006/main" noGrp="1"/>
          </p:cNvSpPr>
          <p:nvPr/>
        </p:nvSpPr>
        <p:spPr>
          <a:xfrm xmlns:a="http://schemas.openxmlformats.org/drawingml/2006/main">
            <a:off x="72390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4">
            <a:extLst xmlns:a="http://schemas.openxmlformats.org/drawingml/2006/main">
              <a:ext uri="{FF2B5EF4-FFF2-40B4-BE49-F238E27FC236}">
                <a16:creationId xmlns:a16="http://schemas.microsoft.com/office/drawing/2014/main" id="{32E6ECB8-D1DA-41C1-A423-C48EFB9D8F2B}"/>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4">
            <a:extLst xmlns:a="http://schemas.openxmlformats.org/drawingml/2006/main">
              <a:ext uri="{FF2B5EF4-FFF2-40B4-BE49-F238E27FC236}">
                <a16:creationId xmlns:a16="http://schemas.microsoft.com/office/drawing/2014/main" id="{163D79CD-D7B1-4D43-A65E-33A986A597B1}"/>
              </a:ext>
            </a:extLst>
          </p:cNvPr>
          <p:cNvSpPr>
            <a:spLocks xmlns:a="http://schemas.openxmlformats.org/drawingml/2006/main" noGrp="1"/>
          </p:cNvSpPr>
          <p:nvPr/>
        </p:nvSpPr>
        <p:spPr>
          <a:xfrm xmlns:a="http://schemas.openxmlformats.org/drawingml/2006/main">
            <a:off x="75057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76B3A"/>
                </a:solidFill>
              </a:defRPr>
            </a:pPr>
            <a:r>
              <a:rPr sz="1500" b="1">
                <a:solidFill>
                  <a:srgbClr val="176B3A"/>
                </a:solidFill>
              </a:rPr>
              <a:t>Open het zaalscherm en druk de briefjes af vóór het publiek begint.</a:t>
            </a:r>
          </a:p>
        </p:txBody>
      </p:sp>
      <p:sp>
        <p:nvSpPr>
          <p:cNvPr id="8" name="image-frame-quizmaster-wachtkamer.jpg">
            <a:extLst xmlns:a="http://schemas.openxmlformats.org/drawingml/2006/main">
              <a:ext uri="{FF2B5EF4-FFF2-40B4-BE49-F238E27FC236}">
                <a16:creationId xmlns:a16="http://schemas.microsoft.com/office/drawing/2014/main" id="{4D54C57E-9A4B-4FC8-A532-486620A0692E}"/>
              </a:ext>
            </a:extLst>
          </p:cNvPr>
          <p:cNvSpPr>
            <a:spLocks xmlns:a="http://schemas.openxmlformats.org/drawingml/2006/main" noGrp="1"/>
          </p:cNvSpPr>
          <p:nvPr/>
        </p:nvSpPr>
        <p:spPr>
          <a:xfrm xmlns:a="http://schemas.openxmlformats.org/drawingml/2006/main">
            <a:off x="5905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766bf5e50de8487a"/>
          <a:stretch xmlns:a="http://schemas.openxmlformats.org/drawingml/2006/main"/>
        </p:blipFill>
        <p:spPr>
          <a:xfrm xmlns:a="http://schemas.openxmlformats.org/drawingml/2006/main">
            <a:off x="689847" y="1600200"/>
            <a:ext cx="6278406" cy="3533775"/>
          </a:xfrm>
          <a:prstGeom xmlns:a="http://schemas.openxmlformats.org/drawingml/2006/main" prst="roundRect">
            <a:avLst>
              <a:gd name="adj" fmla="val 3235"/>
            </a:avLst>
          </a:prstGeom>
        </p:spPr>
      </p:pic>
      <p:sp>
        <p:nvSpPr>
          <p:cNvPr id="10" name="image-caption-4">
            <a:extLst xmlns:a="http://schemas.openxmlformats.org/drawingml/2006/main">
              <a:ext uri="{FF2B5EF4-FFF2-40B4-BE49-F238E27FC236}">
                <a16:creationId xmlns:a16="http://schemas.microsoft.com/office/drawing/2014/main" id="{A068F3CC-8748-4F67-ADDA-16C53DACDDCB}"/>
              </a:ext>
            </a:extLst>
          </p:cNvPr>
          <p:cNvSpPr>
            <a:spLocks xmlns:a="http://schemas.openxmlformats.org/drawingml/2006/main" noGrp="1"/>
          </p:cNvSpPr>
          <p:nvPr/>
        </p:nvSpPr>
        <p:spPr>
          <a:xfrm xmlns:a="http://schemas.openxmlformats.org/drawingml/2006/main">
            <a:off x="6858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273"/>
                </a:solidFill>
              </a:defRPr>
            </a:pPr>
            <a:r>
              <a:rPr sz="1050" b="1">
                <a:solidFill>
                  <a:srgbClr val="526273"/>
                </a:solidFill>
              </a:rPr>
              <a:t>Echt scherm uit de quiz</a:t>
            </a:r>
          </a:p>
        </p:txBody>
      </p:sp>
      <p:sp>
        <p:nvSpPr>
          <p:cNvPr id="11" name="progress-4">
            <a:extLst xmlns:a="http://schemas.openxmlformats.org/drawingml/2006/main">
              <a:ext uri="{FF2B5EF4-FFF2-40B4-BE49-F238E27FC236}">
                <a16:creationId xmlns:a16="http://schemas.microsoft.com/office/drawing/2014/main" id="{1C53F632-803B-431A-9660-CF4E960B2678}"/>
              </a:ext>
            </a:extLst>
          </p:cNvPr>
          <p:cNvSpPr>
            <a:spLocks xmlns:a="http://schemas.openxmlformats.org/drawingml/2006/main" noGrp="1"/>
          </p:cNvSpPr>
          <p:nvPr/>
        </p:nvSpPr>
        <p:spPr>
          <a:xfrm xmlns:a="http://schemas.openxmlformats.org/drawingml/2006/main">
            <a:off x="0" y="6800850"/>
            <a:ext cx="4064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4">
            <a:extLst xmlns:a="http://schemas.openxmlformats.org/drawingml/2006/main">
              <a:ext uri="{FF2B5EF4-FFF2-40B4-BE49-F238E27FC236}">
                <a16:creationId xmlns:a16="http://schemas.microsoft.com/office/drawing/2014/main" id="{8FC46BF2-AE5F-4D33-8647-439D5A96E4D0}"/>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26273"/>
                </a:solidFill>
              </a:defRPr>
            </a:pPr>
            <a:r>
              <a:rPr sz="1050">
                <a:solidFill>
                  <a:srgbClr val="526273"/>
                </a:solidFill>
              </a:rPr>
              <a:t>Live Diabetes Quiz</a:t>
            </a:r>
          </a:p>
        </p:txBody>
      </p:sp>
      <p:sp>
        <p:nvSpPr>
          <p:cNvPr id="13" name="footer-number-4">
            <a:extLst xmlns:a="http://schemas.openxmlformats.org/drawingml/2006/main">
              <a:ext uri="{FF2B5EF4-FFF2-40B4-BE49-F238E27FC236}">
                <a16:creationId xmlns:a16="http://schemas.microsoft.com/office/drawing/2014/main" id="{72D5C966-16CB-4994-A14E-DFEFA011D153}"/>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526273"/>
                </a:solidFill>
              </a:defRPr>
            </a:pPr>
            <a:r>
              <a:rPr sz="1050">
                <a:solidFill>
                  <a:srgbClr val="526273"/>
                </a:solidFill>
              </a:rPr>
              <a:t>04 / 12</a:t>
            </a:r>
          </a:p>
        </p:txBody>
      </p:sp>
    </p:spTree>
    <p:extLst>
      <p:ext uri="{BB962C8B-B14F-4D97-AF65-F5344CB8AC3E}">
        <p14:creationId xmlns:p14="http://schemas.microsoft.com/office/powerpoint/2010/main" val="1919129803"/>
      </p:ext>
    </p:extLst>
  </p:cSld>
</p:sld>
</file>

<file path=ppt/slides/slide5.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5">
            <a:extLst xmlns:a="http://schemas.openxmlformats.org/drawingml/2006/main">
              <a:ext uri="{FF2B5EF4-FFF2-40B4-BE49-F238E27FC236}">
                <a16:creationId xmlns:a16="http://schemas.microsoft.com/office/drawing/2014/main" id="{31EB5A99-CCBB-41AC-AB0C-167298CDF024}"/>
              </a:ext>
            </a:extLst>
          </p:cNvPr>
          <p:cNvSpPr>
            <a:spLocks xmlns:a="http://schemas.openxmlformats.org/drawingml/2006/main" noGrp="1"/>
          </p:cNvSpPr>
          <p:nvPr/>
        </p:nvSpPr>
        <p:spPr>
          <a:xfrm xmlns:a="http://schemas.openxmlformats.org/drawingml/2006/main">
            <a:off x="6858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086B9C"/>
                </a:solidFill>
              </a:defRPr>
            </a:pPr>
            <a:r>
              <a:rPr sz="1125" b="1">
                <a:solidFill>
                  <a:srgbClr val="086B9C"/>
                </a:solidFill>
              </a:rPr>
              <a:t>STAP 3 · BRIEFJES UITDELEN</a:t>
            </a:r>
          </a:p>
        </p:txBody>
      </p:sp>
      <p:sp>
        <p:nvSpPr>
          <p:cNvPr id="2" name="title-5">
            <a:extLst xmlns:a="http://schemas.openxmlformats.org/drawingml/2006/main">
              <a:ext uri="{FF2B5EF4-FFF2-40B4-BE49-F238E27FC236}">
                <a16:creationId xmlns:a16="http://schemas.microsoft.com/office/drawing/2014/main" id="{09DC13FC-8001-43A9-AF45-A95DAC520CCE}"/>
              </a:ext>
            </a:extLst>
          </p:cNvPr>
          <p:cNvSpPr>
            <a:spLocks xmlns:a="http://schemas.openxmlformats.org/drawingml/2006/main" noGrp="1"/>
          </p:cNvSpPr>
          <p:nvPr/>
        </p:nvSpPr>
        <p:spPr>
          <a:xfrm xmlns:a="http://schemas.openxmlformats.org/drawingml/2006/main">
            <a:off x="6858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7212B"/>
                </a:solidFill>
              </a:defRPr>
            </a:pPr>
            <a:r>
              <a:rPr sz="2925" b="1">
                <a:solidFill>
                  <a:srgbClr val="17212B"/>
                </a:solidFill>
              </a:rPr>
              <a:t>Het briefje wijst iedere deelnemer de weg</a:t>
            </a:r>
          </a:p>
        </p:txBody>
      </p:sp>
      <p:sp>
        <p:nvSpPr>
          <p:cNvPr id="3" name="accent-5">
            <a:extLst xmlns:a="http://schemas.openxmlformats.org/drawingml/2006/main">
              <a:ext uri="{FF2B5EF4-FFF2-40B4-BE49-F238E27FC236}">
                <a16:creationId xmlns:a16="http://schemas.microsoft.com/office/drawing/2014/main" id="{403AD173-3D78-4FA0-BBA7-0C46B745F25E}"/>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5">
            <a:extLst xmlns:a="http://schemas.openxmlformats.org/drawingml/2006/main">
              <a:ext uri="{FF2B5EF4-FFF2-40B4-BE49-F238E27FC236}">
                <a16:creationId xmlns:a16="http://schemas.microsoft.com/office/drawing/2014/main" id="{D03DABB7-F004-47C3-B59F-17815BED48CC}"/>
              </a:ext>
            </a:extLst>
          </p:cNvPr>
          <p:cNvSpPr>
            <a:spLocks xmlns:a="http://schemas.openxmlformats.org/drawingml/2006/main" noGrp="1"/>
          </p:cNvSpPr>
          <p:nvPr/>
        </p:nvSpPr>
        <p:spPr>
          <a:xfrm xmlns:a="http://schemas.openxmlformats.org/drawingml/2006/main">
            <a:off x="6858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a:solidFill>
                  <a:srgbClr val="17212B"/>
                </a:solidFill>
              </a:defRPr>
            </a:pPr>
            <a:r>
              <a:rPr sz="1725">
                <a:solidFill>
                  <a:srgbClr val="17212B"/>
                </a:solidFill>
              </a:rPr>
              <a:t>• Eerst internet controleren</a:t>
            </a:r>
          </a:p>
          <a:p xmlns:a="http://schemas.openxmlformats.org/drawingml/2006/main">
            <a:pPr>
              <a:defRPr sz="1725">
                <a:solidFill>
                  <a:srgbClr val="17212B"/>
                </a:solidFill>
              </a:defRPr>
            </a:pPr>
            <a:r>
              <a:rPr sz="1725">
                <a:solidFill>
                  <a:srgbClr val="17212B"/>
                </a:solidFill>
              </a:rPr>
              <a:t>• Daarna de quiz-QR scannen</a:t>
            </a:r>
          </a:p>
          <a:p xmlns:a="http://schemas.openxmlformats.org/drawingml/2006/main">
            <a:pPr>
              <a:defRPr sz="1725">
                <a:solidFill>
                  <a:srgbClr val="17212B"/>
                </a:solidFill>
              </a:defRPr>
            </a:pPr>
            <a:r>
              <a:rPr sz="1725">
                <a:solidFill>
                  <a:srgbClr val="17212B"/>
                </a:solidFill>
              </a:rPr>
              <a:t>• De link en code zijn het alternatief</a:t>
            </a:r>
          </a:p>
        </p:txBody>
      </p:sp>
      <p:sp>
        <p:nvSpPr>
          <p:cNvPr id="5" name="takeaway-box-5">
            <a:extLst xmlns:a="http://schemas.openxmlformats.org/drawingml/2006/main">
              <a:ext uri="{FF2B5EF4-FFF2-40B4-BE49-F238E27FC236}">
                <a16:creationId xmlns:a16="http://schemas.microsoft.com/office/drawing/2014/main" id="{DE3B108E-8049-4240-A6A2-100E31DC194E}"/>
              </a:ext>
            </a:extLst>
          </p:cNvPr>
          <p:cNvSpPr>
            <a:spLocks xmlns:a="http://schemas.openxmlformats.org/drawingml/2006/main" noGrp="1"/>
          </p:cNvSpPr>
          <p:nvPr/>
        </p:nvSpPr>
        <p:spPr>
          <a:xfrm xmlns:a="http://schemas.openxmlformats.org/drawingml/2006/main">
            <a:off x="6858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5">
            <a:extLst xmlns:a="http://schemas.openxmlformats.org/drawingml/2006/main">
              <a:ext uri="{FF2B5EF4-FFF2-40B4-BE49-F238E27FC236}">
                <a16:creationId xmlns:a16="http://schemas.microsoft.com/office/drawing/2014/main" id="{99A78BF4-095C-4223-BF29-17572B359464}"/>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5">
            <a:extLst xmlns:a="http://schemas.openxmlformats.org/drawingml/2006/main">
              <a:ext uri="{FF2B5EF4-FFF2-40B4-BE49-F238E27FC236}">
                <a16:creationId xmlns:a16="http://schemas.microsoft.com/office/drawing/2014/main" id="{405D546E-438C-493C-BCDB-8001A6EB4F42}"/>
              </a:ext>
            </a:extLst>
          </p:cNvPr>
          <p:cNvSpPr>
            <a:spLocks xmlns:a="http://schemas.openxmlformats.org/drawingml/2006/main" noGrp="1"/>
          </p:cNvSpPr>
          <p:nvPr/>
        </p:nvSpPr>
        <p:spPr>
          <a:xfrm xmlns:a="http://schemas.openxmlformats.org/drawingml/2006/main">
            <a:off x="9525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76B3A"/>
                </a:solidFill>
              </a:defRPr>
            </a:pPr>
            <a:r>
              <a:rPr sz="1500" b="1">
                <a:solidFill>
                  <a:srgbClr val="176B3A"/>
                </a:solidFill>
              </a:rPr>
              <a:t>Deelnemers hoeven niets op het grote scherm te scannen.</a:t>
            </a:r>
          </a:p>
        </p:txBody>
      </p:sp>
      <p:sp>
        <p:nvSpPr>
          <p:cNvPr id="8" name="image-frame-deelnemersbriefje.jpg">
            <a:extLst xmlns:a="http://schemas.openxmlformats.org/drawingml/2006/main">
              <a:ext uri="{FF2B5EF4-FFF2-40B4-BE49-F238E27FC236}">
                <a16:creationId xmlns:a16="http://schemas.microsoft.com/office/drawing/2014/main" id="{4C18FA7B-CCF1-47CC-856F-CC668D7A08ED}"/>
              </a:ext>
            </a:extLst>
          </p:cNvPr>
          <p:cNvSpPr>
            <a:spLocks xmlns:a="http://schemas.openxmlformats.org/drawingml/2006/main" noGrp="1"/>
          </p:cNvSpPr>
          <p:nvPr/>
        </p:nvSpPr>
        <p:spPr>
          <a:xfrm xmlns:a="http://schemas.openxmlformats.org/drawingml/2006/main">
            <a:off x="51244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d05a30a22b9145a8"/>
          <a:stretch xmlns:a="http://schemas.openxmlformats.org/drawingml/2006/main"/>
        </p:blipFill>
        <p:spPr>
          <a:xfrm xmlns:a="http://schemas.openxmlformats.org/drawingml/2006/main">
            <a:off x="5223747" y="1600200"/>
            <a:ext cx="6278406" cy="3533775"/>
          </a:xfrm>
          <a:prstGeom xmlns:a="http://schemas.openxmlformats.org/drawingml/2006/main" prst="roundRect">
            <a:avLst>
              <a:gd name="adj" fmla="val 3235"/>
            </a:avLst>
          </a:prstGeom>
        </p:spPr>
      </p:pic>
      <p:sp>
        <p:nvSpPr>
          <p:cNvPr id="10" name="image-caption-5">
            <a:extLst xmlns:a="http://schemas.openxmlformats.org/drawingml/2006/main">
              <a:ext uri="{FF2B5EF4-FFF2-40B4-BE49-F238E27FC236}">
                <a16:creationId xmlns:a16="http://schemas.microsoft.com/office/drawing/2014/main" id="{7F7CA387-2A91-43E4-82C8-1C86D671A74C}"/>
              </a:ext>
            </a:extLst>
          </p:cNvPr>
          <p:cNvSpPr>
            <a:spLocks xmlns:a="http://schemas.openxmlformats.org/drawingml/2006/main" noGrp="1"/>
          </p:cNvSpPr>
          <p:nvPr/>
        </p:nvSpPr>
        <p:spPr>
          <a:xfrm xmlns:a="http://schemas.openxmlformats.org/drawingml/2006/main">
            <a:off x="52197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273"/>
                </a:solidFill>
              </a:defRPr>
            </a:pPr>
            <a:r>
              <a:rPr sz="1050" b="1">
                <a:solidFill>
                  <a:srgbClr val="526273"/>
                </a:solidFill>
              </a:rPr>
              <a:t>Echt scherm uit de quiz</a:t>
            </a:r>
          </a:p>
        </p:txBody>
      </p:sp>
      <p:sp>
        <p:nvSpPr>
          <p:cNvPr id="11" name="progress-5">
            <a:extLst xmlns:a="http://schemas.openxmlformats.org/drawingml/2006/main">
              <a:ext uri="{FF2B5EF4-FFF2-40B4-BE49-F238E27FC236}">
                <a16:creationId xmlns:a16="http://schemas.microsoft.com/office/drawing/2014/main" id="{17AFB382-3B87-4982-92B7-9A479EFEE84C}"/>
              </a:ext>
            </a:extLst>
          </p:cNvPr>
          <p:cNvSpPr>
            <a:spLocks xmlns:a="http://schemas.openxmlformats.org/drawingml/2006/main" noGrp="1"/>
          </p:cNvSpPr>
          <p:nvPr/>
        </p:nvSpPr>
        <p:spPr>
          <a:xfrm xmlns:a="http://schemas.openxmlformats.org/drawingml/2006/main">
            <a:off x="0" y="6800850"/>
            <a:ext cx="5080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5">
            <a:extLst xmlns:a="http://schemas.openxmlformats.org/drawingml/2006/main">
              <a:ext uri="{FF2B5EF4-FFF2-40B4-BE49-F238E27FC236}">
                <a16:creationId xmlns:a16="http://schemas.microsoft.com/office/drawing/2014/main" id="{8EB57CB4-B979-44B2-9DE9-AA242DEE10A8}"/>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26273"/>
                </a:solidFill>
              </a:defRPr>
            </a:pPr>
            <a:r>
              <a:rPr sz="1050">
                <a:solidFill>
                  <a:srgbClr val="526273"/>
                </a:solidFill>
              </a:rPr>
              <a:t>Live Diabetes Quiz</a:t>
            </a:r>
          </a:p>
        </p:txBody>
      </p:sp>
      <p:sp>
        <p:nvSpPr>
          <p:cNvPr id="13" name="footer-number-5">
            <a:extLst xmlns:a="http://schemas.openxmlformats.org/drawingml/2006/main">
              <a:ext uri="{FF2B5EF4-FFF2-40B4-BE49-F238E27FC236}">
                <a16:creationId xmlns:a16="http://schemas.microsoft.com/office/drawing/2014/main" id="{65960C30-E7DC-47D8-BF67-D5C8F53120AF}"/>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526273"/>
                </a:solidFill>
              </a:defRPr>
            </a:pPr>
            <a:r>
              <a:rPr sz="1050">
                <a:solidFill>
                  <a:srgbClr val="526273"/>
                </a:solidFill>
              </a:rPr>
              <a:t>05 / 12</a:t>
            </a:r>
          </a:p>
        </p:txBody>
      </p:sp>
    </p:spTree>
    <p:extLst>
      <p:ext uri="{BB962C8B-B14F-4D97-AF65-F5344CB8AC3E}">
        <p14:creationId xmlns:p14="http://schemas.microsoft.com/office/powerpoint/2010/main" val="775123178"/>
      </p:ext>
    </p:extLst>
  </p:cSld>
</p:sld>
</file>

<file path=ppt/slides/slide6.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6">
            <a:extLst xmlns:a="http://schemas.openxmlformats.org/drawingml/2006/main">
              <a:ext uri="{FF2B5EF4-FFF2-40B4-BE49-F238E27FC236}">
                <a16:creationId xmlns:a16="http://schemas.microsoft.com/office/drawing/2014/main" id="{7F10629C-3BAF-4403-A10F-B96F5B83EAB8}"/>
              </a:ext>
            </a:extLst>
          </p:cNvPr>
          <p:cNvSpPr>
            <a:spLocks xmlns:a="http://schemas.openxmlformats.org/drawingml/2006/main" noGrp="1"/>
          </p:cNvSpPr>
          <p:nvPr/>
        </p:nvSpPr>
        <p:spPr>
          <a:xfrm xmlns:a="http://schemas.openxmlformats.org/drawingml/2006/main">
            <a:off x="72390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086B9C"/>
                </a:solidFill>
              </a:defRPr>
            </a:pPr>
            <a:r>
              <a:rPr sz="1125" b="1">
                <a:solidFill>
                  <a:srgbClr val="086B9C"/>
                </a:solidFill>
              </a:rPr>
              <a:t>STAP 4 · DEELNEMER VERBONDEN</a:t>
            </a:r>
          </a:p>
        </p:txBody>
      </p:sp>
      <p:sp>
        <p:nvSpPr>
          <p:cNvPr id="2" name="title-6">
            <a:extLst xmlns:a="http://schemas.openxmlformats.org/drawingml/2006/main">
              <a:ext uri="{FF2B5EF4-FFF2-40B4-BE49-F238E27FC236}">
                <a16:creationId xmlns:a16="http://schemas.microsoft.com/office/drawing/2014/main" id="{5D0FD0FC-265D-4B5E-9B10-815DDD4F072A}"/>
              </a:ext>
            </a:extLst>
          </p:cNvPr>
          <p:cNvSpPr>
            <a:spLocks xmlns:a="http://schemas.openxmlformats.org/drawingml/2006/main" noGrp="1"/>
          </p:cNvSpPr>
          <p:nvPr/>
        </p:nvSpPr>
        <p:spPr>
          <a:xfrm xmlns:a="http://schemas.openxmlformats.org/drawingml/2006/main">
            <a:off x="72390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7212B"/>
                </a:solidFill>
              </a:defRPr>
            </a:pPr>
            <a:r>
              <a:rPr sz="2925" b="1">
                <a:solidFill>
                  <a:srgbClr val="17212B"/>
                </a:solidFill>
              </a:rPr>
              <a:t>Na het verbinden hoeft men alleen te wachten</a:t>
            </a:r>
          </a:p>
        </p:txBody>
      </p:sp>
      <p:sp>
        <p:nvSpPr>
          <p:cNvPr id="3" name="accent-6">
            <a:extLst xmlns:a="http://schemas.openxmlformats.org/drawingml/2006/main">
              <a:ext uri="{FF2B5EF4-FFF2-40B4-BE49-F238E27FC236}">
                <a16:creationId xmlns:a16="http://schemas.microsoft.com/office/drawing/2014/main" id="{F31EAB4C-80C4-4F87-B5CF-DF800A6A44D7}"/>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6">
            <a:extLst xmlns:a="http://schemas.openxmlformats.org/drawingml/2006/main">
              <a:ext uri="{FF2B5EF4-FFF2-40B4-BE49-F238E27FC236}">
                <a16:creationId xmlns:a16="http://schemas.microsoft.com/office/drawing/2014/main" id="{AD627647-69A5-4676-A93C-31B6AF348C63}"/>
              </a:ext>
            </a:extLst>
          </p:cNvPr>
          <p:cNvSpPr>
            <a:spLocks xmlns:a="http://schemas.openxmlformats.org/drawingml/2006/main" noGrp="1"/>
          </p:cNvSpPr>
          <p:nvPr/>
        </p:nvSpPr>
        <p:spPr>
          <a:xfrm xmlns:a="http://schemas.openxmlformats.org/drawingml/2006/main">
            <a:off x="72390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a:solidFill>
                  <a:srgbClr val="17212B"/>
                </a:solidFill>
              </a:defRPr>
            </a:pPr>
            <a:r>
              <a:rPr sz="1725">
                <a:solidFill>
                  <a:srgbClr val="17212B"/>
                </a:solidFill>
              </a:rPr>
              <a:t>• De quizcode wordt bevestigd</a:t>
            </a:r>
          </a:p>
          <a:p xmlns:a="http://schemas.openxmlformats.org/drawingml/2006/main">
            <a:pPr>
              <a:defRPr sz="1725">
                <a:solidFill>
                  <a:srgbClr val="17212B"/>
                </a:solidFill>
              </a:defRPr>
            </a:pPr>
            <a:r>
              <a:rPr sz="1725">
                <a:solidFill>
                  <a:srgbClr val="17212B"/>
                </a:solidFill>
              </a:rPr>
              <a:t>• De status toont Wachtkamer</a:t>
            </a:r>
          </a:p>
          <a:p xmlns:a="http://schemas.openxmlformats.org/drawingml/2006/main">
            <a:pPr>
              <a:defRPr sz="1725">
                <a:solidFill>
                  <a:srgbClr val="17212B"/>
                </a:solidFill>
              </a:defRPr>
            </a:pPr>
            <a:r>
              <a:rPr sz="1725">
                <a:solidFill>
                  <a:srgbClr val="17212B"/>
                </a:solidFill>
              </a:rPr>
              <a:t>• Nieuwe vragen verschijnen vanzelf</a:t>
            </a:r>
          </a:p>
        </p:txBody>
      </p:sp>
      <p:sp>
        <p:nvSpPr>
          <p:cNvPr id="5" name="takeaway-box-6">
            <a:extLst xmlns:a="http://schemas.openxmlformats.org/drawingml/2006/main">
              <a:ext uri="{FF2B5EF4-FFF2-40B4-BE49-F238E27FC236}">
                <a16:creationId xmlns:a16="http://schemas.microsoft.com/office/drawing/2014/main" id="{1D58E47E-92AF-4A52-B440-368B723D0CC6}"/>
              </a:ext>
            </a:extLst>
          </p:cNvPr>
          <p:cNvSpPr>
            <a:spLocks xmlns:a="http://schemas.openxmlformats.org/drawingml/2006/main" noGrp="1"/>
          </p:cNvSpPr>
          <p:nvPr/>
        </p:nvSpPr>
        <p:spPr>
          <a:xfrm xmlns:a="http://schemas.openxmlformats.org/drawingml/2006/main">
            <a:off x="72390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6">
            <a:extLst xmlns:a="http://schemas.openxmlformats.org/drawingml/2006/main">
              <a:ext uri="{FF2B5EF4-FFF2-40B4-BE49-F238E27FC236}">
                <a16:creationId xmlns:a16="http://schemas.microsoft.com/office/drawing/2014/main" id="{3AB23B1B-9632-4A8A-BDAE-5FC290844DF7}"/>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6">
            <a:extLst xmlns:a="http://schemas.openxmlformats.org/drawingml/2006/main">
              <a:ext uri="{FF2B5EF4-FFF2-40B4-BE49-F238E27FC236}">
                <a16:creationId xmlns:a16="http://schemas.microsoft.com/office/drawing/2014/main" id="{8EF545B0-9A70-4F49-98D7-6A44DADB320E}"/>
              </a:ext>
            </a:extLst>
          </p:cNvPr>
          <p:cNvSpPr>
            <a:spLocks xmlns:a="http://schemas.openxmlformats.org/drawingml/2006/main" noGrp="1"/>
          </p:cNvSpPr>
          <p:nvPr/>
        </p:nvSpPr>
        <p:spPr>
          <a:xfrm xmlns:a="http://schemas.openxmlformats.org/drawingml/2006/main">
            <a:off x="75057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76B3A"/>
                </a:solidFill>
              </a:defRPr>
            </a:pPr>
            <a:r>
              <a:rPr sz="1500" b="1">
                <a:solidFill>
                  <a:srgbClr val="176B3A"/>
                </a:solidFill>
              </a:rPr>
              <a:t>Laat de pagina open; vernieuwen of opnieuw scannen is niet nodig.</a:t>
            </a:r>
          </a:p>
        </p:txBody>
      </p:sp>
      <p:sp>
        <p:nvSpPr>
          <p:cNvPr id="8" name="image-frame-deelnemer-wachtkamer.jpg">
            <a:extLst xmlns:a="http://schemas.openxmlformats.org/drawingml/2006/main">
              <a:ext uri="{FF2B5EF4-FFF2-40B4-BE49-F238E27FC236}">
                <a16:creationId xmlns:a16="http://schemas.microsoft.com/office/drawing/2014/main" id="{DCFCDF01-D4FD-4140-B9D9-8562F9379DD4}"/>
              </a:ext>
            </a:extLst>
          </p:cNvPr>
          <p:cNvSpPr>
            <a:spLocks xmlns:a="http://schemas.openxmlformats.org/drawingml/2006/main" noGrp="1"/>
          </p:cNvSpPr>
          <p:nvPr/>
        </p:nvSpPr>
        <p:spPr>
          <a:xfrm xmlns:a="http://schemas.openxmlformats.org/drawingml/2006/main">
            <a:off x="5905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e0226e8aee1049d9"/>
          <a:stretch xmlns:a="http://schemas.openxmlformats.org/drawingml/2006/main"/>
        </p:blipFill>
        <p:spPr>
          <a:xfrm xmlns:a="http://schemas.openxmlformats.org/drawingml/2006/main">
            <a:off x="687917" y="1600200"/>
            <a:ext cx="6282267" cy="3533775"/>
          </a:xfrm>
          <a:prstGeom xmlns:a="http://schemas.openxmlformats.org/drawingml/2006/main" prst="roundRect">
            <a:avLst>
              <a:gd name="adj" fmla="val 3235"/>
            </a:avLst>
          </a:prstGeom>
        </p:spPr>
      </p:pic>
      <p:sp>
        <p:nvSpPr>
          <p:cNvPr id="10" name="image-caption-6">
            <a:extLst xmlns:a="http://schemas.openxmlformats.org/drawingml/2006/main">
              <a:ext uri="{FF2B5EF4-FFF2-40B4-BE49-F238E27FC236}">
                <a16:creationId xmlns:a16="http://schemas.microsoft.com/office/drawing/2014/main" id="{113989F2-9FF6-4356-B9FD-736E99C6EDF7}"/>
              </a:ext>
            </a:extLst>
          </p:cNvPr>
          <p:cNvSpPr>
            <a:spLocks xmlns:a="http://schemas.openxmlformats.org/drawingml/2006/main" noGrp="1"/>
          </p:cNvSpPr>
          <p:nvPr/>
        </p:nvSpPr>
        <p:spPr>
          <a:xfrm xmlns:a="http://schemas.openxmlformats.org/drawingml/2006/main">
            <a:off x="6858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273"/>
                </a:solidFill>
              </a:defRPr>
            </a:pPr>
            <a:r>
              <a:rPr sz="1050" b="1">
                <a:solidFill>
                  <a:srgbClr val="526273"/>
                </a:solidFill>
              </a:rPr>
              <a:t>Echt scherm uit de quiz</a:t>
            </a:r>
          </a:p>
        </p:txBody>
      </p:sp>
      <p:sp>
        <p:nvSpPr>
          <p:cNvPr id="11" name="progress-6">
            <a:extLst xmlns:a="http://schemas.openxmlformats.org/drawingml/2006/main">
              <a:ext uri="{FF2B5EF4-FFF2-40B4-BE49-F238E27FC236}">
                <a16:creationId xmlns:a16="http://schemas.microsoft.com/office/drawing/2014/main" id="{44EC848F-9163-47B3-83E1-B449202315E0}"/>
              </a:ext>
            </a:extLst>
          </p:cNvPr>
          <p:cNvSpPr>
            <a:spLocks xmlns:a="http://schemas.openxmlformats.org/drawingml/2006/main" noGrp="1"/>
          </p:cNvSpPr>
          <p:nvPr/>
        </p:nvSpPr>
        <p:spPr>
          <a:xfrm xmlns:a="http://schemas.openxmlformats.org/drawingml/2006/main">
            <a:off x="0" y="6800850"/>
            <a:ext cx="6096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6">
            <a:extLst xmlns:a="http://schemas.openxmlformats.org/drawingml/2006/main">
              <a:ext uri="{FF2B5EF4-FFF2-40B4-BE49-F238E27FC236}">
                <a16:creationId xmlns:a16="http://schemas.microsoft.com/office/drawing/2014/main" id="{F6FE8A9F-E219-44BC-8AFA-8DF542ADA438}"/>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26273"/>
                </a:solidFill>
              </a:defRPr>
            </a:pPr>
            <a:r>
              <a:rPr sz="1050">
                <a:solidFill>
                  <a:srgbClr val="526273"/>
                </a:solidFill>
              </a:rPr>
              <a:t>Live Diabetes Quiz</a:t>
            </a:r>
          </a:p>
        </p:txBody>
      </p:sp>
      <p:sp>
        <p:nvSpPr>
          <p:cNvPr id="13" name="footer-number-6">
            <a:extLst xmlns:a="http://schemas.openxmlformats.org/drawingml/2006/main">
              <a:ext uri="{FF2B5EF4-FFF2-40B4-BE49-F238E27FC236}">
                <a16:creationId xmlns:a16="http://schemas.microsoft.com/office/drawing/2014/main" id="{E970E04B-8936-4156-9590-422DB1252D87}"/>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526273"/>
                </a:solidFill>
              </a:defRPr>
            </a:pPr>
            <a:r>
              <a:rPr sz="1050">
                <a:solidFill>
                  <a:srgbClr val="526273"/>
                </a:solidFill>
              </a:rPr>
              <a:t>06 / 12</a:t>
            </a:r>
          </a:p>
        </p:txBody>
      </p:sp>
    </p:spTree>
    <p:extLst>
      <p:ext uri="{BB962C8B-B14F-4D97-AF65-F5344CB8AC3E}">
        <p14:creationId xmlns:p14="http://schemas.microsoft.com/office/powerpoint/2010/main" val="1458222356"/>
      </p:ext>
    </p:extLst>
  </p:cSld>
</p:sld>
</file>

<file path=ppt/slides/slide7.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7">
            <a:extLst xmlns:a="http://schemas.openxmlformats.org/drawingml/2006/main">
              <a:ext uri="{FF2B5EF4-FFF2-40B4-BE49-F238E27FC236}">
                <a16:creationId xmlns:a16="http://schemas.microsoft.com/office/drawing/2014/main" id="{C5AD9660-40B5-434F-A19E-5031BF84E4BE}"/>
              </a:ext>
            </a:extLst>
          </p:cNvPr>
          <p:cNvSpPr>
            <a:spLocks xmlns:a="http://schemas.openxmlformats.org/drawingml/2006/main" noGrp="1"/>
          </p:cNvSpPr>
          <p:nvPr/>
        </p:nvSpPr>
        <p:spPr>
          <a:xfrm xmlns:a="http://schemas.openxmlformats.org/drawingml/2006/main">
            <a:off x="6858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086B9C"/>
                </a:solidFill>
              </a:defRPr>
            </a:pPr>
            <a:r>
              <a:rPr sz="1125" b="1">
                <a:solidFill>
                  <a:srgbClr val="086B9C"/>
                </a:solidFill>
              </a:rPr>
              <a:t>STAP 5 · ANTWOORDEN OP DE GSM</a:t>
            </a:r>
          </a:p>
        </p:txBody>
      </p:sp>
      <p:sp>
        <p:nvSpPr>
          <p:cNvPr id="2" name="title-7">
            <a:extLst xmlns:a="http://schemas.openxmlformats.org/drawingml/2006/main">
              <a:ext uri="{FF2B5EF4-FFF2-40B4-BE49-F238E27FC236}">
                <a16:creationId xmlns:a16="http://schemas.microsoft.com/office/drawing/2014/main" id="{6F782A20-9613-48CE-B165-6070FF76FB82}"/>
              </a:ext>
            </a:extLst>
          </p:cNvPr>
          <p:cNvSpPr>
            <a:spLocks xmlns:a="http://schemas.openxmlformats.org/drawingml/2006/main" noGrp="1"/>
          </p:cNvSpPr>
          <p:nvPr/>
        </p:nvSpPr>
        <p:spPr>
          <a:xfrm xmlns:a="http://schemas.openxmlformats.org/drawingml/2006/main">
            <a:off x="6858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7212B"/>
                </a:solidFill>
              </a:defRPr>
            </a:pPr>
            <a:r>
              <a:rPr sz="2925" b="1">
                <a:solidFill>
                  <a:srgbClr val="17212B"/>
                </a:solidFill>
              </a:rPr>
              <a:t>Iedere deelnemer kiest één antwoord</a:t>
            </a:r>
          </a:p>
        </p:txBody>
      </p:sp>
      <p:sp>
        <p:nvSpPr>
          <p:cNvPr id="3" name="accent-7">
            <a:extLst xmlns:a="http://schemas.openxmlformats.org/drawingml/2006/main">
              <a:ext uri="{FF2B5EF4-FFF2-40B4-BE49-F238E27FC236}">
                <a16:creationId xmlns:a16="http://schemas.microsoft.com/office/drawing/2014/main" id="{100D0F5E-8734-4AEC-8FA7-26913DB8DA9F}"/>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7">
            <a:extLst xmlns:a="http://schemas.openxmlformats.org/drawingml/2006/main">
              <a:ext uri="{FF2B5EF4-FFF2-40B4-BE49-F238E27FC236}">
                <a16:creationId xmlns:a16="http://schemas.microsoft.com/office/drawing/2014/main" id="{1B4C648C-3C44-43D5-B2E2-2AEA6B71B370}"/>
              </a:ext>
            </a:extLst>
          </p:cNvPr>
          <p:cNvSpPr>
            <a:spLocks xmlns:a="http://schemas.openxmlformats.org/drawingml/2006/main" noGrp="1"/>
          </p:cNvSpPr>
          <p:nvPr/>
        </p:nvSpPr>
        <p:spPr>
          <a:xfrm xmlns:a="http://schemas.openxmlformats.org/drawingml/2006/main">
            <a:off x="6858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a:solidFill>
                  <a:srgbClr val="17212B"/>
                </a:solidFill>
              </a:defRPr>
            </a:pPr>
            <a:r>
              <a:rPr sz="1725">
                <a:solidFill>
                  <a:srgbClr val="17212B"/>
                </a:solidFill>
              </a:rPr>
              <a:t>• Eén duidelijke vraag</a:t>
            </a:r>
          </a:p>
          <a:p xmlns:a="http://schemas.openxmlformats.org/drawingml/2006/main">
            <a:pPr>
              <a:defRPr sz="1725">
                <a:solidFill>
                  <a:srgbClr val="17212B"/>
                </a:solidFill>
              </a:defRPr>
            </a:pPr>
            <a:r>
              <a:rPr sz="1725">
                <a:solidFill>
                  <a:srgbClr val="17212B"/>
                </a:solidFill>
              </a:rPr>
              <a:t>• Vier grote antwoordknoppen</a:t>
            </a:r>
          </a:p>
          <a:p xmlns:a="http://schemas.openxmlformats.org/drawingml/2006/main">
            <a:pPr>
              <a:defRPr sz="1725">
                <a:solidFill>
                  <a:srgbClr val="17212B"/>
                </a:solidFill>
              </a:defRPr>
            </a:pPr>
            <a:r>
              <a:rPr sz="1725">
                <a:solidFill>
                  <a:srgbClr val="17212B"/>
                </a:solidFill>
              </a:rPr>
              <a:t>• Ieder antwoord wordt één keer bewaard</a:t>
            </a:r>
          </a:p>
        </p:txBody>
      </p:sp>
      <p:sp>
        <p:nvSpPr>
          <p:cNvPr id="5" name="takeaway-box-7">
            <a:extLst xmlns:a="http://schemas.openxmlformats.org/drawingml/2006/main">
              <a:ext uri="{FF2B5EF4-FFF2-40B4-BE49-F238E27FC236}">
                <a16:creationId xmlns:a16="http://schemas.microsoft.com/office/drawing/2014/main" id="{7B0EECD6-1A1A-4E91-AEFB-D7493989D8D6}"/>
              </a:ext>
            </a:extLst>
          </p:cNvPr>
          <p:cNvSpPr>
            <a:spLocks xmlns:a="http://schemas.openxmlformats.org/drawingml/2006/main" noGrp="1"/>
          </p:cNvSpPr>
          <p:nvPr/>
        </p:nvSpPr>
        <p:spPr>
          <a:xfrm xmlns:a="http://schemas.openxmlformats.org/drawingml/2006/main">
            <a:off x="6858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7">
            <a:extLst xmlns:a="http://schemas.openxmlformats.org/drawingml/2006/main">
              <a:ext uri="{FF2B5EF4-FFF2-40B4-BE49-F238E27FC236}">
                <a16:creationId xmlns:a16="http://schemas.microsoft.com/office/drawing/2014/main" id="{86599182-4DE1-4757-B78B-940C665E4B81}"/>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7">
            <a:extLst xmlns:a="http://schemas.openxmlformats.org/drawingml/2006/main">
              <a:ext uri="{FF2B5EF4-FFF2-40B4-BE49-F238E27FC236}">
                <a16:creationId xmlns:a16="http://schemas.microsoft.com/office/drawing/2014/main" id="{ED2BCB9F-5558-45B5-ACFB-210C346DF319}"/>
              </a:ext>
            </a:extLst>
          </p:cNvPr>
          <p:cNvSpPr>
            <a:spLocks xmlns:a="http://schemas.openxmlformats.org/drawingml/2006/main" noGrp="1"/>
          </p:cNvSpPr>
          <p:nvPr/>
        </p:nvSpPr>
        <p:spPr>
          <a:xfrm xmlns:a="http://schemas.openxmlformats.org/drawingml/2006/main">
            <a:off x="9525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76B3A"/>
                </a:solidFill>
              </a:defRPr>
            </a:pPr>
            <a:r>
              <a:rPr sz="1500" b="1">
                <a:solidFill>
                  <a:srgbClr val="176B3A"/>
                </a:solidFill>
              </a:rPr>
              <a:t>De grote knoppen zijn bewust eenvoudig gehouden voor gebruik op de gsm.</a:t>
            </a:r>
          </a:p>
        </p:txBody>
      </p:sp>
      <p:sp>
        <p:nvSpPr>
          <p:cNvPr id="8" name="image-frame-deelnemer-vraag.jpg">
            <a:extLst xmlns:a="http://schemas.openxmlformats.org/drawingml/2006/main">
              <a:ext uri="{FF2B5EF4-FFF2-40B4-BE49-F238E27FC236}">
                <a16:creationId xmlns:a16="http://schemas.microsoft.com/office/drawing/2014/main" id="{14DD711A-1B0E-4F6F-9A85-6FDA5C3A215A}"/>
              </a:ext>
            </a:extLst>
          </p:cNvPr>
          <p:cNvSpPr>
            <a:spLocks xmlns:a="http://schemas.openxmlformats.org/drawingml/2006/main" noGrp="1"/>
          </p:cNvSpPr>
          <p:nvPr/>
        </p:nvSpPr>
        <p:spPr>
          <a:xfrm xmlns:a="http://schemas.openxmlformats.org/drawingml/2006/main">
            <a:off x="51244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32c0397d8dd145e8"/>
          <a:stretch xmlns:a="http://schemas.openxmlformats.org/drawingml/2006/main"/>
        </p:blipFill>
        <p:spPr>
          <a:xfrm xmlns:a="http://schemas.openxmlformats.org/drawingml/2006/main">
            <a:off x="5223747" y="1600200"/>
            <a:ext cx="6278406" cy="3533775"/>
          </a:xfrm>
          <a:prstGeom xmlns:a="http://schemas.openxmlformats.org/drawingml/2006/main" prst="roundRect">
            <a:avLst>
              <a:gd name="adj" fmla="val 3235"/>
            </a:avLst>
          </a:prstGeom>
        </p:spPr>
      </p:pic>
      <p:sp>
        <p:nvSpPr>
          <p:cNvPr id="10" name="image-caption-7">
            <a:extLst xmlns:a="http://schemas.openxmlformats.org/drawingml/2006/main">
              <a:ext uri="{FF2B5EF4-FFF2-40B4-BE49-F238E27FC236}">
                <a16:creationId xmlns:a16="http://schemas.microsoft.com/office/drawing/2014/main" id="{7D63C320-E8F8-4CCD-965B-E41B468AAB66}"/>
              </a:ext>
            </a:extLst>
          </p:cNvPr>
          <p:cNvSpPr>
            <a:spLocks xmlns:a="http://schemas.openxmlformats.org/drawingml/2006/main" noGrp="1"/>
          </p:cNvSpPr>
          <p:nvPr/>
        </p:nvSpPr>
        <p:spPr>
          <a:xfrm xmlns:a="http://schemas.openxmlformats.org/drawingml/2006/main">
            <a:off x="52197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273"/>
                </a:solidFill>
              </a:defRPr>
            </a:pPr>
            <a:r>
              <a:rPr sz="1050" b="1">
                <a:solidFill>
                  <a:srgbClr val="526273"/>
                </a:solidFill>
              </a:rPr>
              <a:t>Echt scherm uit de quiz</a:t>
            </a:r>
          </a:p>
        </p:txBody>
      </p:sp>
      <p:sp>
        <p:nvSpPr>
          <p:cNvPr id="11" name="progress-7">
            <a:extLst xmlns:a="http://schemas.openxmlformats.org/drawingml/2006/main">
              <a:ext uri="{FF2B5EF4-FFF2-40B4-BE49-F238E27FC236}">
                <a16:creationId xmlns:a16="http://schemas.microsoft.com/office/drawing/2014/main" id="{685E54CB-C657-4334-A4D0-D8EDF9786CC1}"/>
              </a:ext>
            </a:extLst>
          </p:cNvPr>
          <p:cNvSpPr>
            <a:spLocks xmlns:a="http://schemas.openxmlformats.org/drawingml/2006/main" noGrp="1"/>
          </p:cNvSpPr>
          <p:nvPr/>
        </p:nvSpPr>
        <p:spPr>
          <a:xfrm xmlns:a="http://schemas.openxmlformats.org/drawingml/2006/main">
            <a:off x="0" y="6800850"/>
            <a:ext cx="7112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7">
            <a:extLst xmlns:a="http://schemas.openxmlformats.org/drawingml/2006/main">
              <a:ext uri="{FF2B5EF4-FFF2-40B4-BE49-F238E27FC236}">
                <a16:creationId xmlns:a16="http://schemas.microsoft.com/office/drawing/2014/main" id="{E05D23DD-2E87-4BBC-BEEB-731A71771E4C}"/>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26273"/>
                </a:solidFill>
              </a:defRPr>
            </a:pPr>
            <a:r>
              <a:rPr sz="1050">
                <a:solidFill>
                  <a:srgbClr val="526273"/>
                </a:solidFill>
              </a:rPr>
              <a:t>Live Diabetes Quiz</a:t>
            </a:r>
          </a:p>
        </p:txBody>
      </p:sp>
      <p:sp>
        <p:nvSpPr>
          <p:cNvPr id="13" name="footer-number-7">
            <a:extLst xmlns:a="http://schemas.openxmlformats.org/drawingml/2006/main">
              <a:ext uri="{FF2B5EF4-FFF2-40B4-BE49-F238E27FC236}">
                <a16:creationId xmlns:a16="http://schemas.microsoft.com/office/drawing/2014/main" id="{003A3AA8-B098-4038-B690-FBDEFFA51EE3}"/>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526273"/>
                </a:solidFill>
              </a:defRPr>
            </a:pPr>
            <a:r>
              <a:rPr sz="1050">
                <a:solidFill>
                  <a:srgbClr val="526273"/>
                </a:solidFill>
              </a:rPr>
              <a:t>07 / 12</a:t>
            </a:r>
          </a:p>
        </p:txBody>
      </p:sp>
    </p:spTree>
    <p:extLst>
      <p:ext uri="{BB962C8B-B14F-4D97-AF65-F5344CB8AC3E}">
        <p14:creationId xmlns:p14="http://schemas.microsoft.com/office/powerpoint/2010/main" val="1040554637"/>
      </p:ext>
    </p:extLst>
  </p:cSld>
</p:sld>
</file>

<file path=ppt/slides/slide8.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8">
            <a:extLst xmlns:a="http://schemas.openxmlformats.org/drawingml/2006/main">
              <a:ext uri="{FF2B5EF4-FFF2-40B4-BE49-F238E27FC236}">
                <a16:creationId xmlns:a16="http://schemas.microsoft.com/office/drawing/2014/main" id="{4C120874-D29A-4707-9268-85763C46A398}"/>
              </a:ext>
            </a:extLst>
          </p:cNvPr>
          <p:cNvSpPr>
            <a:spLocks xmlns:a="http://schemas.openxmlformats.org/drawingml/2006/main" noGrp="1"/>
          </p:cNvSpPr>
          <p:nvPr/>
        </p:nvSpPr>
        <p:spPr>
          <a:xfrm xmlns:a="http://schemas.openxmlformats.org/drawingml/2006/main">
            <a:off x="72390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086B9C"/>
                </a:solidFill>
              </a:defRPr>
            </a:pPr>
            <a:r>
              <a:rPr sz="1125" b="1">
                <a:solidFill>
                  <a:srgbClr val="086B9C"/>
                </a:solidFill>
              </a:rPr>
              <a:t>STAP 6 · DE VRAGEN BEDIENEN</a:t>
            </a:r>
          </a:p>
        </p:txBody>
      </p:sp>
      <p:sp>
        <p:nvSpPr>
          <p:cNvPr id="2" name="title-8">
            <a:extLst xmlns:a="http://schemas.openxmlformats.org/drawingml/2006/main">
              <a:ext uri="{FF2B5EF4-FFF2-40B4-BE49-F238E27FC236}">
                <a16:creationId xmlns:a16="http://schemas.microsoft.com/office/drawing/2014/main" id="{86F048A7-10F2-4659-B06A-0F4CB8914AC2}"/>
              </a:ext>
            </a:extLst>
          </p:cNvPr>
          <p:cNvSpPr>
            <a:spLocks xmlns:a="http://schemas.openxmlformats.org/drawingml/2006/main" noGrp="1"/>
          </p:cNvSpPr>
          <p:nvPr/>
        </p:nvSpPr>
        <p:spPr>
          <a:xfrm xmlns:a="http://schemas.openxmlformats.org/drawingml/2006/main">
            <a:off x="72390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7212B"/>
                </a:solidFill>
              </a:defRPr>
            </a:pPr>
            <a:r>
              <a:rPr sz="2925" b="1">
                <a:solidFill>
                  <a:srgbClr val="17212B"/>
                </a:solidFill>
              </a:rPr>
              <a:t>De quizmaster houdt het overzicht</a:t>
            </a:r>
          </a:p>
        </p:txBody>
      </p:sp>
      <p:sp>
        <p:nvSpPr>
          <p:cNvPr id="3" name="accent-8">
            <a:extLst xmlns:a="http://schemas.openxmlformats.org/drawingml/2006/main">
              <a:ext uri="{FF2B5EF4-FFF2-40B4-BE49-F238E27FC236}">
                <a16:creationId xmlns:a16="http://schemas.microsoft.com/office/drawing/2014/main" id="{F5ACD563-D700-4390-81D2-CE221DC2BFDD}"/>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8">
            <a:extLst xmlns:a="http://schemas.openxmlformats.org/drawingml/2006/main">
              <a:ext uri="{FF2B5EF4-FFF2-40B4-BE49-F238E27FC236}">
                <a16:creationId xmlns:a16="http://schemas.microsoft.com/office/drawing/2014/main" id="{B458D6F4-DB80-479D-BFCA-FE5F263E650A}"/>
              </a:ext>
            </a:extLst>
          </p:cNvPr>
          <p:cNvSpPr>
            <a:spLocks xmlns:a="http://schemas.openxmlformats.org/drawingml/2006/main" noGrp="1"/>
          </p:cNvSpPr>
          <p:nvPr/>
        </p:nvSpPr>
        <p:spPr>
          <a:xfrm xmlns:a="http://schemas.openxmlformats.org/drawingml/2006/main">
            <a:off x="72390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a:solidFill>
                  <a:srgbClr val="17212B"/>
                </a:solidFill>
              </a:defRPr>
            </a:pPr>
            <a:r>
              <a:rPr sz="1725">
                <a:solidFill>
                  <a:srgbClr val="17212B"/>
                </a:solidFill>
              </a:rPr>
              <a:t>• Hoeveel deelnemers zijn verbonden?</a:t>
            </a:r>
          </a:p>
          <a:p xmlns:a="http://schemas.openxmlformats.org/drawingml/2006/main">
            <a:pPr>
              <a:defRPr sz="1725">
                <a:solidFill>
                  <a:srgbClr val="17212B"/>
                </a:solidFill>
              </a:defRPr>
            </a:pPr>
            <a:r>
              <a:rPr sz="1725">
                <a:solidFill>
                  <a:srgbClr val="17212B"/>
                </a:solidFill>
              </a:rPr>
              <a:t>• Hoeveel antwoorden zijn ontvangen?</a:t>
            </a:r>
          </a:p>
          <a:p xmlns:a="http://schemas.openxmlformats.org/drawingml/2006/main">
            <a:pPr>
              <a:defRPr sz="1725">
                <a:solidFill>
                  <a:srgbClr val="17212B"/>
                </a:solidFill>
              </a:defRPr>
            </a:pPr>
            <a:r>
              <a:rPr sz="1725">
                <a:solidFill>
                  <a:srgbClr val="17212B"/>
                </a:solidFill>
              </a:rPr>
              <a:t>• Wanneer kan de vraag worden gesloten?</a:t>
            </a:r>
          </a:p>
        </p:txBody>
      </p:sp>
      <p:sp>
        <p:nvSpPr>
          <p:cNvPr id="5" name="takeaway-box-8">
            <a:extLst xmlns:a="http://schemas.openxmlformats.org/drawingml/2006/main">
              <a:ext uri="{FF2B5EF4-FFF2-40B4-BE49-F238E27FC236}">
                <a16:creationId xmlns:a16="http://schemas.microsoft.com/office/drawing/2014/main" id="{ADD49A95-7C96-42A0-91BF-D54236F15762}"/>
              </a:ext>
            </a:extLst>
          </p:cNvPr>
          <p:cNvSpPr>
            <a:spLocks xmlns:a="http://schemas.openxmlformats.org/drawingml/2006/main" noGrp="1"/>
          </p:cNvSpPr>
          <p:nvPr/>
        </p:nvSpPr>
        <p:spPr>
          <a:xfrm xmlns:a="http://schemas.openxmlformats.org/drawingml/2006/main">
            <a:off x="72390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8">
            <a:extLst xmlns:a="http://schemas.openxmlformats.org/drawingml/2006/main">
              <a:ext uri="{FF2B5EF4-FFF2-40B4-BE49-F238E27FC236}">
                <a16:creationId xmlns:a16="http://schemas.microsoft.com/office/drawing/2014/main" id="{405C9E40-8355-4B28-A5F3-9AD751802A99}"/>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8">
            <a:extLst xmlns:a="http://schemas.openxmlformats.org/drawingml/2006/main">
              <a:ext uri="{FF2B5EF4-FFF2-40B4-BE49-F238E27FC236}">
                <a16:creationId xmlns:a16="http://schemas.microsoft.com/office/drawing/2014/main" id="{B42CDDF9-D274-4D5D-8BEB-30593C26307F}"/>
              </a:ext>
            </a:extLst>
          </p:cNvPr>
          <p:cNvSpPr>
            <a:spLocks xmlns:a="http://schemas.openxmlformats.org/drawingml/2006/main" noGrp="1"/>
          </p:cNvSpPr>
          <p:nvPr/>
        </p:nvSpPr>
        <p:spPr>
          <a:xfrm xmlns:a="http://schemas.openxmlformats.org/drawingml/2006/main">
            <a:off x="75057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76B3A"/>
                </a:solidFill>
              </a:defRPr>
            </a:pPr>
            <a:r>
              <a:rPr sz="1500" b="1">
                <a:solidFill>
                  <a:srgbClr val="176B3A"/>
                </a:solidFill>
              </a:rPr>
              <a:t>De quizmaster bepaalt het tempo van de zaal.</a:t>
            </a:r>
          </a:p>
        </p:txBody>
      </p:sp>
      <p:sp>
        <p:nvSpPr>
          <p:cNvPr id="8" name="image-frame-quizmaster-vraag-open.jpg">
            <a:extLst xmlns:a="http://schemas.openxmlformats.org/drawingml/2006/main">
              <a:ext uri="{FF2B5EF4-FFF2-40B4-BE49-F238E27FC236}">
                <a16:creationId xmlns:a16="http://schemas.microsoft.com/office/drawing/2014/main" id="{38D35D45-8387-4089-BE15-3E783B875D9E}"/>
              </a:ext>
            </a:extLst>
          </p:cNvPr>
          <p:cNvSpPr>
            <a:spLocks xmlns:a="http://schemas.openxmlformats.org/drawingml/2006/main" noGrp="1"/>
          </p:cNvSpPr>
          <p:nvPr/>
        </p:nvSpPr>
        <p:spPr>
          <a:xfrm xmlns:a="http://schemas.openxmlformats.org/drawingml/2006/main">
            <a:off x="5905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4bc31bb3dd264ae2"/>
          <a:stretch xmlns:a="http://schemas.openxmlformats.org/drawingml/2006/main"/>
        </p:blipFill>
        <p:spPr>
          <a:xfrm xmlns:a="http://schemas.openxmlformats.org/drawingml/2006/main">
            <a:off x="689847" y="1600200"/>
            <a:ext cx="6278406" cy="3533775"/>
          </a:xfrm>
          <a:prstGeom xmlns:a="http://schemas.openxmlformats.org/drawingml/2006/main" prst="roundRect">
            <a:avLst>
              <a:gd name="adj" fmla="val 3235"/>
            </a:avLst>
          </a:prstGeom>
        </p:spPr>
      </p:pic>
      <p:sp>
        <p:nvSpPr>
          <p:cNvPr id="10" name="image-caption-8">
            <a:extLst xmlns:a="http://schemas.openxmlformats.org/drawingml/2006/main">
              <a:ext uri="{FF2B5EF4-FFF2-40B4-BE49-F238E27FC236}">
                <a16:creationId xmlns:a16="http://schemas.microsoft.com/office/drawing/2014/main" id="{A04716EF-00CC-4227-8ABA-D7B2B6A76648}"/>
              </a:ext>
            </a:extLst>
          </p:cNvPr>
          <p:cNvSpPr>
            <a:spLocks xmlns:a="http://schemas.openxmlformats.org/drawingml/2006/main" noGrp="1"/>
          </p:cNvSpPr>
          <p:nvPr/>
        </p:nvSpPr>
        <p:spPr>
          <a:xfrm xmlns:a="http://schemas.openxmlformats.org/drawingml/2006/main">
            <a:off x="6858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273"/>
                </a:solidFill>
              </a:defRPr>
            </a:pPr>
            <a:r>
              <a:rPr sz="1050" b="1">
                <a:solidFill>
                  <a:srgbClr val="526273"/>
                </a:solidFill>
              </a:rPr>
              <a:t>Echt scherm uit de quiz</a:t>
            </a:r>
          </a:p>
        </p:txBody>
      </p:sp>
      <p:sp>
        <p:nvSpPr>
          <p:cNvPr id="11" name="progress-8">
            <a:extLst xmlns:a="http://schemas.openxmlformats.org/drawingml/2006/main">
              <a:ext uri="{FF2B5EF4-FFF2-40B4-BE49-F238E27FC236}">
                <a16:creationId xmlns:a16="http://schemas.microsoft.com/office/drawing/2014/main" id="{EAC9CF62-AB4F-45AB-BF19-C78701EFB9F0}"/>
              </a:ext>
            </a:extLst>
          </p:cNvPr>
          <p:cNvSpPr>
            <a:spLocks xmlns:a="http://schemas.openxmlformats.org/drawingml/2006/main" noGrp="1"/>
          </p:cNvSpPr>
          <p:nvPr/>
        </p:nvSpPr>
        <p:spPr>
          <a:xfrm xmlns:a="http://schemas.openxmlformats.org/drawingml/2006/main">
            <a:off x="0" y="6800850"/>
            <a:ext cx="8128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8">
            <a:extLst xmlns:a="http://schemas.openxmlformats.org/drawingml/2006/main">
              <a:ext uri="{FF2B5EF4-FFF2-40B4-BE49-F238E27FC236}">
                <a16:creationId xmlns:a16="http://schemas.microsoft.com/office/drawing/2014/main" id="{92C9BF5F-9D0D-4519-9F99-932C20BD957A}"/>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26273"/>
                </a:solidFill>
              </a:defRPr>
            </a:pPr>
            <a:r>
              <a:rPr sz="1050">
                <a:solidFill>
                  <a:srgbClr val="526273"/>
                </a:solidFill>
              </a:rPr>
              <a:t>Live Diabetes Quiz</a:t>
            </a:r>
          </a:p>
        </p:txBody>
      </p:sp>
      <p:sp>
        <p:nvSpPr>
          <p:cNvPr id="13" name="footer-number-8">
            <a:extLst xmlns:a="http://schemas.openxmlformats.org/drawingml/2006/main">
              <a:ext uri="{FF2B5EF4-FFF2-40B4-BE49-F238E27FC236}">
                <a16:creationId xmlns:a16="http://schemas.microsoft.com/office/drawing/2014/main" id="{08680A39-2F63-4C97-8569-E543A18F7F78}"/>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526273"/>
                </a:solidFill>
              </a:defRPr>
            </a:pPr>
            <a:r>
              <a:rPr sz="1050">
                <a:solidFill>
                  <a:srgbClr val="526273"/>
                </a:solidFill>
              </a:rPr>
              <a:t>08 / 12</a:t>
            </a:r>
          </a:p>
        </p:txBody>
      </p:sp>
    </p:spTree>
    <p:extLst>
      <p:ext uri="{BB962C8B-B14F-4D97-AF65-F5344CB8AC3E}">
        <p14:creationId xmlns:p14="http://schemas.microsoft.com/office/powerpoint/2010/main" val="640909469"/>
      </p:ext>
    </p:extLst>
  </p:cSld>
</p:sld>
</file>

<file path=ppt/slides/slide9.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9">
            <a:extLst xmlns:a="http://schemas.openxmlformats.org/drawingml/2006/main">
              <a:ext uri="{FF2B5EF4-FFF2-40B4-BE49-F238E27FC236}">
                <a16:creationId xmlns:a16="http://schemas.microsoft.com/office/drawing/2014/main" id="{9082EC45-BFFA-4C18-AF1C-74CEFC3B5065}"/>
              </a:ext>
            </a:extLst>
          </p:cNvPr>
          <p:cNvSpPr>
            <a:spLocks xmlns:a="http://schemas.openxmlformats.org/drawingml/2006/main" noGrp="1"/>
          </p:cNvSpPr>
          <p:nvPr/>
        </p:nvSpPr>
        <p:spPr>
          <a:xfrm xmlns:a="http://schemas.openxmlformats.org/drawingml/2006/main">
            <a:off x="6858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086B9C"/>
                </a:solidFill>
              </a:defRPr>
            </a:pPr>
            <a:r>
              <a:rPr sz="1125" b="1">
                <a:solidFill>
                  <a:srgbClr val="086B9C"/>
                </a:solidFill>
              </a:rPr>
              <a:t>STAP 7 · SAMEN LEREN</a:t>
            </a:r>
          </a:p>
        </p:txBody>
      </p:sp>
      <p:sp>
        <p:nvSpPr>
          <p:cNvPr id="2" name="title-9">
            <a:extLst xmlns:a="http://schemas.openxmlformats.org/drawingml/2006/main">
              <a:ext uri="{FF2B5EF4-FFF2-40B4-BE49-F238E27FC236}">
                <a16:creationId xmlns:a16="http://schemas.microsoft.com/office/drawing/2014/main" id="{98FFDB51-E79B-42D3-9685-551CE0B57107}"/>
              </a:ext>
            </a:extLst>
          </p:cNvPr>
          <p:cNvSpPr>
            <a:spLocks xmlns:a="http://schemas.openxmlformats.org/drawingml/2006/main" noGrp="1"/>
          </p:cNvSpPr>
          <p:nvPr/>
        </p:nvSpPr>
        <p:spPr>
          <a:xfrm xmlns:a="http://schemas.openxmlformats.org/drawingml/2006/main">
            <a:off x="6858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7212B"/>
                </a:solidFill>
              </a:defRPr>
            </a:pPr>
            <a:r>
              <a:rPr sz="2925" b="1">
                <a:solidFill>
                  <a:srgbClr val="17212B"/>
                </a:solidFill>
              </a:rPr>
              <a:t>Toon de oplossing en bespreek ze kort</a:t>
            </a:r>
          </a:p>
        </p:txBody>
      </p:sp>
      <p:sp>
        <p:nvSpPr>
          <p:cNvPr id="3" name="accent-9">
            <a:extLst xmlns:a="http://schemas.openxmlformats.org/drawingml/2006/main">
              <a:ext uri="{FF2B5EF4-FFF2-40B4-BE49-F238E27FC236}">
                <a16:creationId xmlns:a16="http://schemas.microsoft.com/office/drawing/2014/main" id="{985D55C5-0C7E-404E-8C01-F8919E2AD596}"/>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9">
            <a:extLst xmlns:a="http://schemas.openxmlformats.org/drawingml/2006/main">
              <a:ext uri="{FF2B5EF4-FFF2-40B4-BE49-F238E27FC236}">
                <a16:creationId xmlns:a16="http://schemas.microsoft.com/office/drawing/2014/main" id="{931A95A6-D1E0-48F1-90F7-BE187C3E4126}"/>
              </a:ext>
            </a:extLst>
          </p:cNvPr>
          <p:cNvSpPr>
            <a:spLocks xmlns:a="http://schemas.openxmlformats.org/drawingml/2006/main" noGrp="1"/>
          </p:cNvSpPr>
          <p:nvPr/>
        </p:nvSpPr>
        <p:spPr>
          <a:xfrm xmlns:a="http://schemas.openxmlformats.org/drawingml/2006/main">
            <a:off x="6858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a:solidFill>
                  <a:srgbClr val="17212B"/>
                </a:solidFill>
              </a:defRPr>
            </a:pPr>
            <a:r>
              <a:rPr sz="1725">
                <a:solidFill>
                  <a:srgbClr val="17212B"/>
                </a:solidFill>
              </a:rPr>
              <a:t>• Verdeling van de antwoorden</a:t>
            </a:r>
          </a:p>
          <a:p xmlns:a="http://schemas.openxmlformats.org/drawingml/2006/main">
            <a:pPr>
              <a:defRPr sz="1725">
                <a:solidFill>
                  <a:srgbClr val="17212B"/>
                </a:solidFill>
              </a:defRPr>
            </a:pPr>
            <a:r>
              <a:rPr sz="1725">
                <a:solidFill>
                  <a:srgbClr val="17212B"/>
                </a:solidFill>
              </a:rPr>
              <a:t>• Juiste antwoord duidelijk gemarkeerd</a:t>
            </a:r>
          </a:p>
          <a:p xmlns:a="http://schemas.openxmlformats.org/drawingml/2006/main">
            <a:pPr>
              <a:defRPr sz="1725">
                <a:solidFill>
                  <a:srgbClr val="17212B"/>
                </a:solidFill>
              </a:defRPr>
            </a:pPr>
            <a:r>
              <a:rPr sz="1725">
                <a:solidFill>
                  <a:srgbClr val="17212B"/>
                </a:solidFill>
              </a:rPr>
              <a:t>• Daarna naar de volgende vraag</a:t>
            </a:r>
          </a:p>
        </p:txBody>
      </p:sp>
      <p:sp>
        <p:nvSpPr>
          <p:cNvPr id="5" name="takeaway-box-9">
            <a:extLst xmlns:a="http://schemas.openxmlformats.org/drawingml/2006/main">
              <a:ext uri="{FF2B5EF4-FFF2-40B4-BE49-F238E27FC236}">
                <a16:creationId xmlns:a16="http://schemas.microsoft.com/office/drawing/2014/main" id="{81D5C353-4933-4DDC-A4E2-EA215D67B657}"/>
              </a:ext>
            </a:extLst>
          </p:cNvPr>
          <p:cNvSpPr>
            <a:spLocks xmlns:a="http://schemas.openxmlformats.org/drawingml/2006/main" noGrp="1"/>
          </p:cNvSpPr>
          <p:nvPr/>
        </p:nvSpPr>
        <p:spPr>
          <a:xfrm xmlns:a="http://schemas.openxmlformats.org/drawingml/2006/main">
            <a:off x="6858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9">
            <a:extLst xmlns:a="http://schemas.openxmlformats.org/drawingml/2006/main">
              <a:ext uri="{FF2B5EF4-FFF2-40B4-BE49-F238E27FC236}">
                <a16:creationId xmlns:a16="http://schemas.microsoft.com/office/drawing/2014/main" id="{F4685FE4-AFCC-4967-9C9A-B5D29947CD95}"/>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9">
            <a:extLst xmlns:a="http://schemas.openxmlformats.org/drawingml/2006/main">
              <a:ext uri="{FF2B5EF4-FFF2-40B4-BE49-F238E27FC236}">
                <a16:creationId xmlns:a16="http://schemas.microsoft.com/office/drawing/2014/main" id="{46047647-7B57-44E1-A227-3067C1CFA580}"/>
              </a:ext>
            </a:extLst>
          </p:cNvPr>
          <p:cNvSpPr>
            <a:spLocks xmlns:a="http://schemas.openxmlformats.org/drawingml/2006/main" noGrp="1"/>
          </p:cNvSpPr>
          <p:nvPr/>
        </p:nvSpPr>
        <p:spPr>
          <a:xfrm xmlns:a="http://schemas.openxmlformats.org/drawingml/2006/main">
            <a:off x="9525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76B3A"/>
                </a:solidFill>
              </a:defRPr>
            </a:pPr>
            <a:r>
              <a:rPr sz="1500" b="1">
                <a:solidFill>
                  <a:srgbClr val="176B3A"/>
                </a:solidFill>
              </a:rPr>
              <a:t>Een korte toelichting maakt van de quiz ook een leermoment.</a:t>
            </a:r>
          </a:p>
        </p:txBody>
      </p:sp>
      <p:sp>
        <p:nvSpPr>
          <p:cNvPr id="8" name="image-frame-quizmaster-oplossing.jpg">
            <a:extLst xmlns:a="http://schemas.openxmlformats.org/drawingml/2006/main">
              <a:ext uri="{FF2B5EF4-FFF2-40B4-BE49-F238E27FC236}">
                <a16:creationId xmlns:a16="http://schemas.microsoft.com/office/drawing/2014/main" id="{C6BD6724-E5B3-4A19-8791-4054DC1B16EF}"/>
              </a:ext>
            </a:extLst>
          </p:cNvPr>
          <p:cNvSpPr>
            <a:spLocks xmlns:a="http://schemas.openxmlformats.org/drawingml/2006/main" noGrp="1"/>
          </p:cNvSpPr>
          <p:nvPr/>
        </p:nvSpPr>
        <p:spPr>
          <a:xfrm xmlns:a="http://schemas.openxmlformats.org/drawingml/2006/main">
            <a:off x="51244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8898d8dc3386417b"/>
          <a:stretch xmlns:a="http://schemas.openxmlformats.org/drawingml/2006/main"/>
        </p:blipFill>
        <p:spPr>
          <a:xfrm xmlns:a="http://schemas.openxmlformats.org/drawingml/2006/main">
            <a:off x="5223747" y="1600200"/>
            <a:ext cx="6278406" cy="3533775"/>
          </a:xfrm>
          <a:prstGeom xmlns:a="http://schemas.openxmlformats.org/drawingml/2006/main" prst="roundRect">
            <a:avLst>
              <a:gd name="adj" fmla="val 3235"/>
            </a:avLst>
          </a:prstGeom>
        </p:spPr>
      </p:pic>
      <p:sp>
        <p:nvSpPr>
          <p:cNvPr id="10" name="image-caption-9">
            <a:extLst xmlns:a="http://schemas.openxmlformats.org/drawingml/2006/main">
              <a:ext uri="{FF2B5EF4-FFF2-40B4-BE49-F238E27FC236}">
                <a16:creationId xmlns:a16="http://schemas.microsoft.com/office/drawing/2014/main" id="{0D198644-9153-4D21-B682-F7F222AE88AC}"/>
              </a:ext>
            </a:extLst>
          </p:cNvPr>
          <p:cNvSpPr>
            <a:spLocks xmlns:a="http://schemas.openxmlformats.org/drawingml/2006/main" noGrp="1"/>
          </p:cNvSpPr>
          <p:nvPr/>
        </p:nvSpPr>
        <p:spPr>
          <a:xfrm xmlns:a="http://schemas.openxmlformats.org/drawingml/2006/main">
            <a:off x="52197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273"/>
                </a:solidFill>
              </a:defRPr>
            </a:pPr>
            <a:r>
              <a:rPr sz="1050" b="1">
                <a:solidFill>
                  <a:srgbClr val="526273"/>
                </a:solidFill>
              </a:rPr>
              <a:t>Echt scherm uit de quiz</a:t>
            </a:r>
          </a:p>
        </p:txBody>
      </p:sp>
      <p:sp>
        <p:nvSpPr>
          <p:cNvPr id="11" name="progress-9">
            <a:extLst xmlns:a="http://schemas.openxmlformats.org/drawingml/2006/main">
              <a:ext uri="{FF2B5EF4-FFF2-40B4-BE49-F238E27FC236}">
                <a16:creationId xmlns:a16="http://schemas.microsoft.com/office/drawing/2014/main" id="{E69477D0-DB80-40A5-A80B-B504222507D8}"/>
              </a:ext>
            </a:extLst>
          </p:cNvPr>
          <p:cNvSpPr>
            <a:spLocks xmlns:a="http://schemas.openxmlformats.org/drawingml/2006/main" noGrp="1"/>
          </p:cNvSpPr>
          <p:nvPr/>
        </p:nvSpPr>
        <p:spPr>
          <a:xfrm xmlns:a="http://schemas.openxmlformats.org/drawingml/2006/main">
            <a:off x="0" y="6800850"/>
            <a:ext cx="9144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9">
            <a:extLst xmlns:a="http://schemas.openxmlformats.org/drawingml/2006/main">
              <a:ext uri="{FF2B5EF4-FFF2-40B4-BE49-F238E27FC236}">
                <a16:creationId xmlns:a16="http://schemas.microsoft.com/office/drawing/2014/main" id="{1BFF2CC2-7284-41D0-9F9B-2ED5A12E05BB}"/>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26273"/>
                </a:solidFill>
              </a:defRPr>
            </a:pPr>
            <a:r>
              <a:rPr sz="1050">
                <a:solidFill>
                  <a:srgbClr val="526273"/>
                </a:solidFill>
              </a:rPr>
              <a:t>Live Diabetes Quiz</a:t>
            </a:r>
          </a:p>
        </p:txBody>
      </p:sp>
      <p:sp>
        <p:nvSpPr>
          <p:cNvPr id="13" name="footer-number-9">
            <a:extLst xmlns:a="http://schemas.openxmlformats.org/drawingml/2006/main">
              <a:ext uri="{FF2B5EF4-FFF2-40B4-BE49-F238E27FC236}">
                <a16:creationId xmlns:a16="http://schemas.microsoft.com/office/drawing/2014/main" id="{8807071E-B2EB-4F79-98DE-211EB1739BD4}"/>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526273"/>
                </a:solidFill>
              </a:defRPr>
            </a:pPr>
            <a:r>
              <a:rPr sz="1050">
                <a:solidFill>
                  <a:srgbClr val="526273"/>
                </a:solidFill>
              </a:rPr>
              <a:t>09 / 12</a:t>
            </a:r>
          </a:p>
        </p:txBody>
      </p:sp>
    </p:spTree>
    <p:extLst>
      <p:ext uri="{BB962C8B-B14F-4D97-AF65-F5344CB8AC3E}">
        <p14:creationId xmlns:p14="http://schemas.microsoft.com/office/powerpoint/2010/main" val="2076057286"/>
      </p:ext>
    </p:extLst>
  </p:cSld>
</p:sld>
</file>

<file path=ppt/slides/slide10.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0">
            <a:extLst xmlns:a="http://schemas.openxmlformats.org/drawingml/2006/main">
              <a:ext uri="{FF2B5EF4-FFF2-40B4-BE49-F238E27FC236}">
                <a16:creationId xmlns:a16="http://schemas.microsoft.com/office/drawing/2014/main" id="{C3B3B5DA-0D4D-4E93-807E-34A7C1EF576B}"/>
              </a:ext>
            </a:extLst>
          </p:cNvPr>
          <p:cNvSpPr>
            <a:spLocks xmlns:a="http://schemas.openxmlformats.org/drawingml/2006/main" noGrp="1"/>
          </p:cNvSpPr>
          <p:nvPr/>
        </p:nvSpPr>
        <p:spPr>
          <a:xfrm xmlns:a="http://schemas.openxmlformats.org/drawingml/2006/main">
            <a:off x="72390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086B9C"/>
                </a:solidFill>
              </a:defRPr>
            </a:pPr>
            <a:r>
              <a:rPr sz="1125" b="1">
                <a:solidFill>
                  <a:srgbClr val="086B9C"/>
                </a:solidFill>
              </a:rPr>
              <a:t>NA DE LAATSTE VRAAG</a:t>
            </a:r>
          </a:p>
        </p:txBody>
      </p:sp>
      <p:sp>
        <p:nvSpPr>
          <p:cNvPr id="2" name="title-10">
            <a:extLst xmlns:a="http://schemas.openxmlformats.org/drawingml/2006/main">
              <a:ext uri="{FF2B5EF4-FFF2-40B4-BE49-F238E27FC236}">
                <a16:creationId xmlns:a16="http://schemas.microsoft.com/office/drawing/2014/main" id="{07C09F01-F572-462B-BC9A-B62FD6B5C905}"/>
              </a:ext>
            </a:extLst>
          </p:cNvPr>
          <p:cNvSpPr>
            <a:spLocks xmlns:a="http://schemas.openxmlformats.org/drawingml/2006/main" noGrp="1"/>
          </p:cNvSpPr>
          <p:nvPr/>
        </p:nvSpPr>
        <p:spPr>
          <a:xfrm xmlns:a="http://schemas.openxmlformats.org/drawingml/2006/main">
            <a:off x="72390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7212B"/>
                </a:solidFill>
              </a:defRPr>
            </a:pPr>
            <a:r>
              <a:rPr sz="2925" b="1">
                <a:solidFill>
                  <a:srgbClr val="17212B"/>
                </a:solidFill>
              </a:rPr>
              <a:t>Iedere deelnemer krijgt een persoonlijk resultaat</a:t>
            </a:r>
          </a:p>
        </p:txBody>
      </p:sp>
      <p:sp>
        <p:nvSpPr>
          <p:cNvPr id="3" name="accent-10">
            <a:extLst xmlns:a="http://schemas.openxmlformats.org/drawingml/2006/main">
              <a:ext uri="{FF2B5EF4-FFF2-40B4-BE49-F238E27FC236}">
                <a16:creationId xmlns:a16="http://schemas.microsoft.com/office/drawing/2014/main" id="{93D37278-69FB-492B-A240-30902EFA7018}"/>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10">
            <a:extLst xmlns:a="http://schemas.openxmlformats.org/drawingml/2006/main">
              <a:ext uri="{FF2B5EF4-FFF2-40B4-BE49-F238E27FC236}">
                <a16:creationId xmlns:a16="http://schemas.microsoft.com/office/drawing/2014/main" id="{21CE16E9-BBD8-4999-9B4F-F0F09647FFC4}"/>
              </a:ext>
            </a:extLst>
          </p:cNvPr>
          <p:cNvSpPr>
            <a:spLocks xmlns:a="http://schemas.openxmlformats.org/drawingml/2006/main" noGrp="1"/>
          </p:cNvSpPr>
          <p:nvPr/>
        </p:nvSpPr>
        <p:spPr>
          <a:xfrm xmlns:a="http://schemas.openxmlformats.org/drawingml/2006/main">
            <a:off x="72390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a:solidFill>
                  <a:srgbClr val="17212B"/>
                </a:solidFill>
              </a:defRPr>
            </a:pPr>
            <a:r>
              <a:rPr sz="1725">
                <a:solidFill>
                  <a:srgbClr val="17212B"/>
                </a:solidFill>
              </a:rPr>
              <a:t>• Persoonlijke score</a:t>
            </a:r>
          </a:p>
          <a:p xmlns:a="http://schemas.openxmlformats.org/drawingml/2006/main">
            <a:pPr>
              <a:defRPr sz="1725">
                <a:solidFill>
                  <a:srgbClr val="17212B"/>
                </a:solidFill>
              </a:defRPr>
            </a:pPr>
            <a:r>
              <a:rPr sz="1725">
                <a:solidFill>
                  <a:srgbClr val="17212B"/>
                </a:solidFill>
              </a:rPr>
              <a:t>• Eigen foute antwoorden</a:t>
            </a:r>
          </a:p>
          <a:p xmlns:a="http://schemas.openxmlformats.org/drawingml/2006/main">
            <a:pPr>
              <a:defRPr sz="1725">
                <a:solidFill>
                  <a:srgbClr val="17212B"/>
                </a:solidFill>
              </a:defRPr>
            </a:pPr>
            <a:r>
              <a:rPr sz="1725">
                <a:solidFill>
                  <a:srgbClr val="17212B"/>
                </a:solidFill>
              </a:rPr>
              <a:t>• Geen namen of rangschikking</a:t>
            </a:r>
          </a:p>
        </p:txBody>
      </p:sp>
      <p:sp>
        <p:nvSpPr>
          <p:cNvPr id="5" name="takeaway-box-10">
            <a:extLst xmlns:a="http://schemas.openxmlformats.org/drawingml/2006/main">
              <a:ext uri="{FF2B5EF4-FFF2-40B4-BE49-F238E27FC236}">
                <a16:creationId xmlns:a16="http://schemas.microsoft.com/office/drawing/2014/main" id="{2B8F8519-C136-4D2F-B4B8-A9A733A9A931}"/>
              </a:ext>
            </a:extLst>
          </p:cNvPr>
          <p:cNvSpPr>
            <a:spLocks xmlns:a="http://schemas.openxmlformats.org/drawingml/2006/main" noGrp="1"/>
          </p:cNvSpPr>
          <p:nvPr/>
        </p:nvSpPr>
        <p:spPr>
          <a:xfrm xmlns:a="http://schemas.openxmlformats.org/drawingml/2006/main">
            <a:off x="72390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10">
            <a:extLst xmlns:a="http://schemas.openxmlformats.org/drawingml/2006/main">
              <a:ext uri="{FF2B5EF4-FFF2-40B4-BE49-F238E27FC236}">
                <a16:creationId xmlns:a16="http://schemas.microsoft.com/office/drawing/2014/main" id="{0A67FAB1-BB6C-415F-9E92-844F6E236270}"/>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10">
            <a:extLst xmlns:a="http://schemas.openxmlformats.org/drawingml/2006/main">
              <a:ext uri="{FF2B5EF4-FFF2-40B4-BE49-F238E27FC236}">
                <a16:creationId xmlns:a16="http://schemas.microsoft.com/office/drawing/2014/main" id="{59294509-EB92-4E7B-A4B4-F2F3D8A4280C}"/>
              </a:ext>
            </a:extLst>
          </p:cNvPr>
          <p:cNvSpPr>
            <a:spLocks xmlns:a="http://schemas.openxmlformats.org/drawingml/2006/main" noGrp="1"/>
          </p:cNvSpPr>
          <p:nvPr/>
        </p:nvSpPr>
        <p:spPr>
          <a:xfrm xmlns:a="http://schemas.openxmlformats.org/drawingml/2006/main">
            <a:off x="75057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76B3A"/>
                </a:solidFill>
              </a:defRPr>
            </a:pPr>
            <a:r>
              <a:rPr sz="1500" b="1">
                <a:solidFill>
                  <a:srgbClr val="176B3A"/>
                </a:solidFill>
              </a:rPr>
              <a:t>Alleen de deelnemer zelf ziet het persoonlijke overzicht.</a:t>
            </a:r>
          </a:p>
        </p:txBody>
      </p:sp>
      <p:sp>
        <p:nvSpPr>
          <p:cNvPr id="8" name="image-frame-deelnemer-resultaat.jpg">
            <a:extLst xmlns:a="http://schemas.openxmlformats.org/drawingml/2006/main">
              <a:ext uri="{FF2B5EF4-FFF2-40B4-BE49-F238E27FC236}">
                <a16:creationId xmlns:a16="http://schemas.microsoft.com/office/drawing/2014/main" id="{7E7EA968-73D3-458E-9097-9F9378B2505D}"/>
              </a:ext>
            </a:extLst>
          </p:cNvPr>
          <p:cNvSpPr>
            <a:spLocks xmlns:a="http://schemas.openxmlformats.org/drawingml/2006/main" noGrp="1"/>
          </p:cNvSpPr>
          <p:nvPr/>
        </p:nvSpPr>
        <p:spPr>
          <a:xfrm xmlns:a="http://schemas.openxmlformats.org/drawingml/2006/main">
            <a:off x="5905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b6a23d047d8949fa"/>
          <a:stretch xmlns:a="http://schemas.openxmlformats.org/drawingml/2006/main"/>
        </p:blipFill>
        <p:spPr>
          <a:xfrm xmlns:a="http://schemas.openxmlformats.org/drawingml/2006/main">
            <a:off x="689847" y="1600200"/>
            <a:ext cx="6278406" cy="3533775"/>
          </a:xfrm>
          <a:prstGeom xmlns:a="http://schemas.openxmlformats.org/drawingml/2006/main" prst="roundRect">
            <a:avLst>
              <a:gd name="adj" fmla="val 3235"/>
            </a:avLst>
          </a:prstGeom>
        </p:spPr>
      </p:pic>
      <p:sp>
        <p:nvSpPr>
          <p:cNvPr id="10" name="image-caption-10">
            <a:extLst xmlns:a="http://schemas.openxmlformats.org/drawingml/2006/main">
              <a:ext uri="{FF2B5EF4-FFF2-40B4-BE49-F238E27FC236}">
                <a16:creationId xmlns:a16="http://schemas.microsoft.com/office/drawing/2014/main" id="{C305491A-E457-438E-BCDC-8783C00064E7}"/>
              </a:ext>
            </a:extLst>
          </p:cNvPr>
          <p:cNvSpPr>
            <a:spLocks xmlns:a="http://schemas.openxmlformats.org/drawingml/2006/main" noGrp="1"/>
          </p:cNvSpPr>
          <p:nvPr/>
        </p:nvSpPr>
        <p:spPr>
          <a:xfrm xmlns:a="http://schemas.openxmlformats.org/drawingml/2006/main">
            <a:off x="6858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273"/>
                </a:solidFill>
              </a:defRPr>
            </a:pPr>
            <a:r>
              <a:rPr sz="1050" b="1">
                <a:solidFill>
                  <a:srgbClr val="526273"/>
                </a:solidFill>
              </a:rPr>
              <a:t>Echt scherm uit de quiz</a:t>
            </a:r>
          </a:p>
        </p:txBody>
      </p:sp>
      <p:sp>
        <p:nvSpPr>
          <p:cNvPr id="11" name="progress-10">
            <a:extLst xmlns:a="http://schemas.openxmlformats.org/drawingml/2006/main">
              <a:ext uri="{FF2B5EF4-FFF2-40B4-BE49-F238E27FC236}">
                <a16:creationId xmlns:a16="http://schemas.microsoft.com/office/drawing/2014/main" id="{0E18519D-212C-4951-8105-778599CA0C66}"/>
              </a:ext>
            </a:extLst>
          </p:cNvPr>
          <p:cNvSpPr>
            <a:spLocks xmlns:a="http://schemas.openxmlformats.org/drawingml/2006/main" noGrp="1"/>
          </p:cNvSpPr>
          <p:nvPr/>
        </p:nvSpPr>
        <p:spPr>
          <a:xfrm xmlns:a="http://schemas.openxmlformats.org/drawingml/2006/main">
            <a:off x="0" y="6800850"/>
            <a:ext cx="10160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10">
            <a:extLst xmlns:a="http://schemas.openxmlformats.org/drawingml/2006/main">
              <a:ext uri="{FF2B5EF4-FFF2-40B4-BE49-F238E27FC236}">
                <a16:creationId xmlns:a16="http://schemas.microsoft.com/office/drawing/2014/main" id="{F456A8A4-0D31-4024-ADBA-51C1515938E2}"/>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26273"/>
                </a:solidFill>
              </a:defRPr>
            </a:pPr>
            <a:r>
              <a:rPr sz="1050">
                <a:solidFill>
                  <a:srgbClr val="526273"/>
                </a:solidFill>
              </a:rPr>
              <a:t>Live Diabetes Quiz</a:t>
            </a:r>
          </a:p>
        </p:txBody>
      </p:sp>
      <p:sp>
        <p:nvSpPr>
          <p:cNvPr id="13" name="footer-number-10">
            <a:extLst xmlns:a="http://schemas.openxmlformats.org/drawingml/2006/main">
              <a:ext uri="{FF2B5EF4-FFF2-40B4-BE49-F238E27FC236}">
                <a16:creationId xmlns:a16="http://schemas.microsoft.com/office/drawing/2014/main" id="{9C16D4C3-00E7-41EE-8657-E47B1141E85E}"/>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526273"/>
                </a:solidFill>
              </a:defRPr>
            </a:pPr>
            <a:r>
              <a:rPr sz="1050">
                <a:solidFill>
                  <a:srgbClr val="526273"/>
                </a:solidFill>
              </a:rPr>
              <a:t>10 / 12</a:t>
            </a:r>
          </a:p>
        </p:txBody>
      </p:sp>
    </p:spTree>
    <p:extLst>
      <p:ext uri="{BB962C8B-B14F-4D97-AF65-F5344CB8AC3E}">
        <p14:creationId xmlns:p14="http://schemas.microsoft.com/office/powerpoint/2010/main" val="2132287556"/>
      </p:ext>
    </p:extLst>
  </p:cSld>
</p:sld>
</file>

<file path=ppt/slides/slide11.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1">
            <a:extLst xmlns:a="http://schemas.openxmlformats.org/drawingml/2006/main">
              <a:ext uri="{FF2B5EF4-FFF2-40B4-BE49-F238E27FC236}">
                <a16:creationId xmlns:a16="http://schemas.microsoft.com/office/drawing/2014/main" id="{0A6EB091-244C-4297-9328-312178889F9B}"/>
              </a:ext>
            </a:extLst>
          </p:cNvPr>
          <p:cNvSpPr>
            <a:spLocks xmlns:a="http://schemas.openxmlformats.org/drawingml/2006/main" noGrp="1"/>
          </p:cNvSpPr>
          <p:nvPr/>
        </p:nvSpPr>
        <p:spPr>
          <a:xfrm xmlns:a="http://schemas.openxmlformats.org/drawingml/2006/main">
            <a:off x="6858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086B9C"/>
                </a:solidFill>
              </a:defRPr>
            </a:pPr>
            <a:r>
              <a:rPr sz="1125" b="1">
                <a:solidFill>
                  <a:srgbClr val="086B9C"/>
                </a:solidFill>
              </a:rPr>
              <a:t>GEZAMENLIJKE EINDANALYSE</a:t>
            </a:r>
          </a:p>
        </p:txBody>
      </p:sp>
      <p:sp>
        <p:nvSpPr>
          <p:cNvPr id="2" name="title-11">
            <a:extLst xmlns:a="http://schemas.openxmlformats.org/drawingml/2006/main">
              <a:ext uri="{FF2B5EF4-FFF2-40B4-BE49-F238E27FC236}">
                <a16:creationId xmlns:a16="http://schemas.microsoft.com/office/drawing/2014/main" id="{7A472040-157A-460E-B91C-FE908E48D5E1}"/>
              </a:ext>
            </a:extLst>
          </p:cNvPr>
          <p:cNvSpPr>
            <a:spLocks xmlns:a="http://schemas.openxmlformats.org/drawingml/2006/main" noGrp="1"/>
          </p:cNvSpPr>
          <p:nvPr/>
        </p:nvSpPr>
        <p:spPr>
          <a:xfrm xmlns:a="http://schemas.openxmlformats.org/drawingml/2006/main">
            <a:off x="6858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7212B"/>
                </a:solidFill>
              </a:defRPr>
            </a:pPr>
            <a:r>
              <a:rPr sz="2925" b="1">
                <a:solidFill>
                  <a:srgbClr val="17212B"/>
                </a:solidFill>
              </a:rPr>
              <a:t>De zaal sluit af met drie leerpunten</a:t>
            </a:r>
          </a:p>
        </p:txBody>
      </p:sp>
      <p:sp>
        <p:nvSpPr>
          <p:cNvPr id="3" name="accent-11">
            <a:extLst xmlns:a="http://schemas.openxmlformats.org/drawingml/2006/main">
              <a:ext uri="{FF2B5EF4-FFF2-40B4-BE49-F238E27FC236}">
                <a16:creationId xmlns:a16="http://schemas.microsoft.com/office/drawing/2014/main" id="{A8A6733A-603F-473C-ABB7-7047DCECD306}"/>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11">
            <a:extLst xmlns:a="http://schemas.openxmlformats.org/drawingml/2006/main">
              <a:ext uri="{FF2B5EF4-FFF2-40B4-BE49-F238E27FC236}">
                <a16:creationId xmlns:a16="http://schemas.microsoft.com/office/drawing/2014/main" id="{22A88B48-AB05-4681-85A7-50B82DA576EF}"/>
              </a:ext>
            </a:extLst>
          </p:cNvPr>
          <p:cNvSpPr>
            <a:spLocks xmlns:a="http://schemas.openxmlformats.org/drawingml/2006/main" noGrp="1"/>
          </p:cNvSpPr>
          <p:nvPr/>
        </p:nvSpPr>
        <p:spPr>
          <a:xfrm xmlns:a="http://schemas.openxmlformats.org/drawingml/2006/main">
            <a:off x="6858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a:solidFill>
                  <a:srgbClr val="17212B"/>
                </a:solidFill>
              </a:defRPr>
            </a:pPr>
            <a:r>
              <a:rPr sz="1725">
                <a:solidFill>
                  <a:srgbClr val="17212B"/>
                </a:solidFill>
              </a:rPr>
              <a:t>• Top drie meest fout beantwoorde vragen</a:t>
            </a:r>
          </a:p>
          <a:p xmlns:a="http://schemas.openxmlformats.org/drawingml/2006/main">
            <a:pPr>
              <a:defRPr sz="1725">
                <a:solidFill>
                  <a:srgbClr val="17212B"/>
                </a:solidFill>
              </a:defRPr>
            </a:pPr>
            <a:r>
              <a:rPr sz="1725">
                <a:solidFill>
                  <a:srgbClr val="17212B"/>
                </a:solidFill>
              </a:rPr>
              <a:t>• De vraag opnieuw zichtbaar</a:t>
            </a:r>
          </a:p>
          <a:p xmlns:a="http://schemas.openxmlformats.org/drawingml/2006/main">
            <a:pPr>
              <a:defRPr sz="1725">
                <a:solidFill>
                  <a:srgbClr val="17212B"/>
                </a:solidFill>
              </a:defRPr>
            </a:pPr>
            <a:r>
              <a:rPr sz="1725">
                <a:solidFill>
                  <a:srgbClr val="17212B"/>
                </a:solidFill>
              </a:rPr>
              <a:t>• Het juiste antwoord erbij</a:t>
            </a:r>
          </a:p>
        </p:txBody>
      </p:sp>
      <p:sp>
        <p:nvSpPr>
          <p:cNvPr id="5" name="takeaway-box-11">
            <a:extLst xmlns:a="http://schemas.openxmlformats.org/drawingml/2006/main">
              <a:ext uri="{FF2B5EF4-FFF2-40B4-BE49-F238E27FC236}">
                <a16:creationId xmlns:a16="http://schemas.microsoft.com/office/drawing/2014/main" id="{755956FE-31C7-40DA-A2EE-075C074D426C}"/>
              </a:ext>
            </a:extLst>
          </p:cNvPr>
          <p:cNvSpPr>
            <a:spLocks xmlns:a="http://schemas.openxmlformats.org/drawingml/2006/main" noGrp="1"/>
          </p:cNvSpPr>
          <p:nvPr/>
        </p:nvSpPr>
        <p:spPr>
          <a:xfrm xmlns:a="http://schemas.openxmlformats.org/drawingml/2006/main">
            <a:off x="6858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11">
            <a:extLst xmlns:a="http://schemas.openxmlformats.org/drawingml/2006/main">
              <a:ext uri="{FF2B5EF4-FFF2-40B4-BE49-F238E27FC236}">
                <a16:creationId xmlns:a16="http://schemas.microsoft.com/office/drawing/2014/main" id="{7B62B28C-858E-44D9-B5D4-4CEDC342CBDE}"/>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11">
            <a:extLst xmlns:a="http://schemas.openxmlformats.org/drawingml/2006/main">
              <a:ext uri="{FF2B5EF4-FFF2-40B4-BE49-F238E27FC236}">
                <a16:creationId xmlns:a16="http://schemas.microsoft.com/office/drawing/2014/main" id="{6A9DAEBB-EA01-470D-88D2-6AEC69C24908}"/>
              </a:ext>
            </a:extLst>
          </p:cNvPr>
          <p:cNvSpPr>
            <a:spLocks xmlns:a="http://schemas.openxmlformats.org/drawingml/2006/main" noGrp="1"/>
          </p:cNvSpPr>
          <p:nvPr/>
        </p:nvSpPr>
        <p:spPr>
          <a:xfrm xmlns:a="http://schemas.openxmlformats.org/drawingml/2006/main">
            <a:off x="9525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76B3A"/>
                </a:solidFill>
              </a:defRPr>
            </a:pPr>
            <a:r>
              <a:rPr sz="1500" b="1">
                <a:solidFill>
                  <a:srgbClr val="176B3A"/>
                </a:solidFill>
              </a:rPr>
              <a:t>De eindanalyse herhaalt wat voor de groep het moeilijkst was.</a:t>
            </a:r>
          </a:p>
        </p:txBody>
      </p:sp>
      <p:sp>
        <p:nvSpPr>
          <p:cNvPr id="8" name="image-frame-zaalscherm-eindanalyse.jpg">
            <a:extLst xmlns:a="http://schemas.openxmlformats.org/drawingml/2006/main">
              <a:ext uri="{FF2B5EF4-FFF2-40B4-BE49-F238E27FC236}">
                <a16:creationId xmlns:a16="http://schemas.microsoft.com/office/drawing/2014/main" id="{7E8B703C-5ED7-4E40-98D5-FB11CD7A388F}"/>
              </a:ext>
            </a:extLst>
          </p:cNvPr>
          <p:cNvSpPr>
            <a:spLocks xmlns:a="http://schemas.openxmlformats.org/drawingml/2006/main" noGrp="1"/>
          </p:cNvSpPr>
          <p:nvPr/>
        </p:nvSpPr>
        <p:spPr>
          <a:xfrm xmlns:a="http://schemas.openxmlformats.org/drawingml/2006/main">
            <a:off x="51244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09cb10cfad384195"/>
          <a:stretch xmlns:a="http://schemas.openxmlformats.org/drawingml/2006/main"/>
        </p:blipFill>
        <p:spPr>
          <a:xfrm xmlns:a="http://schemas.openxmlformats.org/drawingml/2006/main">
            <a:off x="5223747" y="1600200"/>
            <a:ext cx="6278406" cy="3533775"/>
          </a:xfrm>
          <a:prstGeom xmlns:a="http://schemas.openxmlformats.org/drawingml/2006/main" prst="roundRect">
            <a:avLst>
              <a:gd name="adj" fmla="val 3235"/>
            </a:avLst>
          </a:prstGeom>
        </p:spPr>
      </p:pic>
      <p:sp>
        <p:nvSpPr>
          <p:cNvPr id="10" name="image-caption-11">
            <a:extLst xmlns:a="http://schemas.openxmlformats.org/drawingml/2006/main">
              <a:ext uri="{FF2B5EF4-FFF2-40B4-BE49-F238E27FC236}">
                <a16:creationId xmlns:a16="http://schemas.microsoft.com/office/drawing/2014/main" id="{591FDBCE-CD42-4FF2-BAC1-19B6D8C3CF32}"/>
              </a:ext>
            </a:extLst>
          </p:cNvPr>
          <p:cNvSpPr>
            <a:spLocks xmlns:a="http://schemas.openxmlformats.org/drawingml/2006/main" noGrp="1"/>
          </p:cNvSpPr>
          <p:nvPr/>
        </p:nvSpPr>
        <p:spPr>
          <a:xfrm xmlns:a="http://schemas.openxmlformats.org/drawingml/2006/main">
            <a:off x="52197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273"/>
                </a:solidFill>
              </a:defRPr>
            </a:pPr>
            <a:r>
              <a:rPr sz="1050" b="1">
                <a:solidFill>
                  <a:srgbClr val="526273"/>
                </a:solidFill>
              </a:rPr>
              <a:t>Echt scherm uit de quiz</a:t>
            </a:r>
          </a:p>
        </p:txBody>
      </p:sp>
      <p:sp>
        <p:nvSpPr>
          <p:cNvPr id="11" name="progress-11">
            <a:extLst xmlns:a="http://schemas.openxmlformats.org/drawingml/2006/main">
              <a:ext uri="{FF2B5EF4-FFF2-40B4-BE49-F238E27FC236}">
                <a16:creationId xmlns:a16="http://schemas.microsoft.com/office/drawing/2014/main" id="{DE2B645F-0140-4991-951A-DF2CDBBA6D92}"/>
              </a:ext>
            </a:extLst>
          </p:cNvPr>
          <p:cNvSpPr>
            <a:spLocks xmlns:a="http://schemas.openxmlformats.org/drawingml/2006/main" noGrp="1"/>
          </p:cNvSpPr>
          <p:nvPr/>
        </p:nvSpPr>
        <p:spPr>
          <a:xfrm xmlns:a="http://schemas.openxmlformats.org/drawingml/2006/main">
            <a:off x="0" y="6800850"/>
            <a:ext cx="11176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11">
            <a:extLst xmlns:a="http://schemas.openxmlformats.org/drawingml/2006/main">
              <a:ext uri="{FF2B5EF4-FFF2-40B4-BE49-F238E27FC236}">
                <a16:creationId xmlns:a16="http://schemas.microsoft.com/office/drawing/2014/main" id="{38E9989F-A6A0-4F93-AF37-C10F6E45E796}"/>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26273"/>
                </a:solidFill>
              </a:defRPr>
            </a:pPr>
            <a:r>
              <a:rPr sz="1050">
                <a:solidFill>
                  <a:srgbClr val="526273"/>
                </a:solidFill>
              </a:rPr>
              <a:t>Live Diabetes Quiz</a:t>
            </a:r>
          </a:p>
        </p:txBody>
      </p:sp>
      <p:sp>
        <p:nvSpPr>
          <p:cNvPr id="13" name="footer-number-11">
            <a:extLst xmlns:a="http://schemas.openxmlformats.org/drawingml/2006/main">
              <a:ext uri="{FF2B5EF4-FFF2-40B4-BE49-F238E27FC236}">
                <a16:creationId xmlns:a16="http://schemas.microsoft.com/office/drawing/2014/main" id="{D9D45C24-D66A-4B50-9823-085BD0266E0F}"/>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526273"/>
                </a:solidFill>
              </a:defRPr>
            </a:pPr>
            <a:r>
              <a:rPr sz="1050">
                <a:solidFill>
                  <a:srgbClr val="526273"/>
                </a:solidFill>
              </a:rPr>
              <a:t>11 / 12</a:t>
            </a:r>
          </a:p>
        </p:txBody>
      </p:sp>
    </p:spTree>
    <p:extLst>
      <p:ext uri="{BB962C8B-B14F-4D97-AF65-F5344CB8AC3E}">
        <p14:creationId xmlns:p14="http://schemas.microsoft.com/office/powerpoint/2010/main" val="989803388"/>
      </p:ext>
    </p:extLst>
  </p:cSld>
</p:sld>
</file>

<file path=ppt/slides/slide12.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2">
            <a:extLst xmlns:a="http://schemas.openxmlformats.org/drawingml/2006/main">
              <a:ext uri="{FF2B5EF4-FFF2-40B4-BE49-F238E27FC236}">
                <a16:creationId xmlns:a16="http://schemas.microsoft.com/office/drawing/2014/main" id="{CCF1F5E2-7CCE-45C7-B97D-0185EAC19776}"/>
              </a:ext>
            </a:extLst>
          </p:cNvPr>
          <p:cNvSpPr>
            <a:spLocks xmlns:a="http://schemas.openxmlformats.org/drawingml/2006/main" noGrp="1"/>
          </p:cNvSpPr>
          <p:nvPr/>
        </p:nvSpPr>
        <p:spPr>
          <a:xfrm xmlns:a="http://schemas.openxmlformats.org/drawingml/2006/main">
            <a:off x="72390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086B9C"/>
                </a:solidFill>
              </a:defRPr>
            </a:pPr>
            <a:r>
              <a:rPr sz="1125" b="1">
                <a:solidFill>
                  <a:srgbClr val="086B9C"/>
                </a:solidFill>
              </a:rPr>
              <a:t>TOT SLOT</a:t>
            </a:r>
          </a:p>
        </p:txBody>
      </p:sp>
      <p:sp>
        <p:nvSpPr>
          <p:cNvPr id="2" name="title-12">
            <a:extLst xmlns:a="http://schemas.openxmlformats.org/drawingml/2006/main">
              <a:ext uri="{FF2B5EF4-FFF2-40B4-BE49-F238E27FC236}">
                <a16:creationId xmlns:a16="http://schemas.microsoft.com/office/drawing/2014/main" id="{8F0D33FF-7050-4770-A16A-A52F0D848291}"/>
              </a:ext>
            </a:extLst>
          </p:cNvPr>
          <p:cNvSpPr>
            <a:spLocks xmlns:a="http://schemas.openxmlformats.org/drawingml/2006/main" noGrp="1"/>
          </p:cNvSpPr>
          <p:nvPr/>
        </p:nvSpPr>
        <p:spPr>
          <a:xfrm xmlns:a="http://schemas.openxmlformats.org/drawingml/2006/main">
            <a:off x="72390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7212B"/>
                </a:solidFill>
              </a:defRPr>
            </a:pPr>
            <a:r>
              <a:rPr sz="2925" b="1">
                <a:solidFill>
                  <a:srgbClr val="17212B"/>
                </a:solidFill>
              </a:rPr>
              <a:t>Afronden of opnieuw beginnen</a:t>
            </a:r>
          </a:p>
        </p:txBody>
      </p:sp>
      <p:sp>
        <p:nvSpPr>
          <p:cNvPr id="3" name="accent-12">
            <a:extLst xmlns:a="http://schemas.openxmlformats.org/drawingml/2006/main">
              <a:ext uri="{FF2B5EF4-FFF2-40B4-BE49-F238E27FC236}">
                <a16:creationId xmlns:a16="http://schemas.microsoft.com/office/drawing/2014/main" id="{68039F37-641A-440C-82D4-5C83BD3B2E01}"/>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12">
            <a:extLst xmlns:a="http://schemas.openxmlformats.org/drawingml/2006/main">
              <a:ext uri="{FF2B5EF4-FFF2-40B4-BE49-F238E27FC236}">
                <a16:creationId xmlns:a16="http://schemas.microsoft.com/office/drawing/2014/main" id="{B4790C87-6EF8-4F0C-8111-3E1B7466414A}"/>
              </a:ext>
            </a:extLst>
          </p:cNvPr>
          <p:cNvSpPr>
            <a:spLocks xmlns:a="http://schemas.openxmlformats.org/drawingml/2006/main" noGrp="1"/>
          </p:cNvSpPr>
          <p:nvPr/>
        </p:nvSpPr>
        <p:spPr>
          <a:xfrm xmlns:a="http://schemas.openxmlformats.org/drawingml/2006/main">
            <a:off x="72390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a:solidFill>
                  <a:srgbClr val="17212B"/>
                </a:solidFill>
              </a:defRPr>
            </a:pPr>
            <a:r>
              <a:rPr sz="1725">
                <a:solidFill>
                  <a:srgbClr val="17212B"/>
                </a:solidFill>
              </a:rPr>
              <a:t>• Bekijk de volledige groepsanalyse</a:t>
            </a:r>
          </a:p>
          <a:p xmlns:a="http://schemas.openxmlformats.org/drawingml/2006/main">
            <a:pPr>
              <a:defRPr sz="1725">
                <a:solidFill>
                  <a:srgbClr val="17212B"/>
                </a:solidFill>
              </a:defRPr>
            </a:pPr>
            <a:r>
              <a:rPr sz="1725">
                <a:solidFill>
                  <a:srgbClr val="17212B"/>
                </a:solidFill>
              </a:rPr>
              <a:t>• Bereid eventueel een nieuwe sessie voor</a:t>
            </a:r>
          </a:p>
          <a:p xmlns:a="http://schemas.openxmlformats.org/drawingml/2006/main">
            <a:pPr>
              <a:defRPr sz="1725">
                <a:solidFill>
                  <a:srgbClr val="17212B"/>
                </a:solidFill>
              </a:defRPr>
            </a:pPr>
            <a:r>
              <a:rPr sz="1725">
                <a:solidFill>
                  <a:srgbClr val="17212B"/>
                </a:solidFill>
              </a:rPr>
              <a:t>• Gebruik bij twijfel de handleiding</a:t>
            </a:r>
          </a:p>
        </p:txBody>
      </p:sp>
      <p:sp>
        <p:nvSpPr>
          <p:cNvPr id="5" name="takeaway-box-12">
            <a:extLst xmlns:a="http://schemas.openxmlformats.org/drawingml/2006/main">
              <a:ext uri="{FF2B5EF4-FFF2-40B4-BE49-F238E27FC236}">
                <a16:creationId xmlns:a16="http://schemas.microsoft.com/office/drawing/2014/main" id="{AC424BF4-61D3-422A-8506-C718F65A53CC}"/>
              </a:ext>
            </a:extLst>
          </p:cNvPr>
          <p:cNvSpPr>
            <a:spLocks xmlns:a="http://schemas.openxmlformats.org/drawingml/2006/main" noGrp="1"/>
          </p:cNvSpPr>
          <p:nvPr/>
        </p:nvSpPr>
        <p:spPr>
          <a:xfrm xmlns:a="http://schemas.openxmlformats.org/drawingml/2006/main">
            <a:off x="72390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12">
            <a:extLst xmlns:a="http://schemas.openxmlformats.org/drawingml/2006/main">
              <a:ext uri="{FF2B5EF4-FFF2-40B4-BE49-F238E27FC236}">
                <a16:creationId xmlns:a16="http://schemas.microsoft.com/office/drawing/2014/main" id="{0DB9385D-5F2D-4335-A656-95355E258166}"/>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12">
            <a:extLst xmlns:a="http://schemas.openxmlformats.org/drawingml/2006/main">
              <a:ext uri="{FF2B5EF4-FFF2-40B4-BE49-F238E27FC236}">
                <a16:creationId xmlns:a16="http://schemas.microsoft.com/office/drawing/2014/main" id="{CF2AA6BF-C04C-4C43-ACDE-63D997761D15}"/>
              </a:ext>
            </a:extLst>
          </p:cNvPr>
          <p:cNvSpPr>
            <a:spLocks xmlns:a="http://schemas.openxmlformats.org/drawingml/2006/main" noGrp="1"/>
          </p:cNvSpPr>
          <p:nvPr/>
        </p:nvSpPr>
        <p:spPr>
          <a:xfrm xmlns:a="http://schemas.openxmlformats.org/drawingml/2006/main">
            <a:off x="75057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76B3A"/>
                </a:solidFill>
              </a:defRPr>
            </a:pPr>
            <a:r>
              <a:rPr sz="1500" b="1">
                <a:solidFill>
                  <a:srgbClr val="176B3A"/>
                </a:solidFill>
              </a:rPr>
              <a:t>Met één korte proef vooraf bent u klaar voor de echte zaalquiz.</a:t>
            </a:r>
          </a:p>
        </p:txBody>
      </p:sp>
      <p:sp>
        <p:nvSpPr>
          <p:cNvPr id="8" name="image-frame-quizmaster-eindanalyse.jpg">
            <a:extLst xmlns:a="http://schemas.openxmlformats.org/drawingml/2006/main">
              <a:ext uri="{FF2B5EF4-FFF2-40B4-BE49-F238E27FC236}">
                <a16:creationId xmlns:a16="http://schemas.microsoft.com/office/drawing/2014/main" id="{234A2BC1-75A3-422A-AA43-E5D029C7DC2F}"/>
              </a:ext>
            </a:extLst>
          </p:cNvPr>
          <p:cNvSpPr>
            <a:spLocks xmlns:a="http://schemas.openxmlformats.org/drawingml/2006/main" noGrp="1"/>
          </p:cNvSpPr>
          <p:nvPr/>
        </p:nvSpPr>
        <p:spPr>
          <a:xfrm xmlns:a="http://schemas.openxmlformats.org/drawingml/2006/main">
            <a:off x="5905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763c049e7ceb479a"/>
          <a:stretch xmlns:a="http://schemas.openxmlformats.org/drawingml/2006/main"/>
        </p:blipFill>
        <p:spPr>
          <a:xfrm xmlns:a="http://schemas.openxmlformats.org/drawingml/2006/main">
            <a:off x="689847" y="1600200"/>
            <a:ext cx="6278406" cy="3533775"/>
          </a:xfrm>
          <a:prstGeom xmlns:a="http://schemas.openxmlformats.org/drawingml/2006/main" prst="roundRect">
            <a:avLst>
              <a:gd name="adj" fmla="val 3235"/>
            </a:avLst>
          </a:prstGeom>
        </p:spPr>
      </p:pic>
      <p:sp>
        <p:nvSpPr>
          <p:cNvPr id="10" name="image-caption-12">
            <a:extLst xmlns:a="http://schemas.openxmlformats.org/drawingml/2006/main">
              <a:ext uri="{FF2B5EF4-FFF2-40B4-BE49-F238E27FC236}">
                <a16:creationId xmlns:a16="http://schemas.microsoft.com/office/drawing/2014/main" id="{696C2487-45E7-4849-9C47-FA887A6FB426}"/>
              </a:ext>
            </a:extLst>
          </p:cNvPr>
          <p:cNvSpPr>
            <a:spLocks xmlns:a="http://schemas.openxmlformats.org/drawingml/2006/main" noGrp="1"/>
          </p:cNvSpPr>
          <p:nvPr/>
        </p:nvSpPr>
        <p:spPr>
          <a:xfrm xmlns:a="http://schemas.openxmlformats.org/drawingml/2006/main">
            <a:off x="6858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273"/>
                </a:solidFill>
              </a:defRPr>
            </a:pPr>
            <a:r>
              <a:rPr sz="1050" b="1">
                <a:solidFill>
                  <a:srgbClr val="526273"/>
                </a:solidFill>
              </a:rPr>
              <a:t>Echt scherm uit de quiz</a:t>
            </a:r>
          </a:p>
        </p:txBody>
      </p:sp>
      <p:sp>
        <p:nvSpPr>
          <p:cNvPr id="11" name="progress-12">
            <a:extLst xmlns:a="http://schemas.openxmlformats.org/drawingml/2006/main">
              <a:ext uri="{FF2B5EF4-FFF2-40B4-BE49-F238E27FC236}">
                <a16:creationId xmlns:a16="http://schemas.microsoft.com/office/drawing/2014/main" id="{8BD8F329-F44A-4EF2-8057-3BE1F448AD48}"/>
              </a:ext>
            </a:extLst>
          </p:cNvPr>
          <p:cNvSpPr>
            <a:spLocks xmlns:a="http://schemas.openxmlformats.org/drawingml/2006/main" noGrp="1"/>
          </p:cNvSpPr>
          <p:nvPr/>
        </p:nvSpPr>
        <p:spPr>
          <a:xfrm xmlns:a="http://schemas.openxmlformats.org/drawingml/2006/main">
            <a:off x="0" y="6800850"/>
            <a:ext cx="12192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12">
            <a:extLst xmlns:a="http://schemas.openxmlformats.org/drawingml/2006/main">
              <a:ext uri="{FF2B5EF4-FFF2-40B4-BE49-F238E27FC236}">
                <a16:creationId xmlns:a16="http://schemas.microsoft.com/office/drawing/2014/main" id="{4EA3BF4E-AE92-430F-ADB6-B547059177E3}"/>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26273"/>
                </a:solidFill>
              </a:defRPr>
            </a:pPr>
            <a:r>
              <a:rPr sz="1050">
                <a:solidFill>
                  <a:srgbClr val="526273"/>
                </a:solidFill>
              </a:rPr>
              <a:t>Live Diabetes Quiz</a:t>
            </a:r>
          </a:p>
        </p:txBody>
      </p:sp>
      <p:sp>
        <p:nvSpPr>
          <p:cNvPr id="13" name="footer-number-12">
            <a:extLst xmlns:a="http://schemas.openxmlformats.org/drawingml/2006/main">
              <a:ext uri="{FF2B5EF4-FFF2-40B4-BE49-F238E27FC236}">
                <a16:creationId xmlns:a16="http://schemas.microsoft.com/office/drawing/2014/main" id="{8AF9E2B4-5DEB-4675-9FB6-9614C541070C}"/>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526273"/>
                </a:solidFill>
              </a:defRPr>
            </a:pPr>
            <a:r>
              <a:rPr sz="1050">
                <a:solidFill>
                  <a:srgbClr val="526273"/>
                </a:solidFill>
              </a:rPr>
              <a:t>12 / 12</a:t>
            </a:r>
          </a:p>
        </p:txBody>
      </p:sp>
    </p:spTree>
    <p:extLst>
      <p:ext uri="{BB962C8B-B14F-4D97-AF65-F5344CB8AC3E}">
        <p14:creationId xmlns:p14="http://schemas.microsoft.com/office/powerpoint/2010/main" val="102782411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2026-08-10T06:51:47.9180000Z</dcterms:created>
  <dcterms:modified xsi:type="dcterms:W3CDTF">2026-08-10T06:51:47.9180000Z</dcterms:modified>
</coreProperties>
</file>