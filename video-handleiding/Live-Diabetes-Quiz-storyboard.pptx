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86fa496eae43e1" /><Relationship Type="http://schemas.openxmlformats.org/officeDocument/2006/relationships/extended-properties" Target="/docProps/app.xml" Id="R9e8a31769927448c" /><Relationship Type="http://schemas.openxmlformats.org/officeDocument/2006/relationships/officeDocument" Target="/ppt/presentation.xml" Id="R1f92229bb3324edc" /></Relationships>
</file>

<file path=ppt/presentation.xml><?xml version="1.0" encoding="utf-8"?>
<p:presentation xmlns:p="http://schemas.openxmlformats.org/presentationml/2006/main">
  <p:sldMasterIdLst>
    <p:sldMasterId xmlns:r="http://schemas.openxmlformats.org/officeDocument/2006/relationships" id="2147483648" r:id="R89f5e1c621164a9c"/>
  </p:sldMasterIdLst>
  <p:notesMasterIdLst>
    <p:notesMasterId xmlns:r="http://schemas.openxmlformats.org/officeDocument/2006/relationships" r:id="R65ac3fee5d974f49"/>
  </p:notesMasterIdLst>
  <p:sldIdLst>
    <p:sldId xmlns:r="http://schemas.openxmlformats.org/officeDocument/2006/relationships" id="256" r:id="R95df7eb5fc4d42f4"/>
    <p:sldId xmlns:r="http://schemas.openxmlformats.org/officeDocument/2006/relationships" id="257" r:id="R846cc80e5c804e45"/>
    <p:sldId xmlns:r="http://schemas.openxmlformats.org/officeDocument/2006/relationships" id="258" r:id="R6750400bc3dc42fd"/>
    <p:sldId xmlns:r="http://schemas.openxmlformats.org/officeDocument/2006/relationships" id="259" r:id="Rd6fcfc265ce049d9"/>
    <p:sldId xmlns:r="http://schemas.openxmlformats.org/officeDocument/2006/relationships" id="260" r:id="Rec7a8bed4e3b469a"/>
    <p:sldId xmlns:r="http://schemas.openxmlformats.org/officeDocument/2006/relationships" id="261" r:id="R758f6b12180744bd"/>
    <p:sldId xmlns:r="http://schemas.openxmlformats.org/officeDocument/2006/relationships" id="262" r:id="R42ecba3a760f4dbd"/>
    <p:sldId xmlns:r="http://schemas.openxmlformats.org/officeDocument/2006/relationships" id="263" r:id="R8ab21760150243a7"/>
    <p:sldId xmlns:r="http://schemas.openxmlformats.org/officeDocument/2006/relationships" id="264" r:id="Rb7113273f23e4e45"/>
    <p:sldId xmlns:r="http://schemas.openxmlformats.org/officeDocument/2006/relationships" id="265" r:id="Raf8ba042359b4844"/>
    <p:sldId xmlns:r="http://schemas.openxmlformats.org/officeDocument/2006/relationships" id="266" r:id="R3fe01386c1224782"/>
    <p:sldId xmlns:r="http://schemas.openxmlformats.org/officeDocument/2006/relationships" id="267" r:id="R1d217f75b88948f5"/>
    <p:sldId xmlns:r="http://schemas.openxmlformats.org/officeDocument/2006/relationships" id="268" r:id="R45d01c6235ca45b4"/>
    <p:sldId xmlns:r="http://schemas.openxmlformats.org/officeDocument/2006/relationships" id="269" r:id="R4a0334ddea2541e1"/>
    <p:sldId xmlns:r="http://schemas.openxmlformats.org/officeDocument/2006/relationships" id="270" r:id="Rdebb20f05a414e37"/>
    <p:sldId xmlns:r="http://schemas.openxmlformats.org/officeDocument/2006/relationships" id="271" r:id="R2629c4d359144b1c"/>
    <p:sldId xmlns:r="http://schemas.openxmlformats.org/officeDocument/2006/relationships" id="272" r:id="R059a0109cc1447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0b640cf5974fe3" /><Relationship Type="http://schemas.openxmlformats.org/officeDocument/2006/relationships/slideMaster" Target="/ppt/slideMasters/slideMaster1.xml" Id="R89f5e1c621164a9c" /><Relationship Type="http://schemas.openxmlformats.org/officeDocument/2006/relationships/notesMaster" Target="/ppt/notesMasters/notesMaster1.xml" Id="R65ac3fee5d974f49" /><Relationship Type="http://schemas.openxmlformats.org/officeDocument/2006/relationships/presProps" Target="/ppt/presProps.xml" Id="R560b0f907c7041bb" /><Relationship Type="http://schemas.openxmlformats.org/officeDocument/2006/relationships/tableStyles" Target="/ppt/tableStyles.xml" Id="Rf5df2beb835045bc" /><Relationship Type="http://schemas.openxmlformats.org/officeDocument/2006/relationships/slide" Target="/ppt/slides/slide1.xml" Id="R95df7eb5fc4d42f4" /><Relationship Type="http://schemas.openxmlformats.org/officeDocument/2006/relationships/slide" Target="/ppt/slides/slide2.xml" Id="R846cc80e5c804e45" /><Relationship Type="http://schemas.openxmlformats.org/officeDocument/2006/relationships/slide" Target="/ppt/slides/slide3.xml" Id="R6750400bc3dc42fd" /><Relationship Type="http://schemas.openxmlformats.org/officeDocument/2006/relationships/slide" Target="/ppt/slides/slide4.xml" Id="Rd6fcfc265ce049d9" /><Relationship Type="http://schemas.openxmlformats.org/officeDocument/2006/relationships/slide" Target="/ppt/slides/slide5.xml" Id="Rec7a8bed4e3b469a" /><Relationship Type="http://schemas.openxmlformats.org/officeDocument/2006/relationships/slide" Target="/ppt/slides/slide6.xml" Id="R758f6b12180744bd" /><Relationship Type="http://schemas.openxmlformats.org/officeDocument/2006/relationships/slide" Target="/ppt/slides/slide7.xml" Id="R42ecba3a760f4dbd" /><Relationship Type="http://schemas.openxmlformats.org/officeDocument/2006/relationships/slide" Target="/ppt/slides/slide8.xml" Id="R8ab21760150243a7" /><Relationship Type="http://schemas.openxmlformats.org/officeDocument/2006/relationships/slide" Target="/ppt/slides/slide9.xml" Id="Rb7113273f23e4e45" /><Relationship Type="http://schemas.openxmlformats.org/officeDocument/2006/relationships/slide" Target="/ppt/slides/slide10.xml" Id="Raf8ba042359b4844" /><Relationship Type="http://schemas.openxmlformats.org/officeDocument/2006/relationships/slide" Target="/ppt/slides/slide11.xml" Id="R3fe01386c1224782" /><Relationship Type="http://schemas.openxmlformats.org/officeDocument/2006/relationships/slide" Target="/ppt/slides/slide12.xml" Id="R1d217f75b88948f5" /><Relationship Type="http://schemas.openxmlformats.org/officeDocument/2006/relationships/slide" Target="/ppt/slides/slide13.xml" Id="R45d01c6235ca45b4" /><Relationship Type="http://schemas.openxmlformats.org/officeDocument/2006/relationships/slide" Target="/ppt/slides/slide14.xml" Id="R4a0334ddea2541e1" /><Relationship Type="http://schemas.openxmlformats.org/officeDocument/2006/relationships/slide" Target="/ppt/slides/slide15.xml" Id="Rdebb20f05a414e37" /><Relationship Type="http://schemas.openxmlformats.org/officeDocument/2006/relationships/slide" Target="/ppt/slides/slide16.xml" Id="R2629c4d359144b1c" /><Relationship Type="http://schemas.openxmlformats.org/officeDocument/2006/relationships/slide" Target="/ppt/slides/slide17.xml" Id="R059a0109cc1447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cb429750e746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1ec24ed4514ca9" /><Relationship Type="http://schemas.openxmlformats.org/officeDocument/2006/relationships/notesMaster" Target="/ppt/notesMasters/notesMaster1.xml" Id="R4e65d7de5a6249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0bf3da4b864294" /><Relationship Type="http://schemas.openxmlformats.org/officeDocument/2006/relationships/notesMaster" Target="/ppt/notesMasters/notesMaster1.xml" Id="R6db32db95a6e4e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a993c34577415a" /><Relationship Type="http://schemas.openxmlformats.org/officeDocument/2006/relationships/notesMaster" Target="/ppt/notesMasters/notesMaster1.xml" Id="R55042ad46f054a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f6f9bb33dd4f8d" /><Relationship Type="http://schemas.openxmlformats.org/officeDocument/2006/relationships/notesMaster" Target="/ppt/notesMasters/notesMaster1.xml" Id="R0927a2a4e1cc47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48458a0d0d4686" /><Relationship Type="http://schemas.openxmlformats.org/officeDocument/2006/relationships/notesMaster" Target="/ppt/notesMasters/notesMaster1.xml" Id="R4d4bf901df6044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58fbf511bd4713" /><Relationship Type="http://schemas.openxmlformats.org/officeDocument/2006/relationships/notesMaster" Target="/ppt/notesMasters/notesMaster1.xml" Id="Rfebae34f7f964e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ef6402e2b74ddb" /><Relationship Type="http://schemas.openxmlformats.org/officeDocument/2006/relationships/notesMaster" Target="/ppt/notesMasters/notesMaster1.xml" Id="R4cf86e3e76ec43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8aa104c40e486f" /><Relationship Type="http://schemas.openxmlformats.org/officeDocument/2006/relationships/notesMaster" Target="/ppt/notesMasters/notesMaster1.xml" Id="Rd0ce49a9e56447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993450be91462b" /><Relationship Type="http://schemas.openxmlformats.org/officeDocument/2006/relationships/notesMaster" Target="/ppt/notesMasters/notesMaster1.xml" Id="R89e947e963d84e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dc4074ba304486" /><Relationship Type="http://schemas.openxmlformats.org/officeDocument/2006/relationships/notesMaster" Target="/ppt/notesMasters/notesMaster1.xml" Id="Rbba03dc3ba564b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2421603eaf465b" /><Relationship Type="http://schemas.openxmlformats.org/officeDocument/2006/relationships/notesMaster" Target="/ppt/notesMasters/notesMaster1.xml" Id="Reb1522ae119f43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e4ae0ae0364916" /><Relationship Type="http://schemas.openxmlformats.org/officeDocument/2006/relationships/notesMaster" Target="/ppt/notesMasters/notesMaster1.xml" Id="R82e44b8f6a5547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6218439df54b8c" /><Relationship Type="http://schemas.openxmlformats.org/officeDocument/2006/relationships/notesMaster" Target="/ppt/notesMasters/notesMaster1.xml" Id="R70a3b86a75d840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565376854e4271" /><Relationship Type="http://schemas.openxmlformats.org/officeDocument/2006/relationships/notesMaster" Target="/ppt/notesMasters/notesMaster1.xml" Id="Rf701665c73bf41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29972fc8fd43ac" /><Relationship Type="http://schemas.openxmlformats.org/officeDocument/2006/relationships/notesMaster" Target="/ppt/notesMasters/notesMaster1.xml" Id="Ra24e7288ae0749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85120b8f6c4b62" /><Relationship Type="http://schemas.openxmlformats.org/officeDocument/2006/relationships/notesMaster" Target="/ppt/notesMasters/notesMaster1.xml" Id="R1b2ffd6ff6af4b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4dff0b87a6487e" /><Relationship Type="http://schemas.openxmlformats.org/officeDocument/2006/relationships/notesMaster" Target="/ppt/notesMasters/notesMaster1.xml" Id="R656a9cc39d1f45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 — Live Diabetes Quiz voor organisatoren</a:t>
            </a:r>
          </a:p>
          <a:p xmlns:a="http://schemas.openxmlformats.org/drawingml/2006/main">
            <a:r>
              <a:t/>
            </a:r>
          </a:p>
          <a:p xmlns:a="http://schemas.openxmlformats.org/drawingml/2006/main">
            <a:r>
              <a:t>DUUR: 25 SECONDEN</a:t>
            </a:r>
          </a:p>
          <a:p xmlns:a="http://schemas.openxmlformats.org/drawingml/2006/main">
            <a:r>
              <a:t/>
            </a:r>
          </a:p>
          <a:p xmlns:a="http://schemas.openxmlformats.org/drawingml/2006/main">
            <a:r>
              <a:t>VOICE-OVER:</a:t>
            </a:r>
          </a:p>
          <a:p xmlns:a="http://schemas.openxmlformats.org/drawingml/2006/main">
            <a:r>
              <a:t>Welkom bij de volledige organisatorhandleiding van de Live Diabetes Quiz. We volgen rustig de hele zaalactiviteit: de technische voorbereiding, het maken van een sessie, het voorbereiden en uitdelen van de deelnemersbriefjes, het begeleiden van de quiz en de eindanalyse. U ziet steeds de echte schermen die u later zelf gebruikt.</a:t>
            </a:r>
          </a:p>
          <a:p xmlns:a="http://schemas.openxmlformats.org/drawingml/2006/main">
            <a:r>
              <a:t/>
            </a:r>
          </a:p>
          <a:p xmlns:a="http://schemas.openxmlformats.org/drawingml/2006/main">
            <a:r>
              <a:t>CANVA-AANWIJZING:</a:t>
            </a:r>
          </a:p>
          <a:p xmlns:a="http://schemas.openxmlformats.org/drawingml/2006/main">
            <a:r>
              <a:t>Laat eerst het logo verschijnen. Daarna komen titel en ondertitel rustig in beeld.</a:t>
            </a:r>
          </a:p>
          <a:p xmlns:a="http://schemas.openxmlformats.org/drawingml/2006/main">
            <a:r>
              <a:t/>
            </a:r>
          </a:p>
          <a:p xmlns:a="http://schemas.openxmlformats.org/drawingml/2006/main">
            <a:r>
              <a:t>[Sources]</a:t>
            </a:r>
          </a:p>
          <a:p xmlns:a="http://schemas.openxmlformats.org/drawingml/2006/main">
            <a:r>
              <a:t>- Eigen projectafbeelding: C:/Users/fredd/Documents/Live quiz/docs/assets/logo-diabetes-liga-midden-limburg.png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2 — Drie schermen met elk een eigen taak</a:t>
            </a:r>
          </a:p>
          <a:p xmlns:a="http://schemas.openxmlformats.org/drawingml/2006/main">
            <a:r>
              <a:t/>
            </a:r>
          </a:p>
          <a:p xmlns:a="http://schemas.openxmlformats.org/drawingml/2006/main">
            <a:r>
              <a:t>DUUR: 35 SECONDEN</a:t>
            </a:r>
          </a:p>
          <a:p xmlns:a="http://schemas.openxmlformats.org/drawingml/2006/main">
            <a:r>
              <a:t/>
            </a:r>
          </a:p>
          <a:p xmlns:a="http://schemas.openxmlformats.org/drawingml/2006/main">
            <a:r>
              <a:t>VOICE-OVER:</a:t>
            </a:r>
          </a:p>
          <a:p xmlns:a="http://schemas.openxmlformats.org/drawingml/2006/main">
            <a:r>
              <a:t>De quiz gebruikt drie schermen. De quizmaster bedient alles op de laptop. Iedere deelnemer antwoordt anoniem op de eigen gsm. Het grote zaalscherm toont dezelfde vraag en antwoordmogelijkheden, maar nooit de geheime bediening. Onderaan ziet iedereen hoeveel deelnemers verbonden zijn en hoeveel antwoorden binnen zijn. Bij dertig verbonden deelnemers en dertig ontvangen antwoorden weet de quizmaster dat iedereen klaar is.</a:t>
            </a:r>
          </a:p>
          <a:p xmlns:a="http://schemas.openxmlformats.org/drawingml/2006/main">
            <a:r>
              <a:t/>
            </a:r>
          </a:p>
          <a:p xmlns:a="http://schemas.openxmlformats.org/drawingml/2006/main">
            <a:r>
              <a:t>CANVA-AANWIJZING:</a:t>
            </a:r>
          </a:p>
          <a:p xmlns:a="http://schemas.openxmlformats.org/drawingml/2006/main">
            <a:r>
              <a:t>Toon de drie taken één voor één en zoom daarna in op de twee tellers van het zaalscherm.</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quiz/docs/assets/handleiding/zaalscherm-vraag.jpg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3 — Bereid materiaal en briefjes liefst vooraf thuis voor</a:t>
            </a:r>
          </a:p>
          <a:p xmlns:a="http://schemas.openxmlformats.org/drawingml/2006/main">
            <a:r>
              <a:t/>
            </a:r>
          </a:p>
          <a:p xmlns:a="http://schemas.openxmlformats.org/drawingml/2006/main">
            <a:r>
              <a:t>DUUR: 60 SECONDEN</a:t>
            </a:r>
          </a:p>
          <a:p xmlns:a="http://schemas.openxmlformats.org/drawingml/2006/main">
            <a:r>
              <a:t/>
            </a:r>
          </a:p>
          <a:p xmlns:a="http://schemas.openxmlformats.org/drawingml/2006/main">
            <a:r>
              <a:t>VOICE-OVER:</a:t>
            </a:r>
          </a:p>
          <a:p xmlns:a="http://schemas.openxmlformats.org/drawingml/2006/main">
            <a:r>
              <a:t>Vraag ruim vooraf de naam en het wachtwoord van de gastenwifi wanneer u die wilt aanbieden. Is er geen wifi, test dan vóór de activiteit in de zaal of mobiele ontvangst goed werkt, liefst met meer dan één mobiel netwerk. Vermeld zo mogelijk al in de uitnodiging dat deelnemers een gsm met actieve mobiele internetverbinding nodig hebben. Zodra de zaalgegevens en het verwachte aantal deelnemers bekend zijn, maakt u thuis of op kantoor de definitieve quizsessie en drukt u daar de briefjes af. Zo gebruikt u de grotere printer zonder hem mee te nemen. Neem dezelfde laptop, gesneden briefjes en reserves mee. In de zaal controleert u alleen nog internet, projectie en één proef met de eigen gsm.</a:t>
            </a:r>
          </a:p>
          <a:p xmlns:a="http://schemas.openxmlformats.org/drawingml/2006/main">
            <a:r>
              <a:t/>
            </a:r>
          </a:p>
          <a:p xmlns:a="http://schemas.openxmlformats.org/drawingml/2006/main">
            <a:r>
              <a:t>CANVA-AANWIJZING:</a:t>
            </a:r>
          </a:p>
          <a:p xmlns:a="http://schemas.openxmlformats.org/drawingml/2006/main">
            <a:r>
              <a:t>Laat de controlepunten achtereenvolgens verschijnen en eindig bij “één proef met eigen gsm”.</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quiz/docs/assets/handleiding/quizmaster-voorbereiden.jpg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4 — Kies het aantal vragen en maak de sessie</a:t>
            </a:r>
          </a:p>
          <a:p xmlns:a="http://schemas.openxmlformats.org/drawingml/2006/main">
            <a:r>
              <a:t/>
            </a:r>
          </a:p>
          <a:p xmlns:a="http://schemas.openxmlformats.org/drawingml/2006/main">
            <a:r>
              <a:t>DUUR: 30 SECONDEN</a:t>
            </a:r>
          </a:p>
          <a:p xmlns:a="http://schemas.openxmlformats.org/drawingml/2006/main">
            <a:r>
              <a:t/>
            </a:r>
          </a:p>
          <a:p xmlns:a="http://schemas.openxmlformats.org/drawingml/2006/main">
            <a:r>
              <a:t>VOICE-OVER:</a:t>
            </a:r>
          </a:p>
          <a:p xmlns:a="http://schemas.openxmlformats.org/drawingml/2006/main">
            <a:r>
              <a:t>Open de startpagina en kies Nieuwe quiz starten. Selecteer daarna het aantal vragen. Vijf vragen is geschikt voor een demonstratie, tien is aanbevolen voor een gewone activiteit en twintig is het aanbevolen maximum. Klik op Nieuwe quizsessie maken. Op dat moment ontstaat de unieke driecijferige code die alle schermen en briefjes bij deze quiz samenbrengt.</a:t>
            </a:r>
          </a:p>
          <a:p xmlns:a="http://schemas.openxmlformats.org/drawingml/2006/main">
            <a:r>
              <a:t/>
            </a:r>
          </a:p>
          <a:p xmlns:a="http://schemas.openxmlformats.org/drawingml/2006/main">
            <a:r>
              <a:t>CANVA-AANWIJZING:</a:t>
            </a:r>
          </a:p>
          <a:p xmlns:a="http://schemas.openxmlformats.org/drawingml/2006/main">
            <a:r>
              <a:t>Markeer de keuzelijst, daarna de aanbevolen keuzes en ten slotte Nieuwe quizsessie maken.</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quiz/docs/assets/handleiding/quizmaster-voorbereiden.jpg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5 — Maak thuis de definitieve sessie vóór het afdrukken</a:t>
            </a:r>
          </a:p>
          <a:p xmlns:a="http://schemas.openxmlformats.org/drawingml/2006/main">
            <a:r>
              <a:t/>
            </a:r>
          </a:p>
          <a:p xmlns:a="http://schemas.openxmlformats.org/drawingml/2006/main">
            <a:r>
              <a:t>DUUR: 50 SECONDEN</a:t>
            </a:r>
          </a:p>
          <a:p xmlns:a="http://schemas.openxmlformats.org/drawingml/2006/main">
            <a:r>
              <a:t/>
            </a:r>
          </a:p>
          <a:p xmlns:a="http://schemas.openxmlformats.org/drawingml/2006/main">
            <a:r>
              <a:t>VOICE-OVER:</a:t>
            </a:r>
          </a:p>
          <a:p xmlns:a="http://schemas.openxmlformats.org/drawingml/2006/main">
            <a:r>
              <a:t>Na het maken van de sessie verschijnt de quizcode. Deze stap mag gerust thuis gebeuren, bijvoorbeeld enkele dagen of de avond vooraf. Kies daarna Deelnemersbriefjes afdrukken, want de juiste code wordt automatisch op ieder exemplaar gezet. Gebruik in de zaal dezelfde laptop en dezelfde gewone browser waarmee u de sessie hebt gemaakt. Wis geen browsergegevens en maak daar niet opnieuw een sessie, want dan ontstaat een andere code die niet meer overeenkomt met de reeds afgedrukte briefjes. Open in de zaal gewoon opnieuw het quizmasterscherm en daarna het grote zaalscherm.</a:t>
            </a:r>
          </a:p>
          <a:p xmlns:a="http://schemas.openxmlformats.org/drawingml/2006/main">
            <a:r>
              <a:t/>
            </a:r>
          </a:p>
          <a:p xmlns:a="http://schemas.openxmlformats.org/drawingml/2006/main">
            <a:r>
              <a:t>CANVA-AANWIJZING:</a:t>
            </a:r>
          </a:p>
          <a:p xmlns:a="http://schemas.openxmlformats.org/drawingml/2006/main">
            <a:r>
              <a:t>Laat eerst de code oplichten, vervolgens Open groot zaalscherm en daarna Deelnemersbriefjes afdrukken.</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quiz/docs/assets/handleiding/quizmaster-wachtkamer.jpg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6 — Bereid de briefjes stap voor stap voor</a:t>
            </a:r>
          </a:p>
          <a:p xmlns:a="http://schemas.openxmlformats.org/drawingml/2006/main">
            <a:r>
              <a:t/>
            </a:r>
          </a:p>
          <a:p xmlns:a="http://schemas.openxmlformats.org/drawingml/2006/main">
            <a:r>
              <a:t>DUUR: 45 SECONDEN</a:t>
            </a:r>
          </a:p>
          <a:p xmlns:a="http://schemas.openxmlformats.org/drawingml/2006/main">
            <a:r>
              <a:t/>
            </a:r>
          </a:p>
          <a:p xmlns:a="http://schemas.openxmlformats.org/drawingml/2006/main">
            <a:r>
              <a:t>VOICE-OVER:</a:t>
            </a:r>
          </a:p>
          <a:p xmlns:a="http://schemas.openxmlformats.org/drawingml/2006/main">
            <a:r>
              <a:t>Op de afdrukpagina ziet u bovenaan de voorbereiding. Wilt u de wifi van de zaal aanbieden, vraag dan vooraf de juiste gegevens op en vul de wifinaam en het wachtwoord exact in. Het systeem maakt automatisch een wifi-QR-code. Is er geen zaalwifi, laat dan beide velden leeg. De wifi-keuze en wifi-QR-code verdwijnen dan volledig van het briefje en stap één vermeldt alleen mobiele data. Zo krijgen deelnemers geen onmogelijke of verwarrende keuze. Controleer daarna het voorbeeld en klik op Nu afdrukken.</a:t>
            </a:r>
          </a:p>
          <a:p xmlns:a="http://schemas.openxmlformats.org/drawingml/2006/main">
            <a:r>
              <a:t/>
            </a:r>
          </a:p>
          <a:p xmlns:a="http://schemas.openxmlformats.org/drawingml/2006/main">
            <a:r>
              <a:t>CANVA-AANWIJZING:</a:t>
            </a:r>
          </a:p>
          <a:p xmlns:a="http://schemas.openxmlformats.org/drawingml/2006/main">
            <a:r>
              <a:t>Zoom achtereenvolgens in op wifinaam, wachtwoord, quizcode, voorbeeldbriefje en Nu afdrukken.</a:t>
            </a:r>
          </a:p>
          <a:p xmlns:a="http://schemas.openxmlformats.org/drawingml/2006/main">
            <a:r>
              <a:t/>
            </a:r>
          </a:p>
          <a:p xmlns:a="http://schemas.openxmlformats.org/drawingml/2006/main">
            <a:r>
              <a:t>[Sources]</a:t>
            </a:r>
          </a:p>
          <a:p xmlns:a="http://schemas.openxmlformats.org/drawingml/2006/main">
            <a:r>
              <a:t>- Eigen projectafbeelding: C:/Users/fredd/Documents/Live quiz/video-handleiding/bronbeelden/briefjes-voorbereiden.png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7 — Gebruik vooraf de geschikte printer voor de hele oplage</a:t>
            </a:r>
          </a:p>
          <a:p xmlns:a="http://schemas.openxmlformats.org/drawingml/2006/main">
            <a:r>
              <a:t/>
            </a:r>
          </a:p>
          <a:p xmlns:a="http://schemas.openxmlformats.org/drawingml/2006/main">
            <a:r>
              <a:t>DUUR: 50 SECONDEN</a:t>
            </a:r>
          </a:p>
          <a:p xmlns:a="http://schemas.openxmlformats.org/drawingml/2006/main">
            <a:r>
              <a:t/>
            </a:r>
          </a:p>
          <a:p xmlns:a="http://schemas.openxmlformats.org/drawingml/2006/main">
            <a:r>
              <a:t>VOICE-OVER:</a:t>
            </a:r>
          </a:p>
          <a:p xmlns:a="http://schemas.openxmlformats.org/drawingml/2006/main">
            <a:r>
              <a:t>Maak thuis of op kantoor eerst één proefafdruk. Gebruik A4 in staande richting en laat de schaal op honderd procent of standaard staan. Controleer of beide QR-codes volledig scherp zijn en nergens worden afgesneden. Scan beide codes zelf met een gsm en vergelijk de drie cijfers met de quizcode op de laptop. Druk daarna met de grotere printer de volledige oplage af. Twee briefjes staan op één A4: voor zestig deelnemers zijn dus dertig vellen nodig, plus enkele reservevellen. Snijd de briefjes vooraf en neem ze in een map of bundel mee naar de zaal.</a:t>
            </a:r>
          </a:p>
          <a:p xmlns:a="http://schemas.openxmlformats.org/drawingml/2006/main">
            <a:r>
              <a:t/>
            </a:r>
          </a:p>
          <a:p xmlns:a="http://schemas.openxmlformats.org/drawingml/2006/main">
            <a:r>
              <a:t>CANVA-AANWIJZING:</a:t>
            </a:r>
          </a:p>
          <a:p xmlns:a="http://schemas.openxmlformats.org/drawingml/2006/main">
            <a:r>
              <a:t>Toon een vinkje bij formaat, QR-codes, quizcode, proefscan en reservebriefjes.</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quiz/docs/assets/handleiding/deelnemersbriefje.jpg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8 — Waarom iedere deelnemer een vooraf gedrukt briefje krijgt</a:t>
            </a:r>
          </a:p>
          <a:p xmlns:a="http://schemas.openxmlformats.org/drawingml/2006/main">
            <a:r>
              <a:t/>
            </a:r>
          </a:p>
          <a:p xmlns:a="http://schemas.openxmlformats.org/drawingml/2006/main">
            <a:r>
              <a:t>DUUR: 50 SECONDEN</a:t>
            </a:r>
          </a:p>
          <a:p xmlns:a="http://schemas.openxmlformats.org/drawingml/2006/main">
            <a:r>
              <a:t/>
            </a:r>
          </a:p>
          <a:p xmlns:a="http://schemas.openxmlformats.org/drawingml/2006/main">
            <a:r>
              <a:t>VOICE-OVER:</a:t>
            </a:r>
          </a:p>
          <a:p xmlns:a="http://schemas.openxmlformats.org/drawingml/2006/main">
            <a:r>
              <a:t>Het vooraf gedrukte briefje is bewust de vaste toegang tot de quiz. Deelnemers hoeven geen QR-code van een ver zaalscherm te scannen en de organisator hoeft tijdens het binnenkomen niet telkens dezelfde technische uitleg te herhalen. Iedereen heeft de stappen letterlijk in handen: eerst internet, daarna de quiz-QR-code, en bij problemen de link met de driecijferige code. Het briefje werkt dus als instructie, toegangsbewijs en reserveoplossing tegelijk. Het vermeldt ook dat deelname anoniem is en dat men hulp mag vragen. Dat geeft vooral onzekere of oudere deelnemers rust.</a:t>
            </a:r>
          </a:p>
          <a:p xmlns:a="http://schemas.openxmlformats.org/drawingml/2006/main">
            <a:r>
              <a:t/>
            </a:r>
          </a:p>
          <a:p xmlns:a="http://schemas.openxmlformats.org/drawingml/2006/main">
            <a:r>
              <a:t>CANVA-AANWIJZING:</a:t>
            </a:r>
          </a:p>
          <a:p xmlns:a="http://schemas.openxmlformats.org/drawingml/2006/main">
            <a:r>
              <a:t>Laat de onderdelen internet, quiz-QR, link, code, anonimiteit en hulp na elkaar oplichten.</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quiz/docs/assets/handleiding/deelnemersbriefje.jpg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9 — Plan verbinding maken als een apart onthaalmoment</a:t>
            </a:r>
          </a:p>
          <a:p xmlns:a="http://schemas.openxmlformats.org/drawingml/2006/main">
            <a:r>
              <a:t/>
            </a:r>
          </a:p>
          <a:p xmlns:a="http://schemas.openxmlformats.org/drawingml/2006/main">
            <a:r>
              <a:t>DUUR: 60 SECONDEN</a:t>
            </a:r>
          </a:p>
          <a:p xmlns:a="http://schemas.openxmlformats.org/drawingml/2006/main">
            <a:r>
              <a:t/>
            </a:r>
          </a:p>
          <a:p xmlns:a="http://schemas.openxmlformats.org/drawingml/2006/main">
            <a:r>
              <a:t>VOICE-OVER:</a:t>
            </a:r>
          </a:p>
          <a:p xmlns:a="http://schemas.openxmlformats.org/drawingml/2006/main">
            <a:r>
              <a:t>Verbinding maken zal waarschijnlijk het meeste oponthoud geven. Plan dit daarom als een afzonderlijk onthaalmoment en voorzie bij een grotere zaal ongeveer vijftien tot twintig minuten vóór de geplande quizstart. Leg de thuis afgedrukte briefjes bij de ingang klaar en geef één vaste instructie: zet eerst internet aan, scan daarna de quizcode en laat de pagina openstaan. Laat minstens één helper bij de ingang uitleg geven en één helper in de zaal rondlopen. Wie U bent verbonden ziet, hoeft niets meer te doen. Begin niet op het aangekondigde uur omdat u haast krijgt, maar pas wanneer de verbindingsteller overeenkomt met het aantal deelnemers dat wil meespelen.</a:t>
            </a:r>
          </a:p>
          <a:p xmlns:a="http://schemas.openxmlformats.org/drawingml/2006/main">
            <a:r>
              <a:t/>
            </a:r>
          </a:p>
          <a:p xmlns:a="http://schemas.openxmlformats.org/drawingml/2006/main">
            <a:r>
              <a:t>CANVA-AANWIJZING:</a:t>
            </a:r>
          </a:p>
          <a:p xmlns:a="http://schemas.openxmlformats.org/drawingml/2006/main">
            <a:r>
              <a:t>Toon één briefje per persoon, daarna de begeleider en eindig bij de teller verbonden deelnemers.</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quiz/docs/assets/handleiding/deelnemersbriefje.jpg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10 — Deelnemer stap één: zorg voor internet</a:t>
            </a:r>
          </a:p>
          <a:p xmlns:a="http://schemas.openxmlformats.org/drawingml/2006/main">
            <a:r>
              <a:t/>
            </a:r>
          </a:p>
          <a:p xmlns:a="http://schemas.openxmlformats.org/drawingml/2006/main">
            <a:r>
              <a:t>DUUR: 45 SECONDEN</a:t>
            </a:r>
          </a:p>
          <a:p xmlns:a="http://schemas.openxmlformats.org/drawingml/2006/main">
            <a:r>
              <a:t/>
            </a:r>
          </a:p>
          <a:p xmlns:a="http://schemas.openxmlformats.org/drawingml/2006/main">
            <a:r>
              <a:t>VOICE-OVER:</a:t>
            </a:r>
          </a:p>
          <a:p xmlns:a="http://schemas.openxmlformats.org/drawingml/2006/main">
            <a:r>
              <a:t>Kijk eerst wat werkelijk op het briefje staat. Zonder zaalwifi vermeldt stap één uitsluitend dat mobiele data moet worden aangezet. Is vooraf zaalwifi ingevuld, dan kan de deelnemer kiezen: de eigen mobiele data gebruiken of eerst de wifi-QR-code scannen en op Verbinden tikken. Lukt die QR-code niet, open dan Instellingen, kies Wifi, selecteer de vermelde naam en typ het wachtwoord precies over. Test eventueel kort of een gewone website opent. Pas daarna wordt de quiz geopend.</a:t>
            </a:r>
          </a:p>
          <a:p xmlns:a="http://schemas.openxmlformats.org/drawingml/2006/main">
            <a:r>
              <a:t/>
            </a:r>
          </a:p>
          <a:p xmlns:a="http://schemas.openxmlformats.org/drawingml/2006/main">
            <a:r>
              <a:t>CANVA-AANWIJZING:</a:t>
            </a:r>
          </a:p>
          <a:p xmlns:a="http://schemas.openxmlformats.org/drawingml/2006/main">
            <a:r>
              <a:t>Volg op het briefje stap één: mobiele data, wifi-QR, Verbinden en de handmatige wifi-instellingen.</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quiz/docs/assets/handleiding/deelnemersbriefje.jpg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11 — Deelnemer stap twee: open de quiz</a:t>
            </a:r>
          </a:p>
          <a:p xmlns:a="http://schemas.openxmlformats.org/drawingml/2006/main">
            <a:r>
              <a:t/>
            </a:r>
          </a:p>
          <a:p xmlns:a="http://schemas.openxmlformats.org/drawingml/2006/main">
            <a:r>
              <a:t>DUUR: 45 SECONDEN</a:t>
            </a:r>
          </a:p>
          <a:p xmlns:a="http://schemas.openxmlformats.org/drawingml/2006/main">
            <a:r>
              <a:t/>
            </a:r>
          </a:p>
          <a:p xmlns:a="http://schemas.openxmlformats.org/drawingml/2006/main">
            <a:r>
              <a:t>VOICE-OVER:</a:t>
            </a:r>
          </a:p>
          <a:p xmlns:a="http://schemas.openxmlformats.org/drawingml/2006/main">
            <a:r>
              <a:t>Scan nu de tweede QR-code van het briefje en tik op de internetlink die in beeld verschijnt. De quizpagina opent en de code is normaal al ingevuld. Werkt scannen niet, open dan Chrome, Safari, Samsung Internet of de browser in de Google-app. Typ de link rechtstreeks in de adresbalk, niet in het zoekvak van Google, en vul daarna de drie cijfers van het briefje in. Een naam of e-mailadres wordt nooit gevraagd.</a:t>
            </a:r>
          </a:p>
          <a:p xmlns:a="http://schemas.openxmlformats.org/drawingml/2006/main">
            <a:r>
              <a:t/>
            </a:r>
          </a:p>
          <a:p xmlns:a="http://schemas.openxmlformats.org/drawingml/2006/main">
            <a:r>
              <a:t>CANVA-AANWIJZING:</a:t>
            </a:r>
          </a:p>
          <a:p xmlns:a="http://schemas.openxmlformats.org/drawingml/2006/main">
            <a:r>
              <a:t>Zoom in op de tweede QR-code, daarna op de geschreven link en ten slotte op de driecijferige code.</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quiz/docs/assets/handleiding/deelnemersbriefje.jpg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12 — In de wachtkamer hoeft de deelnemer niets meer te doen</a:t>
            </a:r>
          </a:p>
          <a:p xmlns:a="http://schemas.openxmlformats.org/drawingml/2006/main">
            <a:r>
              <a:t/>
            </a:r>
          </a:p>
          <a:p xmlns:a="http://schemas.openxmlformats.org/drawingml/2006/main">
            <a:r>
              <a:t>DUUR: 25 SECONDEN</a:t>
            </a:r>
          </a:p>
          <a:p xmlns:a="http://schemas.openxmlformats.org/drawingml/2006/main">
            <a:r>
              <a:t/>
            </a:r>
          </a:p>
          <a:p xmlns:a="http://schemas.openxmlformats.org/drawingml/2006/main">
            <a:r>
              <a:t>VOICE-OVER:</a:t>
            </a:r>
          </a:p>
          <a:p xmlns:a="http://schemas.openxmlformats.org/drawingml/2006/main">
            <a:r>
              <a:t>Na een geslaagde verbinding verschijnt de Wachtkamer met de melding U bent verbonden. Vraag de deelnemer om deze pagina open te laten. Vernieuwen, opnieuw scannen of opnieuw aanmelden is niet nodig. Zodra de quizmaster start, verschijnt de eerste vraag automatisch op de gsm en op het grote zaalscherm.</a:t>
            </a:r>
          </a:p>
          <a:p xmlns:a="http://schemas.openxmlformats.org/drawingml/2006/main">
            <a:r>
              <a:t/>
            </a:r>
          </a:p>
          <a:p xmlns:a="http://schemas.openxmlformats.org/drawingml/2006/main">
            <a:r>
              <a:t>CANVA-AANWIJZING:</a:t>
            </a:r>
          </a:p>
          <a:p xmlns:a="http://schemas.openxmlformats.org/drawingml/2006/main">
            <a:r>
              <a:t>Zoom in op U bent verbonden en daarna op Laat deze pagina open.</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quiz/docs/assets/handleiding/deelnemer-wachtkamer.jpg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13 — Iedere deelnemer kiest één antwoord</a:t>
            </a:r>
          </a:p>
          <a:p xmlns:a="http://schemas.openxmlformats.org/drawingml/2006/main">
            <a:r>
              <a:t/>
            </a:r>
          </a:p>
          <a:p xmlns:a="http://schemas.openxmlformats.org/drawingml/2006/main">
            <a:r>
              <a:t>DUUR: 30 SECONDEN</a:t>
            </a:r>
          </a:p>
          <a:p xmlns:a="http://schemas.openxmlformats.org/drawingml/2006/main">
            <a:r>
              <a:t/>
            </a:r>
          </a:p>
          <a:p xmlns:a="http://schemas.openxmlformats.org/drawingml/2006/main">
            <a:r>
              <a:t>VOICE-OVER:</a:t>
            </a:r>
          </a:p>
          <a:p xmlns:a="http://schemas.openxmlformats.org/drawingml/2006/main">
            <a:r>
              <a:t>Op de gsm verschijnt één vraag met vier grote antwoordknoppen. Denkt iemand bijvoorbeeld dat B juist is, dan tikt die persoon één keer op B. Het antwoord wordt onmiddellijk en anoniem bewaard en er verschijnt een bevestiging. Per vraag wordt maar één antwoord aanvaard. Daardoor kan teruggaan of dubbel tikken de eerder bewaarde keuze niet veranderen.</a:t>
            </a:r>
          </a:p>
          <a:p xmlns:a="http://schemas.openxmlformats.org/drawingml/2006/main">
            <a:r>
              <a:t/>
            </a:r>
          </a:p>
          <a:p xmlns:a="http://schemas.openxmlformats.org/drawingml/2006/main">
            <a:r>
              <a:t>CANVA-AANWIJZING:</a:t>
            </a:r>
          </a:p>
          <a:p xmlns:a="http://schemas.openxmlformats.org/drawingml/2006/main">
            <a:r>
              <a:t>Laat de vraag verschijnen, markeer voorbeeldknop B en toon daarna de bevestiging.</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quiz/docs/assets/handleiding/deelnemer-vraag.jpg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14 — De quizmaster gebruikt de antwoordtellers</a:t>
            </a:r>
          </a:p>
          <a:p xmlns:a="http://schemas.openxmlformats.org/drawingml/2006/main">
            <a:r>
              <a:t/>
            </a:r>
          </a:p>
          <a:p xmlns:a="http://schemas.openxmlformats.org/drawingml/2006/main">
            <a:r>
              <a:t>DUUR: 40 SECONDEN</a:t>
            </a:r>
          </a:p>
          <a:p xmlns:a="http://schemas.openxmlformats.org/drawingml/2006/main">
            <a:r>
              <a:t/>
            </a:r>
          </a:p>
          <a:p xmlns:a="http://schemas.openxmlformats.org/drawingml/2006/main">
            <a:r>
              <a:t>VOICE-OVER:</a:t>
            </a:r>
          </a:p>
          <a:p xmlns:a="http://schemas.openxmlformats.org/drawingml/2006/main">
            <a:r>
              <a:t>Op de laptop ziet de quizmaster dezelfde vraag met extra bediening. Kijk eerst naar het aantal verbonden deelnemers en daarna naar het aantal ontvangen antwoorden. Zijn er dertig deelnemers verbonden maar pas achtentwintig antwoorden binnen, wacht dan nog even en vraag of iemand hulp nodig heeft. Bij dertig antwoorden is iedereen klaar. Sluit dan de antwoorden en toon pas daarna bewust het juiste antwoord aan de zaal.</a:t>
            </a:r>
          </a:p>
          <a:p xmlns:a="http://schemas.openxmlformats.org/drawingml/2006/main">
            <a:r>
              <a:t/>
            </a:r>
          </a:p>
          <a:p xmlns:a="http://schemas.openxmlformats.org/drawingml/2006/main">
            <a:r>
              <a:t>CANVA-AANWIJZING:</a:t>
            </a:r>
          </a:p>
          <a:p xmlns:a="http://schemas.openxmlformats.org/drawingml/2006/main">
            <a:r>
              <a:t>Markeer de twee tellers, daarna Sluit antwoorden en ten slotte Toon juiste antwoord.</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quiz/docs/assets/handleiding/quizmaster-vraag-open.jpg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15 — Toon en bespreek de juiste oplossing</a:t>
            </a:r>
          </a:p>
          <a:p xmlns:a="http://schemas.openxmlformats.org/drawingml/2006/main">
            <a:r>
              <a:t/>
            </a:r>
          </a:p>
          <a:p xmlns:a="http://schemas.openxmlformats.org/drawingml/2006/main">
            <a:r>
              <a:t>DUUR: 35 SECONDEN</a:t>
            </a:r>
          </a:p>
          <a:p xmlns:a="http://schemas.openxmlformats.org/drawingml/2006/main">
            <a:r>
              <a:t/>
            </a:r>
          </a:p>
          <a:p xmlns:a="http://schemas.openxmlformats.org/drawingml/2006/main">
            <a:r>
              <a:t>VOICE-OVER:</a:t>
            </a:r>
          </a:p>
          <a:p xmlns:a="http://schemas.openxmlformats.org/drawingml/2006/main">
            <a:r>
              <a:t>Na Toon juiste antwoord ziet de zaal de oplossing en de verdeling over A, B, C en D. Bij dertig deelnemers kan bijvoorbeeld tweeëntwintig bij B, vijf bij A, twee bij C en één bij D staan. Geef een korte toelichting, beantwoord eventueel een vraag uit de zaal en kies daarna Volgende vraag.</a:t>
            </a:r>
          </a:p>
          <a:p xmlns:a="http://schemas.openxmlformats.org/drawingml/2006/main">
            <a:r>
              <a:t/>
            </a:r>
          </a:p>
          <a:p xmlns:a="http://schemas.openxmlformats.org/drawingml/2006/main">
            <a:r>
              <a:t>CANVA-AANWIJZING:</a:t>
            </a:r>
          </a:p>
          <a:p xmlns:a="http://schemas.openxmlformats.org/drawingml/2006/main">
            <a:r>
              <a:t>Laat de juiste oplossing oplichten, toon de verdeling en eindig bij Volgende vraag.</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quiz/docs/assets/handleiding/quizmaster-oplossing.jpg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16 — Persoonlijke score en gezamenlijke eindanalyse</a:t>
            </a:r>
          </a:p>
          <a:p xmlns:a="http://schemas.openxmlformats.org/drawingml/2006/main">
            <a:r>
              <a:t/>
            </a:r>
          </a:p>
          <a:p xmlns:a="http://schemas.openxmlformats.org/drawingml/2006/main">
            <a:r>
              <a:t>DUUR: 40 SECONDEN</a:t>
            </a:r>
          </a:p>
          <a:p xmlns:a="http://schemas.openxmlformats.org/drawingml/2006/main">
            <a:r>
              <a:t/>
            </a:r>
          </a:p>
          <a:p xmlns:a="http://schemas.openxmlformats.org/drawingml/2006/main">
            <a:r>
              <a:t>VOICE-OVER:</a:t>
            </a:r>
          </a:p>
          <a:p xmlns:a="http://schemas.openxmlformats.org/drawingml/2006/main">
            <a:r>
              <a:t>Na de laatste vraag ziet iedere deelnemer alleen op de eigen gsm de persoonlijke score en de eigen fout beantwoorde vragen. Er is geen rangschikking. Op het grote zaalscherm toont Eindanalyse de drie vragen die de groep het vaakst fout beantwoordde, telkens met het juiste antwoord. Gebruik dit als laatste leermoment. Persoonlijke scores, namen en e-mailadressen verschijnen nooit op het zaalscherm.</a:t>
            </a:r>
          </a:p>
          <a:p xmlns:a="http://schemas.openxmlformats.org/drawingml/2006/main">
            <a:r>
              <a:t/>
            </a:r>
          </a:p>
          <a:p xmlns:a="http://schemas.openxmlformats.org/drawingml/2006/main">
            <a:r>
              <a:t>CANVA-AANWIJZING:</a:t>
            </a:r>
          </a:p>
          <a:p xmlns:a="http://schemas.openxmlformats.org/drawingml/2006/main">
            <a:r>
              <a:t>Toon eerst de persoonlijke score op de gsm en daarna de gezamenlijke top drie op het zaalscherm.</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quiz/docs/assets/handleiding/deelnemer-resultaat.jpg</a:t>
            </a:r>
          </a:p>
          <a:p xmlns:a="http://schemas.openxmlformats.org/drawingml/2006/main">
            <a:r>
              <a:t>- Eigen projectafbeelding: C:/Users/fredd/Documents/Live quiz/docs/assets/handleiding/zaalscherm-eindanalyse.jpg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 17 — Dezelfde activiteit of een volledig nieuwe activiteit</a:t>
            </a:r>
          </a:p>
          <a:p xmlns:a="http://schemas.openxmlformats.org/drawingml/2006/main">
            <a:r>
              <a:t/>
            </a:r>
          </a:p>
          <a:p xmlns:a="http://schemas.openxmlformats.org/drawingml/2006/main">
            <a:r>
              <a:t>DUUR: 40 SECONDEN</a:t>
            </a:r>
          </a:p>
          <a:p xmlns:a="http://schemas.openxmlformats.org/drawingml/2006/main">
            <a:r>
              <a:t/>
            </a:r>
          </a:p>
          <a:p xmlns:a="http://schemas.openxmlformats.org/drawingml/2006/main">
            <a:r>
              <a:t>VOICE-OVER:</a:t>
            </a:r>
          </a:p>
          <a:p xmlns:a="http://schemas.openxmlformats.org/drawingml/2006/main">
            <a:r>
              <a:t>De quizmaster kan na afloop de groepsanalyse bekijken of binnen dezelfde activiteit Nieuwe sessie voorbereiden kiezen. De gsm’s en het zaalscherm volgen automatisch wanneer de deelnemers verbonden blijven; daarvoor hoeft u niet opnieuw uit te delen. Voor een volledig nieuwe activiteit op een andere dag maakt u vooraf thuis een nieuwe definitieve sessie en drukt u de bijbehorende briefjes af. Bewaar de zaalgegevens, neem reserves mee en oefen vóór de eerste echte zaalquiz eenmaal met vijf vragen en enkele bestuursleden.</a:t>
            </a:r>
          </a:p>
          <a:p xmlns:a="http://schemas.openxmlformats.org/drawingml/2006/main">
            <a:r>
              <a:t/>
            </a:r>
          </a:p>
          <a:p xmlns:a="http://schemas.openxmlformats.org/drawingml/2006/main">
            <a:r>
              <a:t>CANVA-AANWIJZING:</a:t>
            </a:r>
          </a:p>
          <a:p xmlns:a="http://schemas.openxmlformats.org/drawingml/2006/main">
            <a:r>
              <a:t>Toon Nieuwe sessie voorbereiden, daarna nieuwe briefjes en eindig met de korte oefensessie.</a:t>
            </a:r>
          </a:p>
          <a:p xmlns:a="http://schemas.openxmlformats.org/drawingml/2006/main">
            <a:r>
              <a:t/>
            </a:r>
          </a:p>
          <a:p xmlns:a="http://schemas.openxmlformats.org/drawingml/2006/main">
            <a:r>
              <a:t>[Sources]</a:t>
            </a:r>
          </a:p>
          <a:p xmlns:a="http://schemas.openxmlformats.org/drawingml/2006/main">
            <a:r>
              <a:t>- Eigen projectafbeelding: C:/Users/fredd/Documents/Live quiz/docs/assets/handleiding/quizmaster-eindanalyse.jpg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4334bf46ae4d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47fb0c1b2346cc" /><Relationship Type="http://schemas.openxmlformats.org/officeDocument/2006/relationships/slideLayout" Target="/ppt/slideLayouts/slideLayout1.xml" Id="R956d59fcdbe445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6d59fcdbe445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25279963c24ab6" /><Relationship Type="http://schemas.openxmlformats.org/officeDocument/2006/relationships/image" Target="/ppt/media/image.png" Id="R385d770c8fc1496a" /><Relationship Type="http://schemas.openxmlformats.org/officeDocument/2006/relationships/notesSlide" Target="/ppt/notesSlides/notesSlide1.xml" Id="R0391f484a0e64e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2b654d37d749bf" /><Relationship Type="http://schemas.openxmlformats.org/officeDocument/2006/relationships/image" Target="/ppt/media/image.jpeg" Id="R0af7e2a8a860442e" /><Relationship Type="http://schemas.openxmlformats.org/officeDocument/2006/relationships/notesSlide" Target="/ppt/notesSlides/notesSlide2.xml" Id="Rda7359db6cfe41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cd30aeb1074ffe" /><Relationship Type="http://schemas.openxmlformats.org/officeDocument/2006/relationships/image" Target="/ppt/media/image2.jpeg" Id="R8669fe744f8b46a0" /><Relationship Type="http://schemas.openxmlformats.org/officeDocument/2006/relationships/notesSlide" Target="/ppt/notesSlides/notesSlide3.xml" Id="Rc60aa80b257c4f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8a5155da6f4d12" /><Relationship Type="http://schemas.openxmlformats.org/officeDocument/2006/relationships/image" Target="/ppt/media/image3.jpeg" Id="R02f765dbaf0244c1" /><Relationship Type="http://schemas.openxmlformats.org/officeDocument/2006/relationships/notesSlide" Target="/ppt/notesSlides/notesSlide4.xml" Id="R194971e4d0e747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a91d7ea7b14723" /><Relationship Type="http://schemas.openxmlformats.org/officeDocument/2006/relationships/image" Target="/ppt/media/image4.jpeg" Id="R7f4a25d4e6ad4266" /><Relationship Type="http://schemas.openxmlformats.org/officeDocument/2006/relationships/notesSlide" Target="/ppt/notesSlides/notesSlide5.xml" Id="Rdf309664ce0849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b39a88d2404f7f" /><Relationship Type="http://schemas.openxmlformats.org/officeDocument/2006/relationships/image" Target="/ppt/media/image5.jpeg" Id="R8f3c2127261f4f14" /><Relationship Type="http://schemas.openxmlformats.org/officeDocument/2006/relationships/notesSlide" Target="/ppt/notesSlides/notesSlide6.xml" Id="R811344a6dd3641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28e5f159304e0b" /><Relationship Type="http://schemas.openxmlformats.org/officeDocument/2006/relationships/image" Target="/ppt/media/image6.jpeg" Id="R2f05dd28594c4cb8" /><Relationship Type="http://schemas.openxmlformats.org/officeDocument/2006/relationships/notesSlide" Target="/ppt/notesSlides/notesSlide7.xml" Id="R65faa369150146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87d9b6375a4f5c" /><Relationship Type="http://schemas.openxmlformats.org/officeDocument/2006/relationships/image" Target="/ppt/media/image7.jpeg" Id="Rd2d7c3da82294c70" /><Relationship Type="http://schemas.openxmlformats.org/officeDocument/2006/relationships/notesSlide" Target="/ppt/notesSlides/notesSlide8.xml" Id="R5c7be750eb6842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2a22f8c1914b91" /><Relationship Type="http://schemas.openxmlformats.org/officeDocument/2006/relationships/image" Target="/ppt/media/image8.jpeg" Id="Rea49e0bc55d84ca8" /><Relationship Type="http://schemas.openxmlformats.org/officeDocument/2006/relationships/notesSlide" Target="/ppt/notesSlides/notesSlide9.xml" Id="Rf37c940ef03f44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270171918e47b4" /><Relationship Type="http://schemas.openxmlformats.org/officeDocument/2006/relationships/image" Target="/ppt/media/image9.jpeg" Id="R928d912a4dc24b1c" /><Relationship Type="http://schemas.openxmlformats.org/officeDocument/2006/relationships/notesSlide" Target="/ppt/notesSlides/notesSlide10.xml" Id="R9fe3c172e2f84e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97fc4db33c4669" /><Relationship Type="http://schemas.openxmlformats.org/officeDocument/2006/relationships/image" Target="/ppt/media/image10.jpeg" Id="R247a9cb7b5784943" /><Relationship Type="http://schemas.openxmlformats.org/officeDocument/2006/relationships/notesSlide" Target="/ppt/notesSlides/notesSlide11.xml" Id="Rfe7faa322ef244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daa3f83a854a9c" /><Relationship Type="http://schemas.openxmlformats.org/officeDocument/2006/relationships/image" Target="/ppt/media/image11.jpeg" Id="Rbf04edfd043b4fe5" /><Relationship Type="http://schemas.openxmlformats.org/officeDocument/2006/relationships/notesSlide" Target="/ppt/notesSlides/notesSlide12.xml" Id="R673c80d422a243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a5ffe682bd4c2e" /><Relationship Type="http://schemas.openxmlformats.org/officeDocument/2006/relationships/image" Target="/ppt/media/image12.jpeg" Id="R6fc368bf259e4cd4" /><Relationship Type="http://schemas.openxmlformats.org/officeDocument/2006/relationships/notesSlide" Target="/ppt/notesSlides/notesSlide13.xml" Id="R2b59f7a411744d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d50b07492f46fb" /><Relationship Type="http://schemas.openxmlformats.org/officeDocument/2006/relationships/image" Target="/ppt/media/image13.jpeg" Id="R71f7e1f51a284a40" /><Relationship Type="http://schemas.openxmlformats.org/officeDocument/2006/relationships/notesSlide" Target="/ppt/notesSlides/notesSlide14.xml" Id="Rd9e60fbe99d543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e8c3131d8f54621" /><Relationship Type="http://schemas.openxmlformats.org/officeDocument/2006/relationships/image" Target="/ppt/media/image14.jpeg" Id="R35d7980dbbcb4659" /><Relationship Type="http://schemas.openxmlformats.org/officeDocument/2006/relationships/notesSlide" Target="/ppt/notesSlides/notesSlide15.xml" Id="R8d88b47bd7bc4b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91554bdc3ee4fdd" /><Relationship Type="http://schemas.openxmlformats.org/officeDocument/2006/relationships/image" Target="/ppt/media/image15.jpeg" Id="R365c9931bb304516" /><Relationship Type="http://schemas.openxmlformats.org/officeDocument/2006/relationships/image" Target="/ppt/media/image16.jpeg" Id="Rbbe5a6234cbb4f9b" /><Relationship Type="http://schemas.openxmlformats.org/officeDocument/2006/relationships/notesSlide" Target="/ppt/notesSlides/notesSlide16.xml" Id="R0a835c8e881549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e84d080c34f4ec7" /><Relationship Type="http://schemas.openxmlformats.org/officeDocument/2006/relationships/image" Target="/ppt/media/image17.jpeg" Id="R1912c379e8b04d94" /><Relationship Type="http://schemas.openxmlformats.org/officeDocument/2006/relationships/notesSlide" Target="/ppt/notesSlides/notesSlide17.xml" Id="R74c5d96073f74d2c" /></Relationships>
</file>

<file path=ppt/slides/slide1.xml><?xml version="1.0" encoding="utf-8"?>
<p:sld xmlns:p="http://schemas.openxmlformats.org/presentationml/2006/main">
  <p:cSld>
    <p:bg>
      <p:bgPr>
        <a:solidFill xmlns:a="http://schemas.openxmlformats.org/drawingml/2006/main">
          <a:srgbClr val="075678"/>
        </a:solidFill>
      </p:bgPr>
    </p:bg>
    <p:spTree>
      <p:nvGrpSpPr>
        <p:cNvPr id="1" name=""/>
        <p:cNvGrpSpPr/>
        <p:nvPr/>
      </p:nvGrpSpPr>
      <p:grpSpPr>
        <a:xfrm xmlns:a="http://schemas.openxmlformats.org/drawingml/2006/main"/>
      </p:grpSpPr>
      <p:sp>
        <p:nvSpPr>
          <p:cNvPr id="10" name="title-accent">
            <a:extLst xmlns:a="http://schemas.openxmlformats.org/drawingml/2006/main">
              <a:ext uri="{FF2B5EF4-FFF2-40B4-BE49-F238E27FC236}">
                <a16:creationId xmlns:a16="http://schemas.microsoft.com/office/drawing/2014/main" id="{9356D2BB-276F-4BED-88E7-59688D344FD7}"/>
              </a:ext>
            </a:extLst>
          </p:cNvPr>
          <p:cNvSpPr>
            <a:spLocks xmlns:a="http://schemas.openxmlformats.org/drawingml/2006/main" noGrp="1"/>
          </p:cNvSpPr>
          <p:nvPr/>
        </p:nvSpPr>
        <p:spPr>
          <a:xfrm xmlns:a="http://schemas.openxmlformats.org/drawingml/2006/main">
            <a:off x="10572750" y="0"/>
            <a:ext cx="1619250" cy="685800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2" name="logo-surface">
            <a:extLst xmlns:a="http://schemas.openxmlformats.org/drawingml/2006/main">
              <a:ext uri="{FF2B5EF4-FFF2-40B4-BE49-F238E27FC236}">
                <a16:creationId xmlns:a16="http://schemas.microsoft.com/office/drawing/2014/main" id="{BF04C547-7866-4606-BADB-FC8A9D7143E7}"/>
              </a:ext>
            </a:extLst>
          </p:cNvPr>
          <p:cNvSpPr>
            <a:spLocks xmlns:a="http://schemas.openxmlformats.org/drawingml/2006/main" noGrp="1"/>
          </p:cNvSpPr>
          <p:nvPr/>
        </p:nvSpPr>
        <p:spPr>
          <a:xfrm xmlns:a="http://schemas.openxmlformats.org/drawingml/2006/main">
            <a:off x="685800" y="609600"/>
            <a:ext cx="10668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85d770c8fc1496a"/>
          <a:stretch xmlns:a="http://schemas.openxmlformats.org/drawingml/2006/main"/>
        </p:blipFill>
        <p:spPr>
          <a:xfrm xmlns:a="http://schemas.openxmlformats.org/drawingml/2006/main">
            <a:off x="819150" y="742950"/>
            <a:ext cx="800100" cy="800100"/>
          </a:xfrm>
          <a:prstGeom xmlns:a="http://schemas.openxmlformats.org/drawingml/2006/main" prst="rect">
            <a:avLst/>
          </a:prstGeom>
        </p:spPr>
      </p:pic>
      <p:sp>
        <p:nvSpPr>
          <p:cNvPr id="4" name="title-kicker">
            <a:extLst xmlns:a="http://schemas.openxmlformats.org/drawingml/2006/main">
              <a:ext uri="{FF2B5EF4-FFF2-40B4-BE49-F238E27FC236}">
                <a16:creationId xmlns:a16="http://schemas.microsoft.com/office/drawing/2014/main" id="{65C26E31-C094-4979-879A-C06CC3B70E3A}"/>
              </a:ext>
            </a:extLst>
          </p:cNvPr>
          <p:cNvSpPr>
            <a:spLocks xmlns:a="http://schemas.openxmlformats.org/drawingml/2006/main" noGrp="1"/>
          </p:cNvSpPr>
          <p:nvPr/>
        </p:nvSpPr>
        <p:spPr>
          <a:xfrm xmlns:a="http://schemas.openxmlformats.org/drawingml/2006/main">
            <a:off x="685800" y="21907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350" b="1">
                <a:solidFill>
                  <a:srgbClr val="BFE8F2"/>
                </a:solidFill>
              </a:defRPr>
            </a:pPr>
            <a:r>
              <a:rPr sz="1350" b="1">
                <a:solidFill>
                  <a:srgbClr val="BFE8F2"/>
                </a:solidFill>
              </a:rPr>
              <a:t>VIDEOHANDLEIDING VOOR ORGANISATOREN</a:t>
            </a:r>
          </a:p>
        </p:txBody>
      </p:sp>
      <p:sp>
        <p:nvSpPr>
          <p:cNvPr id="5" name="deck-title">
            <a:extLst xmlns:a="http://schemas.openxmlformats.org/drawingml/2006/main">
              <a:ext uri="{FF2B5EF4-FFF2-40B4-BE49-F238E27FC236}">
                <a16:creationId xmlns:a16="http://schemas.microsoft.com/office/drawing/2014/main" id="{EAEDB489-DC5D-4CF6-8865-A5791FF78240}"/>
              </a:ext>
            </a:extLst>
          </p:cNvPr>
          <p:cNvSpPr>
            <a:spLocks xmlns:a="http://schemas.openxmlformats.org/drawingml/2006/main" noGrp="1"/>
          </p:cNvSpPr>
          <p:nvPr/>
        </p:nvSpPr>
        <p:spPr>
          <a:xfrm xmlns:a="http://schemas.openxmlformats.org/drawingml/2006/main">
            <a:off x="685800" y="264795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4050" b="1">
                <a:solidFill>
                  <a:srgbClr val="FFFFFF"/>
                </a:solidFill>
              </a:defRPr>
            </a:pPr>
            <a:r>
              <a:rPr sz="4050" b="1">
                <a:solidFill>
                  <a:srgbClr val="FFFFFF"/>
                </a:solidFill>
              </a:rPr>
              <a:t>Live Diabetes Quiz</a:t>
            </a:r>
          </a:p>
        </p:txBody>
      </p:sp>
      <p:sp>
        <p:nvSpPr>
          <p:cNvPr id="6" name="deck-subtitle">
            <a:extLst xmlns:a="http://schemas.openxmlformats.org/drawingml/2006/main">
              <a:ext uri="{FF2B5EF4-FFF2-40B4-BE49-F238E27FC236}">
                <a16:creationId xmlns:a16="http://schemas.microsoft.com/office/drawing/2014/main" id="{491EEACE-916A-4776-8E24-281FF587071C}"/>
              </a:ext>
            </a:extLst>
          </p:cNvPr>
          <p:cNvSpPr>
            <a:spLocks xmlns:a="http://schemas.openxmlformats.org/drawingml/2006/main" noGrp="1"/>
          </p:cNvSpPr>
          <p:nvPr/>
        </p:nvSpPr>
        <p:spPr>
          <a:xfrm xmlns:a="http://schemas.openxmlformats.org/drawingml/2006/main">
            <a:off x="685800" y="3638550"/>
            <a:ext cx="885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950">
                <a:solidFill>
                  <a:srgbClr val="D9EEF4"/>
                </a:solidFill>
              </a:defRPr>
            </a:pPr>
            <a:r>
              <a:rPr sz="1950">
                <a:solidFill>
                  <a:srgbClr val="D9EEF4"/>
                </a:solidFill>
              </a:rPr>
              <a:t>Van zaalvoorbereiding en deelnemersbriefjes tot eindanalyse</a:t>
            </a:r>
          </a:p>
        </p:txBody>
      </p:sp>
      <p:sp>
        <p:nvSpPr>
          <p:cNvPr id="7" name="title-takeaway">
            <a:extLst xmlns:a="http://schemas.openxmlformats.org/drawingml/2006/main">
              <a:ext uri="{FF2B5EF4-FFF2-40B4-BE49-F238E27FC236}">
                <a16:creationId xmlns:a16="http://schemas.microsoft.com/office/drawing/2014/main" id="{D126F0ED-EC7D-42FE-88C9-DBD8EB1D24CE}"/>
              </a:ext>
            </a:extLst>
          </p:cNvPr>
          <p:cNvSpPr>
            <a:spLocks xmlns:a="http://schemas.openxmlformats.org/drawingml/2006/main" noGrp="1"/>
          </p:cNvSpPr>
          <p:nvPr/>
        </p:nvSpPr>
        <p:spPr>
          <a:xfrm xmlns:a="http://schemas.openxmlformats.org/drawingml/2006/main">
            <a:off x="685800" y="4953000"/>
            <a:ext cx="8953500" cy="838200"/>
          </a:xfrm>
          <a:prstGeom xmlns:a="http://schemas.openxmlformats.org/drawingml/2006/main" prst="roundRect">
            <a:avLst>
              <a:gd name="adj" fmla="val 9091"/>
            </a:avLst>
          </a:prstGeom>
          <a:solidFill xmlns:a="http://schemas.openxmlformats.org/drawingml/2006/main">
            <a:srgbClr val="0D6689"/>
          </a:solidFill>
          <a:ln xmlns:a="http://schemas.openxmlformats.org/drawingml/2006/main" w="9525">
            <a:solidFill>
              <a:srgbClr val="4AA8C1"/>
            </a:solidFill>
            <a:prstDash val="solid"/>
          </a:ln>
        </p:spPr>
      </p:sp>
      <p:sp>
        <p:nvSpPr>
          <p:cNvPr id="8" name="title-takeaway-text">
            <a:extLst xmlns:a="http://schemas.openxmlformats.org/drawingml/2006/main">
              <a:ext uri="{FF2B5EF4-FFF2-40B4-BE49-F238E27FC236}">
                <a16:creationId xmlns:a16="http://schemas.microsoft.com/office/drawing/2014/main" id="{F95E505A-56FB-4CB1-AB39-184B42476BDF}"/>
              </a:ext>
            </a:extLst>
          </p:cNvPr>
          <p:cNvSpPr>
            <a:spLocks xmlns:a="http://schemas.openxmlformats.org/drawingml/2006/main" noGrp="1"/>
          </p:cNvSpPr>
          <p:nvPr/>
        </p:nvSpPr>
        <p:spPr>
          <a:xfrm xmlns:a="http://schemas.openxmlformats.org/drawingml/2006/main">
            <a:off x="971550" y="514350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75" b="1">
                <a:solidFill>
                  <a:srgbClr val="FFFFFF"/>
                </a:solidFill>
              </a:defRPr>
            </a:pPr>
            <a:r>
              <a:rPr sz="1575" b="1">
                <a:solidFill>
                  <a:srgbClr val="FFFFFF"/>
                </a:solidFill>
              </a:rPr>
              <a:t>Begrijpen waarom elke stap nodig is — en precies weten hoe u ze uitvoert.</a:t>
            </a:r>
          </a:p>
        </p:txBody>
      </p:sp>
      <p:sp>
        <p:nvSpPr>
          <p:cNvPr id="9" name="organization">
            <a:extLst xmlns:a="http://schemas.openxmlformats.org/drawingml/2006/main">
              <a:ext uri="{FF2B5EF4-FFF2-40B4-BE49-F238E27FC236}">
                <a16:creationId xmlns:a16="http://schemas.microsoft.com/office/drawing/2014/main" id="{1F0C51CF-32F1-49C4-B137-D1B6DAF71992}"/>
              </a:ext>
            </a:extLst>
          </p:cNvPr>
          <p:cNvSpPr>
            <a:spLocks xmlns:a="http://schemas.openxmlformats.org/drawingml/2006/main" noGrp="1"/>
          </p:cNvSpPr>
          <p:nvPr/>
        </p:nvSpPr>
        <p:spPr>
          <a:xfrm xmlns:a="http://schemas.openxmlformats.org/drawingml/2006/main">
            <a:off x="685800" y="628650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50">
                <a:solidFill>
                  <a:srgbClr val="BFE8F2"/>
                </a:solidFill>
              </a:defRPr>
            </a:pPr>
            <a:r>
              <a:rPr sz="1050">
                <a:solidFill>
                  <a:srgbClr val="BFE8F2"/>
                </a:solidFill>
              </a:rPr>
              <a:t>Diabetes Liga Midden-Limburg</a:t>
            </a:r>
          </a:p>
        </p:txBody>
      </p:sp>
    </p:spTree>
    <p:extLst>
      <p:ext uri="{BB962C8B-B14F-4D97-AF65-F5344CB8AC3E}">
        <p14:creationId xmlns:p14="http://schemas.microsoft.com/office/powerpoint/2010/main" val="228363619"/>
      </p:ext>
    </p:extLst>
  </p:cSld>
</p:sld>
</file>

<file path=ppt/slides/slide2.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2">
            <a:extLst xmlns:a="http://schemas.openxmlformats.org/drawingml/2006/main">
              <a:ext uri="{FF2B5EF4-FFF2-40B4-BE49-F238E27FC236}">
                <a16:creationId xmlns:a16="http://schemas.microsoft.com/office/drawing/2014/main" id="{28B25F0A-A237-4485-813D-7C0B8AD9181E}"/>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EERST HET TOTAALBEELD</a:t>
            </a:r>
          </a:p>
        </p:txBody>
      </p:sp>
      <p:sp>
        <p:nvSpPr>
          <p:cNvPr id="2" name="title-2">
            <a:extLst xmlns:a="http://schemas.openxmlformats.org/drawingml/2006/main">
              <a:ext uri="{FF2B5EF4-FFF2-40B4-BE49-F238E27FC236}">
                <a16:creationId xmlns:a16="http://schemas.microsoft.com/office/drawing/2014/main" id="{E6287B08-464C-406E-AAD9-585BD9510D49}"/>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Drie schermen met elk een eigen taak</a:t>
            </a:r>
          </a:p>
        </p:txBody>
      </p:sp>
      <p:sp>
        <p:nvSpPr>
          <p:cNvPr id="3" name="accent-2">
            <a:extLst xmlns:a="http://schemas.openxmlformats.org/drawingml/2006/main">
              <a:ext uri="{FF2B5EF4-FFF2-40B4-BE49-F238E27FC236}">
                <a16:creationId xmlns:a16="http://schemas.microsoft.com/office/drawing/2014/main" id="{9D14C59D-6ABC-4474-BC49-61D616FC522B}"/>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2">
            <a:extLst xmlns:a="http://schemas.openxmlformats.org/drawingml/2006/main">
              <a:ext uri="{FF2B5EF4-FFF2-40B4-BE49-F238E27FC236}">
                <a16:creationId xmlns:a16="http://schemas.microsoft.com/office/drawing/2014/main" id="{3760388C-D9CA-4F39-912C-771F49B2FB14}"/>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De quizmaster bedient op de laptop</a:t>
            </a:r>
          </a:p>
          <a:p xmlns:a="http://schemas.openxmlformats.org/drawingml/2006/main">
            <a:pPr>
              <a:buNone/>
              <a:defRPr sz="1575">
                <a:solidFill>
                  <a:srgbClr val="17212D"/>
                </a:solidFill>
              </a:defRPr>
            </a:pPr>
            <a:r>
              <a:rPr sz="1575">
                <a:solidFill>
                  <a:srgbClr val="17212D"/>
                </a:solidFill>
              </a:rPr>
              <a:t>• De deelnemer antwoordt anoniem op de gsm</a:t>
            </a:r>
          </a:p>
          <a:p xmlns:a="http://schemas.openxmlformats.org/drawingml/2006/main">
            <a:pPr>
              <a:buNone/>
              <a:defRPr sz="1575">
                <a:solidFill>
                  <a:srgbClr val="17212D"/>
                </a:solidFill>
              </a:defRPr>
            </a:pPr>
            <a:r>
              <a:rPr sz="1575">
                <a:solidFill>
                  <a:srgbClr val="17212D"/>
                </a:solidFill>
              </a:rPr>
              <a:t>• De zaal volgt mee op het grote scherm</a:t>
            </a:r>
          </a:p>
        </p:txBody>
      </p:sp>
      <p:sp>
        <p:nvSpPr>
          <p:cNvPr id="5" name="takeaway-box-2">
            <a:extLst xmlns:a="http://schemas.openxmlformats.org/drawingml/2006/main">
              <a:ext uri="{FF2B5EF4-FFF2-40B4-BE49-F238E27FC236}">
                <a16:creationId xmlns:a16="http://schemas.microsoft.com/office/drawing/2014/main" id="{2C96831B-38CF-4D61-A4DD-1E4A006BBD16}"/>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2">
            <a:extLst xmlns:a="http://schemas.openxmlformats.org/drawingml/2006/main">
              <a:ext uri="{FF2B5EF4-FFF2-40B4-BE49-F238E27FC236}">
                <a16:creationId xmlns:a16="http://schemas.microsoft.com/office/drawing/2014/main" id="{F2870455-8A84-4D83-902B-265DCFB23084}"/>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2">
            <a:extLst xmlns:a="http://schemas.openxmlformats.org/drawingml/2006/main">
              <a:ext uri="{FF2B5EF4-FFF2-40B4-BE49-F238E27FC236}">
                <a16:creationId xmlns:a16="http://schemas.microsoft.com/office/drawing/2014/main" id="{3E69F9C3-B1CB-4E6E-9889-96031578D62B}"/>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De antwoordtellers vertellen wanneer iedereen klaar is.</a:t>
            </a:r>
          </a:p>
        </p:txBody>
      </p:sp>
      <p:sp>
        <p:nvSpPr>
          <p:cNvPr id="8" name="frame-zaalscherm-vraag.jpg">
            <a:extLst xmlns:a="http://schemas.openxmlformats.org/drawingml/2006/main">
              <a:ext uri="{FF2B5EF4-FFF2-40B4-BE49-F238E27FC236}">
                <a16:creationId xmlns:a16="http://schemas.microsoft.com/office/drawing/2014/main" id="{BA08ABD2-90E3-4019-B89A-E461A71924FA}"/>
              </a:ext>
            </a:extLst>
          </p:cNvPr>
          <p:cNvSpPr>
            <a:spLocks xmlns:a="http://schemas.openxmlformats.org/drawingml/2006/main" noGrp="1"/>
          </p:cNvSpPr>
          <p:nvPr/>
        </p:nvSpPr>
        <p:spPr>
          <a:xfrm xmlns:a="http://schemas.openxmlformats.org/drawingml/2006/main">
            <a:off x="5905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af7e2a8a860442e"/>
          <a:stretch xmlns:a="http://schemas.openxmlformats.org/drawingml/2006/main"/>
        </p:blipFill>
        <p:spPr>
          <a:xfrm xmlns:a="http://schemas.openxmlformats.org/drawingml/2006/main">
            <a:off x="685800" y="1613297"/>
            <a:ext cx="6286500" cy="3536156"/>
          </a:xfrm>
          <a:prstGeom xmlns:a="http://schemas.openxmlformats.org/drawingml/2006/main" prst="roundRect">
            <a:avLst>
              <a:gd name="adj" fmla="val 2094"/>
            </a:avLst>
          </a:prstGeom>
        </p:spPr>
      </p:pic>
      <p:sp>
        <p:nvSpPr>
          <p:cNvPr id="10" name="image-caption-2">
            <a:extLst xmlns:a="http://schemas.openxmlformats.org/drawingml/2006/main">
              <a:ext uri="{FF2B5EF4-FFF2-40B4-BE49-F238E27FC236}">
                <a16:creationId xmlns:a16="http://schemas.microsoft.com/office/drawing/2014/main" id="{BD80AAC6-A017-430B-B216-37119BCABD69}"/>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2">
            <a:extLst xmlns:a="http://schemas.openxmlformats.org/drawingml/2006/main">
              <a:ext uri="{FF2B5EF4-FFF2-40B4-BE49-F238E27FC236}">
                <a16:creationId xmlns:a16="http://schemas.microsoft.com/office/drawing/2014/main" id="{C8511EFE-5644-4EE4-B4E1-8EE5159F3611}"/>
              </a:ext>
            </a:extLst>
          </p:cNvPr>
          <p:cNvSpPr>
            <a:spLocks xmlns:a="http://schemas.openxmlformats.org/drawingml/2006/main" noGrp="1"/>
          </p:cNvSpPr>
          <p:nvPr/>
        </p:nvSpPr>
        <p:spPr>
          <a:xfrm xmlns:a="http://schemas.openxmlformats.org/drawingml/2006/main">
            <a:off x="0" y="6800850"/>
            <a:ext cx="1434353"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2">
            <a:extLst xmlns:a="http://schemas.openxmlformats.org/drawingml/2006/main">
              <a:ext uri="{FF2B5EF4-FFF2-40B4-BE49-F238E27FC236}">
                <a16:creationId xmlns:a16="http://schemas.microsoft.com/office/drawing/2014/main" id="{0786426C-A0C4-41B9-92F5-5DF786CF7BFB}"/>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2">
            <a:extLst xmlns:a="http://schemas.openxmlformats.org/drawingml/2006/main">
              <a:ext uri="{FF2B5EF4-FFF2-40B4-BE49-F238E27FC236}">
                <a16:creationId xmlns:a16="http://schemas.microsoft.com/office/drawing/2014/main" id="{3C5B2B22-446A-4164-8FFB-DDE396128E4B}"/>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02 / 17</a:t>
            </a:r>
          </a:p>
        </p:txBody>
      </p:sp>
    </p:spTree>
    <p:extLst>
      <p:ext uri="{BB962C8B-B14F-4D97-AF65-F5344CB8AC3E}">
        <p14:creationId xmlns:p14="http://schemas.microsoft.com/office/powerpoint/2010/main" val="1023365117"/>
      </p:ext>
    </p:extLst>
  </p:cSld>
</p:sld>
</file>

<file path=ppt/slides/slide3.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3">
            <a:extLst xmlns:a="http://schemas.openxmlformats.org/drawingml/2006/main">
              <a:ext uri="{FF2B5EF4-FFF2-40B4-BE49-F238E27FC236}">
                <a16:creationId xmlns:a16="http://schemas.microsoft.com/office/drawing/2014/main" id="{8AC91267-45F4-44F5-A794-4174C41BD15D}"/>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RUIM VOOR DE ACTIVITEIT</a:t>
            </a:r>
          </a:p>
        </p:txBody>
      </p:sp>
      <p:sp>
        <p:nvSpPr>
          <p:cNvPr id="2" name="title-3">
            <a:extLst xmlns:a="http://schemas.openxmlformats.org/drawingml/2006/main">
              <a:ext uri="{FF2B5EF4-FFF2-40B4-BE49-F238E27FC236}">
                <a16:creationId xmlns:a16="http://schemas.microsoft.com/office/drawing/2014/main" id="{9417BAC5-ED99-41E3-BF36-C7C5033B3246}"/>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Bereid verbinding en briefjes thuis voor</a:t>
            </a:r>
          </a:p>
        </p:txBody>
      </p:sp>
      <p:sp>
        <p:nvSpPr>
          <p:cNvPr id="3" name="accent-3">
            <a:extLst xmlns:a="http://schemas.openxmlformats.org/drawingml/2006/main">
              <a:ext uri="{FF2B5EF4-FFF2-40B4-BE49-F238E27FC236}">
                <a16:creationId xmlns:a16="http://schemas.microsoft.com/office/drawing/2014/main" id="{392EF4CA-BA2A-42CD-A851-B72DACA964BE}"/>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3">
            <a:extLst xmlns:a="http://schemas.openxmlformats.org/drawingml/2006/main">
              <a:ext uri="{FF2B5EF4-FFF2-40B4-BE49-F238E27FC236}">
                <a16:creationId xmlns:a16="http://schemas.microsoft.com/office/drawing/2014/main" id="{431BF5B7-7088-4243-8894-9684B04427BD}"/>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Zaalwifi opvragen óf mobiele ontvangst testen</a:t>
            </a:r>
          </a:p>
          <a:p xmlns:a="http://schemas.openxmlformats.org/drawingml/2006/main">
            <a:pPr>
              <a:buNone/>
              <a:defRPr sz="1575">
                <a:solidFill>
                  <a:srgbClr val="17212D"/>
                </a:solidFill>
              </a:defRPr>
            </a:pPr>
            <a:r>
              <a:rPr sz="1575">
                <a:solidFill>
                  <a:srgbClr val="17212D"/>
                </a:solidFill>
              </a:rPr>
              <a:t>• Internetvereiste vooraf aan deelnemers melden</a:t>
            </a:r>
          </a:p>
          <a:p xmlns:a="http://schemas.openxmlformats.org/drawingml/2006/main">
            <a:pPr>
              <a:buNone/>
              <a:defRPr sz="1575">
                <a:solidFill>
                  <a:srgbClr val="17212D"/>
                </a:solidFill>
              </a:defRPr>
            </a:pPr>
            <a:r>
              <a:rPr sz="1575">
                <a:solidFill>
                  <a:srgbClr val="17212D"/>
                </a:solidFill>
              </a:rPr>
              <a:t>• Definitieve sessie thuis maken en afdrukken</a:t>
            </a:r>
          </a:p>
        </p:txBody>
      </p:sp>
      <p:sp>
        <p:nvSpPr>
          <p:cNvPr id="5" name="takeaway-box-3">
            <a:extLst xmlns:a="http://schemas.openxmlformats.org/drawingml/2006/main">
              <a:ext uri="{FF2B5EF4-FFF2-40B4-BE49-F238E27FC236}">
                <a16:creationId xmlns:a16="http://schemas.microsoft.com/office/drawing/2014/main" id="{75F764B5-9D5E-46AD-8762-4A6FFDD49AF8}"/>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3">
            <a:extLst xmlns:a="http://schemas.openxmlformats.org/drawingml/2006/main">
              <a:ext uri="{FF2B5EF4-FFF2-40B4-BE49-F238E27FC236}">
                <a16:creationId xmlns:a16="http://schemas.microsoft.com/office/drawing/2014/main" id="{AFB4F079-7086-4A93-868D-69D109E65111}"/>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3">
            <a:extLst xmlns:a="http://schemas.openxmlformats.org/drawingml/2006/main">
              <a:ext uri="{FF2B5EF4-FFF2-40B4-BE49-F238E27FC236}">
                <a16:creationId xmlns:a16="http://schemas.microsoft.com/office/drawing/2014/main" id="{F2F632DF-0F25-4656-A713-1A5072F2E176}"/>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Neem dezelfde laptop, briefjes en reserves mee.</a:t>
            </a:r>
          </a:p>
        </p:txBody>
      </p:sp>
      <p:sp>
        <p:nvSpPr>
          <p:cNvPr id="8" name="frame-quizmaster-voorbereiden.jpg">
            <a:extLst xmlns:a="http://schemas.openxmlformats.org/drawingml/2006/main">
              <a:ext uri="{FF2B5EF4-FFF2-40B4-BE49-F238E27FC236}">
                <a16:creationId xmlns:a16="http://schemas.microsoft.com/office/drawing/2014/main" id="{2B88218B-BCA2-443B-8F63-FD9875635212}"/>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669fe744f8b46a0"/>
          <a:stretch xmlns:a="http://schemas.openxmlformats.org/drawingml/2006/main"/>
        </p:blipFill>
        <p:spPr>
          <a:xfrm xmlns:a="http://schemas.openxmlformats.org/drawingml/2006/main">
            <a:off x="5219700" y="1613297"/>
            <a:ext cx="6286500" cy="3536156"/>
          </a:xfrm>
          <a:prstGeom xmlns:a="http://schemas.openxmlformats.org/drawingml/2006/main" prst="roundRect">
            <a:avLst>
              <a:gd name="adj" fmla="val 2094"/>
            </a:avLst>
          </a:prstGeom>
        </p:spPr>
      </p:pic>
      <p:sp>
        <p:nvSpPr>
          <p:cNvPr id="10" name="image-caption-3">
            <a:extLst xmlns:a="http://schemas.openxmlformats.org/drawingml/2006/main">
              <a:ext uri="{FF2B5EF4-FFF2-40B4-BE49-F238E27FC236}">
                <a16:creationId xmlns:a16="http://schemas.microsoft.com/office/drawing/2014/main" id="{94FBA2AE-D83A-4563-BD7B-BE3DBBA44A8B}"/>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3">
            <a:extLst xmlns:a="http://schemas.openxmlformats.org/drawingml/2006/main">
              <a:ext uri="{FF2B5EF4-FFF2-40B4-BE49-F238E27FC236}">
                <a16:creationId xmlns:a16="http://schemas.microsoft.com/office/drawing/2014/main" id="{0D486323-105A-44A4-85B4-C61289C0BDE8}"/>
              </a:ext>
            </a:extLst>
          </p:cNvPr>
          <p:cNvSpPr>
            <a:spLocks xmlns:a="http://schemas.openxmlformats.org/drawingml/2006/main" noGrp="1"/>
          </p:cNvSpPr>
          <p:nvPr/>
        </p:nvSpPr>
        <p:spPr>
          <a:xfrm xmlns:a="http://schemas.openxmlformats.org/drawingml/2006/main">
            <a:off x="0" y="6800850"/>
            <a:ext cx="2151529"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3">
            <a:extLst xmlns:a="http://schemas.openxmlformats.org/drawingml/2006/main">
              <a:ext uri="{FF2B5EF4-FFF2-40B4-BE49-F238E27FC236}">
                <a16:creationId xmlns:a16="http://schemas.microsoft.com/office/drawing/2014/main" id="{34C9D36D-E12B-4A24-80D4-49D2B045F68D}"/>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3">
            <a:extLst xmlns:a="http://schemas.openxmlformats.org/drawingml/2006/main">
              <a:ext uri="{FF2B5EF4-FFF2-40B4-BE49-F238E27FC236}">
                <a16:creationId xmlns:a16="http://schemas.microsoft.com/office/drawing/2014/main" id="{8DEDF80D-69C2-4143-A238-B1D5E0C55935}"/>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03 / 17</a:t>
            </a:r>
          </a:p>
        </p:txBody>
      </p:sp>
    </p:spTree>
    <p:extLst>
      <p:ext uri="{BB962C8B-B14F-4D97-AF65-F5344CB8AC3E}">
        <p14:creationId xmlns:p14="http://schemas.microsoft.com/office/powerpoint/2010/main" val="1360850112"/>
      </p:ext>
    </p:extLst>
  </p:cSld>
</p:sld>
</file>

<file path=ppt/slides/slide4.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4">
            <a:extLst xmlns:a="http://schemas.openxmlformats.org/drawingml/2006/main">
              <a:ext uri="{FF2B5EF4-FFF2-40B4-BE49-F238E27FC236}">
                <a16:creationId xmlns:a16="http://schemas.microsoft.com/office/drawing/2014/main" id="{66F7A569-83D6-464D-99AB-41BB5F7878B3}"/>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STAP 1 · SESSIE MAKEN</a:t>
            </a:r>
          </a:p>
        </p:txBody>
      </p:sp>
      <p:sp>
        <p:nvSpPr>
          <p:cNvPr id="2" name="title-4">
            <a:extLst xmlns:a="http://schemas.openxmlformats.org/drawingml/2006/main">
              <a:ext uri="{FF2B5EF4-FFF2-40B4-BE49-F238E27FC236}">
                <a16:creationId xmlns:a16="http://schemas.microsoft.com/office/drawing/2014/main" id="{5E6CBAB7-A951-41BA-9C1A-F5D7CFD675F3}"/>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Kies het aantal vragen en maak de sessie</a:t>
            </a:r>
          </a:p>
        </p:txBody>
      </p:sp>
      <p:sp>
        <p:nvSpPr>
          <p:cNvPr id="3" name="accent-4">
            <a:extLst xmlns:a="http://schemas.openxmlformats.org/drawingml/2006/main">
              <a:ext uri="{FF2B5EF4-FFF2-40B4-BE49-F238E27FC236}">
                <a16:creationId xmlns:a16="http://schemas.microsoft.com/office/drawing/2014/main" id="{4CDE96CC-D1D8-4569-AFF8-BDB253018DEB}"/>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4">
            <a:extLst xmlns:a="http://schemas.openxmlformats.org/drawingml/2006/main">
              <a:ext uri="{FF2B5EF4-FFF2-40B4-BE49-F238E27FC236}">
                <a16:creationId xmlns:a16="http://schemas.microsoft.com/office/drawing/2014/main" id="{3ED325D7-FD27-4522-A3FE-9D69BD308A96}"/>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5 vragen voor een demonstratie</a:t>
            </a:r>
          </a:p>
          <a:p xmlns:a="http://schemas.openxmlformats.org/drawingml/2006/main">
            <a:pPr>
              <a:buNone/>
              <a:defRPr sz="1575">
                <a:solidFill>
                  <a:srgbClr val="17212D"/>
                </a:solidFill>
              </a:defRPr>
            </a:pPr>
            <a:r>
              <a:rPr sz="1575">
                <a:solidFill>
                  <a:srgbClr val="17212D"/>
                </a:solidFill>
              </a:rPr>
              <a:t>• 10 vragen is aanbevolen</a:t>
            </a:r>
          </a:p>
          <a:p xmlns:a="http://schemas.openxmlformats.org/drawingml/2006/main">
            <a:pPr>
              <a:buNone/>
              <a:defRPr sz="1575">
                <a:solidFill>
                  <a:srgbClr val="17212D"/>
                </a:solidFill>
              </a:defRPr>
            </a:pPr>
            <a:r>
              <a:rPr sz="1575">
                <a:solidFill>
                  <a:srgbClr val="17212D"/>
                </a:solidFill>
              </a:rPr>
              <a:t>• 20 vragen is het aanbevolen maximum</a:t>
            </a:r>
          </a:p>
        </p:txBody>
      </p:sp>
      <p:sp>
        <p:nvSpPr>
          <p:cNvPr id="5" name="takeaway-box-4">
            <a:extLst xmlns:a="http://schemas.openxmlformats.org/drawingml/2006/main">
              <a:ext uri="{FF2B5EF4-FFF2-40B4-BE49-F238E27FC236}">
                <a16:creationId xmlns:a16="http://schemas.microsoft.com/office/drawing/2014/main" id="{DC37A791-E5D8-453B-9D0D-6136EFDA4E2A}"/>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4">
            <a:extLst xmlns:a="http://schemas.openxmlformats.org/drawingml/2006/main">
              <a:ext uri="{FF2B5EF4-FFF2-40B4-BE49-F238E27FC236}">
                <a16:creationId xmlns:a16="http://schemas.microsoft.com/office/drawing/2014/main" id="{251558F6-5988-42AF-B1CE-EC67E4549BCD}"/>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4">
            <a:extLst xmlns:a="http://schemas.openxmlformats.org/drawingml/2006/main">
              <a:ext uri="{FF2B5EF4-FFF2-40B4-BE49-F238E27FC236}">
                <a16:creationId xmlns:a16="http://schemas.microsoft.com/office/drawing/2014/main" id="{5AE8F8C3-401D-4046-8E94-D3D7061260A1}"/>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De sessie maakt automatisch een unieke code van drie cijfers.</a:t>
            </a:r>
          </a:p>
        </p:txBody>
      </p:sp>
      <p:sp>
        <p:nvSpPr>
          <p:cNvPr id="8" name="frame-quizmaster-voorbereiden.jpg">
            <a:extLst xmlns:a="http://schemas.openxmlformats.org/drawingml/2006/main">
              <a:ext uri="{FF2B5EF4-FFF2-40B4-BE49-F238E27FC236}">
                <a16:creationId xmlns:a16="http://schemas.microsoft.com/office/drawing/2014/main" id="{59D70EFD-A4F9-4E99-8D78-CA6EF9FDEBD2}"/>
              </a:ext>
            </a:extLst>
          </p:cNvPr>
          <p:cNvSpPr>
            <a:spLocks xmlns:a="http://schemas.openxmlformats.org/drawingml/2006/main" noGrp="1"/>
          </p:cNvSpPr>
          <p:nvPr/>
        </p:nvSpPr>
        <p:spPr>
          <a:xfrm xmlns:a="http://schemas.openxmlformats.org/drawingml/2006/main">
            <a:off x="5905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2f765dbaf0244c1"/>
          <a:stretch xmlns:a="http://schemas.openxmlformats.org/drawingml/2006/main"/>
        </p:blipFill>
        <p:spPr>
          <a:xfrm xmlns:a="http://schemas.openxmlformats.org/drawingml/2006/main">
            <a:off x="685800" y="1613297"/>
            <a:ext cx="6286500" cy="3536156"/>
          </a:xfrm>
          <a:prstGeom xmlns:a="http://schemas.openxmlformats.org/drawingml/2006/main" prst="roundRect">
            <a:avLst>
              <a:gd name="adj" fmla="val 2094"/>
            </a:avLst>
          </a:prstGeom>
        </p:spPr>
      </p:pic>
      <p:sp>
        <p:nvSpPr>
          <p:cNvPr id="10" name="image-caption-4">
            <a:extLst xmlns:a="http://schemas.openxmlformats.org/drawingml/2006/main">
              <a:ext uri="{FF2B5EF4-FFF2-40B4-BE49-F238E27FC236}">
                <a16:creationId xmlns:a16="http://schemas.microsoft.com/office/drawing/2014/main" id="{EA418586-A797-4659-B4C1-26E0D06E348A}"/>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4">
            <a:extLst xmlns:a="http://schemas.openxmlformats.org/drawingml/2006/main">
              <a:ext uri="{FF2B5EF4-FFF2-40B4-BE49-F238E27FC236}">
                <a16:creationId xmlns:a16="http://schemas.microsoft.com/office/drawing/2014/main" id="{3069C0A4-AEEA-478A-8E61-340926B37A13}"/>
              </a:ext>
            </a:extLst>
          </p:cNvPr>
          <p:cNvSpPr>
            <a:spLocks xmlns:a="http://schemas.openxmlformats.org/drawingml/2006/main" noGrp="1"/>
          </p:cNvSpPr>
          <p:nvPr/>
        </p:nvSpPr>
        <p:spPr>
          <a:xfrm xmlns:a="http://schemas.openxmlformats.org/drawingml/2006/main">
            <a:off x="0" y="6800850"/>
            <a:ext cx="2868706"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4">
            <a:extLst xmlns:a="http://schemas.openxmlformats.org/drawingml/2006/main">
              <a:ext uri="{FF2B5EF4-FFF2-40B4-BE49-F238E27FC236}">
                <a16:creationId xmlns:a16="http://schemas.microsoft.com/office/drawing/2014/main" id="{16B52230-40BA-407F-8A4E-355A64799C3A}"/>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4">
            <a:extLst xmlns:a="http://schemas.openxmlformats.org/drawingml/2006/main">
              <a:ext uri="{FF2B5EF4-FFF2-40B4-BE49-F238E27FC236}">
                <a16:creationId xmlns:a16="http://schemas.microsoft.com/office/drawing/2014/main" id="{C621BCB0-563A-4C7B-A0CD-1AC1A85E0B14}"/>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04 / 17</a:t>
            </a:r>
          </a:p>
        </p:txBody>
      </p:sp>
    </p:spTree>
    <p:extLst>
      <p:ext uri="{BB962C8B-B14F-4D97-AF65-F5344CB8AC3E}">
        <p14:creationId xmlns:p14="http://schemas.microsoft.com/office/powerpoint/2010/main" val="1850120454"/>
      </p:ext>
    </p:extLst>
  </p:cSld>
</p:sld>
</file>

<file path=ppt/slides/slide5.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5">
            <a:extLst xmlns:a="http://schemas.openxmlformats.org/drawingml/2006/main">
              <a:ext uri="{FF2B5EF4-FFF2-40B4-BE49-F238E27FC236}">
                <a16:creationId xmlns:a16="http://schemas.microsoft.com/office/drawing/2014/main" id="{3AA60C79-FF8D-49F5-8700-D3F1FC06C1A9}"/>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DEFINITIEVE SESSIE EN CODE</a:t>
            </a:r>
          </a:p>
        </p:txBody>
      </p:sp>
      <p:sp>
        <p:nvSpPr>
          <p:cNvPr id="2" name="title-5">
            <a:extLst xmlns:a="http://schemas.openxmlformats.org/drawingml/2006/main">
              <a:ext uri="{FF2B5EF4-FFF2-40B4-BE49-F238E27FC236}">
                <a16:creationId xmlns:a16="http://schemas.microsoft.com/office/drawing/2014/main" id="{B2C4765D-9C56-42EB-928B-AE3CEBD25220}"/>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Maak thuis de sessie vóór u de briefjes afdrukt</a:t>
            </a:r>
          </a:p>
        </p:txBody>
      </p:sp>
      <p:sp>
        <p:nvSpPr>
          <p:cNvPr id="3" name="accent-5">
            <a:extLst xmlns:a="http://schemas.openxmlformats.org/drawingml/2006/main">
              <a:ext uri="{FF2B5EF4-FFF2-40B4-BE49-F238E27FC236}">
                <a16:creationId xmlns:a16="http://schemas.microsoft.com/office/drawing/2014/main" id="{326883A0-3368-4CA2-8CB8-86740AB14DCD}"/>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5">
            <a:extLst xmlns:a="http://schemas.openxmlformats.org/drawingml/2006/main">
              <a:ext uri="{FF2B5EF4-FFF2-40B4-BE49-F238E27FC236}">
                <a16:creationId xmlns:a16="http://schemas.microsoft.com/office/drawing/2014/main" id="{E04B8F4B-538C-4B7F-9E75-2D19CAB07729}"/>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Sessie en code mogen dagen vooraf worden gemaakt</a:t>
            </a:r>
          </a:p>
          <a:p xmlns:a="http://schemas.openxmlformats.org/drawingml/2006/main">
            <a:pPr>
              <a:buNone/>
              <a:defRPr sz="1575">
                <a:solidFill>
                  <a:srgbClr val="17212D"/>
                </a:solidFill>
              </a:defRPr>
            </a:pPr>
            <a:r>
              <a:rPr sz="1575">
                <a:solidFill>
                  <a:srgbClr val="17212D"/>
                </a:solidFill>
              </a:rPr>
              <a:t>• Gebruik in de zaal dezelfde laptop en browser</a:t>
            </a:r>
          </a:p>
          <a:p xmlns:a="http://schemas.openxmlformats.org/drawingml/2006/main">
            <a:pPr>
              <a:buNone/>
              <a:defRPr sz="1575">
                <a:solidFill>
                  <a:srgbClr val="17212D"/>
                </a:solidFill>
              </a:defRPr>
            </a:pPr>
            <a:r>
              <a:rPr sz="1575">
                <a:solidFill>
                  <a:srgbClr val="17212D"/>
                </a:solidFill>
              </a:rPr>
              <a:t>• Maak na het afdrukken geen nieuwe sessie</a:t>
            </a:r>
          </a:p>
        </p:txBody>
      </p:sp>
      <p:sp>
        <p:nvSpPr>
          <p:cNvPr id="5" name="takeaway-box-5">
            <a:extLst xmlns:a="http://schemas.openxmlformats.org/drawingml/2006/main">
              <a:ext uri="{FF2B5EF4-FFF2-40B4-BE49-F238E27FC236}">
                <a16:creationId xmlns:a16="http://schemas.microsoft.com/office/drawing/2014/main" id="{A92C57FB-3883-44A4-95C9-67A4DBE23B7A}"/>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5">
            <a:extLst xmlns:a="http://schemas.openxmlformats.org/drawingml/2006/main">
              <a:ext uri="{FF2B5EF4-FFF2-40B4-BE49-F238E27FC236}">
                <a16:creationId xmlns:a16="http://schemas.microsoft.com/office/drawing/2014/main" id="{27305DDD-2B9A-454E-B41D-6FBA956A0558}"/>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5">
            <a:extLst xmlns:a="http://schemas.openxmlformats.org/drawingml/2006/main">
              <a:ext uri="{FF2B5EF4-FFF2-40B4-BE49-F238E27FC236}">
                <a16:creationId xmlns:a16="http://schemas.microsoft.com/office/drawing/2014/main" id="{FE383B0E-4B62-4818-8936-9E748451370C}"/>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De code op papier moet dezelfde code blijven.</a:t>
            </a:r>
          </a:p>
        </p:txBody>
      </p:sp>
      <p:sp>
        <p:nvSpPr>
          <p:cNvPr id="8" name="frame-quizmaster-wachtkamer.jpg">
            <a:extLst xmlns:a="http://schemas.openxmlformats.org/drawingml/2006/main">
              <a:ext uri="{FF2B5EF4-FFF2-40B4-BE49-F238E27FC236}">
                <a16:creationId xmlns:a16="http://schemas.microsoft.com/office/drawing/2014/main" id="{57A760BE-C103-4E4B-9198-45CED7233E22}"/>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f4a25d4e6ad4266"/>
          <a:stretch xmlns:a="http://schemas.openxmlformats.org/drawingml/2006/main"/>
        </p:blipFill>
        <p:spPr>
          <a:xfrm xmlns:a="http://schemas.openxmlformats.org/drawingml/2006/main">
            <a:off x="5219700" y="1612210"/>
            <a:ext cx="6286500" cy="3538330"/>
          </a:xfrm>
          <a:prstGeom xmlns:a="http://schemas.openxmlformats.org/drawingml/2006/main" prst="roundRect">
            <a:avLst>
              <a:gd name="adj" fmla="val 2094"/>
            </a:avLst>
          </a:prstGeom>
        </p:spPr>
      </p:pic>
      <p:sp>
        <p:nvSpPr>
          <p:cNvPr id="10" name="image-caption-5">
            <a:extLst xmlns:a="http://schemas.openxmlformats.org/drawingml/2006/main">
              <a:ext uri="{FF2B5EF4-FFF2-40B4-BE49-F238E27FC236}">
                <a16:creationId xmlns:a16="http://schemas.microsoft.com/office/drawing/2014/main" id="{5DC81D44-E3C1-4046-933C-E56B505C140F}"/>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5">
            <a:extLst xmlns:a="http://schemas.openxmlformats.org/drawingml/2006/main">
              <a:ext uri="{FF2B5EF4-FFF2-40B4-BE49-F238E27FC236}">
                <a16:creationId xmlns:a16="http://schemas.microsoft.com/office/drawing/2014/main" id="{A48F74F8-B276-48F3-908D-5AE7F1E88633}"/>
              </a:ext>
            </a:extLst>
          </p:cNvPr>
          <p:cNvSpPr>
            <a:spLocks xmlns:a="http://schemas.openxmlformats.org/drawingml/2006/main" noGrp="1"/>
          </p:cNvSpPr>
          <p:nvPr/>
        </p:nvSpPr>
        <p:spPr>
          <a:xfrm xmlns:a="http://schemas.openxmlformats.org/drawingml/2006/main">
            <a:off x="0" y="6800850"/>
            <a:ext cx="3585882"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5">
            <a:extLst xmlns:a="http://schemas.openxmlformats.org/drawingml/2006/main">
              <a:ext uri="{FF2B5EF4-FFF2-40B4-BE49-F238E27FC236}">
                <a16:creationId xmlns:a16="http://schemas.microsoft.com/office/drawing/2014/main" id="{E61A25F7-2B0E-4FCF-A469-03E53F07212F}"/>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5">
            <a:extLst xmlns:a="http://schemas.openxmlformats.org/drawingml/2006/main">
              <a:ext uri="{FF2B5EF4-FFF2-40B4-BE49-F238E27FC236}">
                <a16:creationId xmlns:a16="http://schemas.microsoft.com/office/drawing/2014/main" id="{C3D8B7D0-5597-450C-A4BD-ABEE11F3CB60}"/>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05 / 17</a:t>
            </a:r>
          </a:p>
        </p:txBody>
      </p:sp>
    </p:spTree>
    <p:extLst>
      <p:ext uri="{BB962C8B-B14F-4D97-AF65-F5344CB8AC3E}">
        <p14:creationId xmlns:p14="http://schemas.microsoft.com/office/powerpoint/2010/main" val="709140265"/>
      </p:ext>
    </p:extLst>
  </p:cSld>
</p:sld>
</file>

<file path=ppt/slides/slide6.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6">
            <a:extLst xmlns:a="http://schemas.openxmlformats.org/drawingml/2006/main">
              <a:ext uri="{FF2B5EF4-FFF2-40B4-BE49-F238E27FC236}">
                <a16:creationId xmlns:a16="http://schemas.microsoft.com/office/drawing/2014/main" id="{1C9FB540-8E1E-4082-B932-968DC2FABE42}"/>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WIFI ALLEEN ALS DIE BESTAAT</a:t>
            </a:r>
          </a:p>
        </p:txBody>
      </p:sp>
      <p:sp>
        <p:nvSpPr>
          <p:cNvPr id="2" name="title-6">
            <a:extLst xmlns:a="http://schemas.openxmlformats.org/drawingml/2006/main">
              <a:ext uri="{FF2B5EF4-FFF2-40B4-BE49-F238E27FC236}">
                <a16:creationId xmlns:a16="http://schemas.microsoft.com/office/drawing/2014/main" id="{446F315C-6AAD-4D78-A85B-AE1968050757}"/>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Het briefje toont alleen beschikbare verbindingen</a:t>
            </a:r>
          </a:p>
        </p:txBody>
      </p:sp>
      <p:sp>
        <p:nvSpPr>
          <p:cNvPr id="3" name="accent-6">
            <a:extLst xmlns:a="http://schemas.openxmlformats.org/drawingml/2006/main">
              <a:ext uri="{FF2B5EF4-FFF2-40B4-BE49-F238E27FC236}">
                <a16:creationId xmlns:a16="http://schemas.microsoft.com/office/drawing/2014/main" id="{A00B4416-9D12-4076-A2CC-257025BD77C3}"/>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6">
            <a:extLst xmlns:a="http://schemas.openxmlformats.org/drawingml/2006/main">
              <a:ext uri="{FF2B5EF4-FFF2-40B4-BE49-F238E27FC236}">
                <a16:creationId xmlns:a16="http://schemas.microsoft.com/office/drawing/2014/main" id="{39778CFF-C336-4C08-A35B-4B066DD30D8B}"/>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Zaalwifi: gegevens vooraf exact invullen</a:t>
            </a:r>
          </a:p>
          <a:p xmlns:a="http://schemas.openxmlformats.org/drawingml/2006/main">
            <a:pPr>
              <a:buNone/>
              <a:defRPr sz="1575">
                <a:solidFill>
                  <a:srgbClr val="17212D"/>
                </a:solidFill>
              </a:defRPr>
            </a:pPr>
            <a:r>
              <a:rPr sz="1575">
                <a:solidFill>
                  <a:srgbClr val="17212D"/>
                </a:solidFill>
              </a:rPr>
              <a:t>• Geen zaalwifi: beide velden leeg laten</a:t>
            </a:r>
          </a:p>
          <a:p xmlns:a="http://schemas.openxmlformats.org/drawingml/2006/main">
            <a:pPr>
              <a:buNone/>
              <a:defRPr sz="1575">
                <a:solidFill>
                  <a:srgbClr val="17212D"/>
                </a:solidFill>
              </a:defRPr>
            </a:pPr>
            <a:r>
              <a:rPr sz="1575">
                <a:solidFill>
                  <a:srgbClr val="17212D"/>
                </a:solidFill>
              </a:rPr>
              <a:t>• De wifi-keuze verdwijnt dan van het briefje</a:t>
            </a:r>
          </a:p>
        </p:txBody>
      </p:sp>
      <p:sp>
        <p:nvSpPr>
          <p:cNvPr id="5" name="takeaway-box-6">
            <a:extLst xmlns:a="http://schemas.openxmlformats.org/drawingml/2006/main">
              <a:ext uri="{FF2B5EF4-FFF2-40B4-BE49-F238E27FC236}">
                <a16:creationId xmlns:a16="http://schemas.microsoft.com/office/drawing/2014/main" id="{92EFB1DD-E882-46E9-8BDF-A4BC7F1CCC0D}"/>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6">
            <a:extLst xmlns:a="http://schemas.openxmlformats.org/drawingml/2006/main">
              <a:ext uri="{FF2B5EF4-FFF2-40B4-BE49-F238E27FC236}">
                <a16:creationId xmlns:a16="http://schemas.microsoft.com/office/drawing/2014/main" id="{F6E5738E-C878-41EB-A4FC-AABBC3E8413C}"/>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6">
            <a:extLst xmlns:a="http://schemas.openxmlformats.org/drawingml/2006/main">
              <a:ext uri="{FF2B5EF4-FFF2-40B4-BE49-F238E27FC236}">
                <a16:creationId xmlns:a16="http://schemas.microsoft.com/office/drawing/2014/main" id="{06C063D0-7066-4411-8A9D-301D970D14F0}"/>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Zonder zaalwifi ziet de deelnemer alleen mobiele data.</a:t>
            </a:r>
          </a:p>
        </p:txBody>
      </p:sp>
      <p:sp>
        <p:nvSpPr>
          <p:cNvPr id="8" name="frame-briefjes-voorbereiden.png">
            <a:extLst xmlns:a="http://schemas.openxmlformats.org/drawingml/2006/main">
              <a:ext uri="{FF2B5EF4-FFF2-40B4-BE49-F238E27FC236}">
                <a16:creationId xmlns:a16="http://schemas.microsoft.com/office/drawing/2014/main" id="{267AE320-06A3-40C0-85FC-C2E2EABE336E}"/>
              </a:ext>
            </a:extLst>
          </p:cNvPr>
          <p:cNvSpPr>
            <a:spLocks xmlns:a="http://schemas.openxmlformats.org/drawingml/2006/main" noGrp="1"/>
          </p:cNvSpPr>
          <p:nvPr/>
        </p:nvSpPr>
        <p:spPr>
          <a:xfrm xmlns:a="http://schemas.openxmlformats.org/drawingml/2006/main">
            <a:off x="5905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f3c2127261f4f14"/>
          <a:stretch xmlns:a="http://schemas.openxmlformats.org/drawingml/2006/main"/>
        </p:blipFill>
        <p:spPr>
          <a:xfrm xmlns:a="http://schemas.openxmlformats.org/drawingml/2006/main">
            <a:off x="685800" y="1612210"/>
            <a:ext cx="6286500" cy="3538330"/>
          </a:xfrm>
          <a:prstGeom xmlns:a="http://schemas.openxmlformats.org/drawingml/2006/main" prst="roundRect">
            <a:avLst>
              <a:gd name="adj" fmla="val 2094"/>
            </a:avLst>
          </a:prstGeom>
        </p:spPr>
      </p:pic>
      <p:sp>
        <p:nvSpPr>
          <p:cNvPr id="10" name="image-caption-6">
            <a:extLst xmlns:a="http://schemas.openxmlformats.org/drawingml/2006/main">
              <a:ext uri="{FF2B5EF4-FFF2-40B4-BE49-F238E27FC236}">
                <a16:creationId xmlns:a16="http://schemas.microsoft.com/office/drawing/2014/main" id="{45BF7BD9-C2B5-42C1-B190-6714DD304586}"/>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6">
            <a:extLst xmlns:a="http://schemas.openxmlformats.org/drawingml/2006/main">
              <a:ext uri="{FF2B5EF4-FFF2-40B4-BE49-F238E27FC236}">
                <a16:creationId xmlns:a16="http://schemas.microsoft.com/office/drawing/2014/main" id="{ECF01EEA-126C-4988-8EB7-76469246AE70}"/>
              </a:ext>
            </a:extLst>
          </p:cNvPr>
          <p:cNvSpPr>
            <a:spLocks xmlns:a="http://schemas.openxmlformats.org/drawingml/2006/main" noGrp="1"/>
          </p:cNvSpPr>
          <p:nvPr/>
        </p:nvSpPr>
        <p:spPr>
          <a:xfrm xmlns:a="http://schemas.openxmlformats.org/drawingml/2006/main">
            <a:off x="0" y="6800850"/>
            <a:ext cx="4303059"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6">
            <a:extLst xmlns:a="http://schemas.openxmlformats.org/drawingml/2006/main">
              <a:ext uri="{FF2B5EF4-FFF2-40B4-BE49-F238E27FC236}">
                <a16:creationId xmlns:a16="http://schemas.microsoft.com/office/drawing/2014/main" id="{95EAF131-9812-4E5C-AE9A-63D314050E35}"/>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6">
            <a:extLst xmlns:a="http://schemas.openxmlformats.org/drawingml/2006/main">
              <a:ext uri="{FF2B5EF4-FFF2-40B4-BE49-F238E27FC236}">
                <a16:creationId xmlns:a16="http://schemas.microsoft.com/office/drawing/2014/main" id="{411BB73F-4433-4587-BC84-CD92E8C09964}"/>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06 / 17</a:t>
            </a:r>
          </a:p>
        </p:txBody>
      </p:sp>
    </p:spTree>
    <p:extLst>
      <p:ext uri="{BB962C8B-B14F-4D97-AF65-F5344CB8AC3E}">
        <p14:creationId xmlns:p14="http://schemas.microsoft.com/office/powerpoint/2010/main" val="954468345"/>
      </p:ext>
    </p:extLst>
  </p:cSld>
</p:sld>
</file>

<file path=ppt/slides/slide7.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7">
            <a:extLst xmlns:a="http://schemas.openxmlformats.org/drawingml/2006/main">
              <a:ext uri="{FF2B5EF4-FFF2-40B4-BE49-F238E27FC236}">
                <a16:creationId xmlns:a16="http://schemas.microsoft.com/office/drawing/2014/main" id="{C71DDA32-370A-4604-B01C-E00711AE6B1D}"/>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AFDRUKKEN THUIS OF OP KANTOOR</a:t>
            </a:r>
          </a:p>
        </p:txBody>
      </p:sp>
      <p:sp>
        <p:nvSpPr>
          <p:cNvPr id="2" name="title-7">
            <a:extLst xmlns:a="http://schemas.openxmlformats.org/drawingml/2006/main">
              <a:ext uri="{FF2B5EF4-FFF2-40B4-BE49-F238E27FC236}">
                <a16:creationId xmlns:a16="http://schemas.microsoft.com/office/drawing/2014/main" id="{5A6CD683-9485-403C-89E2-A751814A6EEA}"/>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Druk de volledige oplage vooraf af</a:t>
            </a:r>
          </a:p>
        </p:txBody>
      </p:sp>
      <p:sp>
        <p:nvSpPr>
          <p:cNvPr id="3" name="accent-7">
            <a:extLst xmlns:a="http://schemas.openxmlformats.org/drawingml/2006/main">
              <a:ext uri="{FF2B5EF4-FFF2-40B4-BE49-F238E27FC236}">
                <a16:creationId xmlns:a16="http://schemas.microsoft.com/office/drawing/2014/main" id="{57B6A6DE-21B1-4295-873A-CAE3714B18F7}"/>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7">
            <a:extLst xmlns:a="http://schemas.openxmlformats.org/drawingml/2006/main">
              <a:ext uri="{FF2B5EF4-FFF2-40B4-BE49-F238E27FC236}">
                <a16:creationId xmlns:a16="http://schemas.microsoft.com/office/drawing/2014/main" id="{D1C20F1C-8778-46E7-9A1D-F3013A42031B}"/>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Eerst één A4 testen en beide QR-codes scannen</a:t>
            </a:r>
          </a:p>
          <a:p xmlns:a="http://schemas.openxmlformats.org/drawingml/2006/main">
            <a:pPr>
              <a:buNone/>
              <a:defRPr sz="1575">
                <a:solidFill>
                  <a:srgbClr val="17212D"/>
                </a:solidFill>
              </a:defRPr>
            </a:pPr>
            <a:r>
              <a:rPr sz="1575">
                <a:solidFill>
                  <a:srgbClr val="17212D"/>
                </a:solidFill>
              </a:rPr>
              <a:t>• Daarna de geschikte grotere printer gebruiken</a:t>
            </a:r>
          </a:p>
          <a:p xmlns:a="http://schemas.openxmlformats.org/drawingml/2006/main">
            <a:pPr>
              <a:buNone/>
              <a:defRPr sz="1575">
                <a:solidFill>
                  <a:srgbClr val="17212D"/>
                </a:solidFill>
              </a:defRPr>
            </a:pPr>
            <a:r>
              <a:rPr sz="1575">
                <a:solidFill>
                  <a:srgbClr val="17212D"/>
                </a:solidFill>
              </a:rPr>
              <a:t>• 60 deelnemers = 30 vellen plus reserves</a:t>
            </a:r>
          </a:p>
        </p:txBody>
      </p:sp>
      <p:sp>
        <p:nvSpPr>
          <p:cNvPr id="5" name="takeaway-box-7">
            <a:extLst xmlns:a="http://schemas.openxmlformats.org/drawingml/2006/main">
              <a:ext uri="{FF2B5EF4-FFF2-40B4-BE49-F238E27FC236}">
                <a16:creationId xmlns:a16="http://schemas.microsoft.com/office/drawing/2014/main" id="{50F6EF65-F4F9-4CD9-8EFD-1AD997FBBBA9}"/>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7">
            <a:extLst xmlns:a="http://schemas.openxmlformats.org/drawingml/2006/main">
              <a:ext uri="{FF2B5EF4-FFF2-40B4-BE49-F238E27FC236}">
                <a16:creationId xmlns:a16="http://schemas.microsoft.com/office/drawing/2014/main" id="{8E6B6768-F8B2-4691-AD44-FB080F27C6F9}"/>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7">
            <a:extLst xmlns:a="http://schemas.openxmlformats.org/drawingml/2006/main">
              <a:ext uri="{FF2B5EF4-FFF2-40B4-BE49-F238E27FC236}">
                <a16:creationId xmlns:a16="http://schemas.microsoft.com/office/drawing/2014/main" id="{268AA514-4EC9-4023-AC7E-FC864030EC85}"/>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Snijd en bundel alle briefjes vóór het vertrek.</a:t>
            </a:r>
          </a:p>
        </p:txBody>
      </p:sp>
      <p:sp>
        <p:nvSpPr>
          <p:cNvPr id="8" name="frame-deelnemersbriefje.jpg">
            <a:extLst xmlns:a="http://schemas.openxmlformats.org/drawingml/2006/main">
              <a:ext uri="{FF2B5EF4-FFF2-40B4-BE49-F238E27FC236}">
                <a16:creationId xmlns:a16="http://schemas.microsoft.com/office/drawing/2014/main" id="{61A268F8-26BE-4C40-B7CE-3F5FFB68D151}"/>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f05dd28594c4cb8"/>
          <a:stretch xmlns:a="http://schemas.openxmlformats.org/drawingml/2006/main"/>
        </p:blipFill>
        <p:spPr>
          <a:xfrm xmlns:a="http://schemas.openxmlformats.org/drawingml/2006/main">
            <a:off x="5219700" y="1612210"/>
            <a:ext cx="6286500" cy="3538330"/>
          </a:xfrm>
          <a:prstGeom xmlns:a="http://schemas.openxmlformats.org/drawingml/2006/main" prst="roundRect">
            <a:avLst>
              <a:gd name="adj" fmla="val 2094"/>
            </a:avLst>
          </a:prstGeom>
        </p:spPr>
      </p:pic>
      <p:sp>
        <p:nvSpPr>
          <p:cNvPr id="10" name="image-caption-7">
            <a:extLst xmlns:a="http://schemas.openxmlformats.org/drawingml/2006/main">
              <a:ext uri="{FF2B5EF4-FFF2-40B4-BE49-F238E27FC236}">
                <a16:creationId xmlns:a16="http://schemas.microsoft.com/office/drawing/2014/main" id="{AD3E420E-F4B9-4030-BDB3-C29B537AB4C8}"/>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7">
            <a:extLst xmlns:a="http://schemas.openxmlformats.org/drawingml/2006/main">
              <a:ext uri="{FF2B5EF4-FFF2-40B4-BE49-F238E27FC236}">
                <a16:creationId xmlns:a16="http://schemas.microsoft.com/office/drawing/2014/main" id="{A820FF00-7B61-4798-94B7-5743D8E64D99}"/>
              </a:ext>
            </a:extLst>
          </p:cNvPr>
          <p:cNvSpPr>
            <a:spLocks xmlns:a="http://schemas.openxmlformats.org/drawingml/2006/main" noGrp="1"/>
          </p:cNvSpPr>
          <p:nvPr/>
        </p:nvSpPr>
        <p:spPr>
          <a:xfrm xmlns:a="http://schemas.openxmlformats.org/drawingml/2006/main">
            <a:off x="0" y="6800850"/>
            <a:ext cx="5020235"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7">
            <a:extLst xmlns:a="http://schemas.openxmlformats.org/drawingml/2006/main">
              <a:ext uri="{FF2B5EF4-FFF2-40B4-BE49-F238E27FC236}">
                <a16:creationId xmlns:a16="http://schemas.microsoft.com/office/drawing/2014/main" id="{D4A33F3D-50D8-459E-8457-722835FD46A0}"/>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7">
            <a:extLst xmlns:a="http://schemas.openxmlformats.org/drawingml/2006/main">
              <a:ext uri="{FF2B5EF4-FFF2-40B4-BE49-F238E27FC236}">
                <a16:creationId xmlns:a16="http://schemas.microsoft.com/office/drawing/2014/main" id="{76EB70F9-023E-49DA-A737-D428EC524DFD}"/>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07 / 17</a:t>
            </a:r>
          </a:p>
        </p:txBody>
      </p:sp>
    </p:spTree>
    <p:extLst>
      <p:ext uri="{BB962C8B-B14F-4D97-AF65-F5344CB8AC3E}">
        <p14:creationId xmlns:p14="http://schemas.microsoft.com/office/powerpoint/2010/main" val="1509680278"/>
      </p:ext>
    </p:extLst>
  </p:cSld>
</p:sld>
</file>

<file path=ppt/slides/slide8.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8">
            <a:extLst xmlns:a="http://schemas.openxmlformats.org/drawingml/2006/main">
              <a:ext uri="{FF2B5EF4-FFF2-40B4-BE49-F238E27FC236}">
                <a16:creationId xmlns:a16="http://schemas.microsoft.com/office/drawing/2014/main" id="{9223AF6A-5679-4CAC-AE14-766C06ADCFB1}"/>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WAAROM VOORAF GEDRUKT PAPIER?</a:t>
            </a:r>
          </a:p>
        </p:txBody>
      </p:sp>
      <p:sp>
        <p:nvSpPr>
          <p:cNvPr id="2" name="title-8">
            <a:extLst xmlns:a="http://schemas.openxmlformats.org/drawingml/2006/main">
              <a:ext uri="{FF2B5EF4-FFF2-40B4-BE49-F238E27FC236}">
                <a16:creationId xmlns:a16="http://schemas.microsoft.com/office/drawing/2014/main" id="{64C23BFA-AEDE-4847-A5C5-C068A35E8DE3}"/>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Vooraf gedrukte briefjes geven rust</a:t>
            </a:r>
          </a:p>
        </p:txBody>
      </p:sp>
      <p:sp>
        <p:nvSpPr>
          <p:cNvPr id="3" name="accent-8">
            <a:extLst xmlns:a="http://schemas.openxmlformats.org/drawingml/2006/main">
              <a:ext uri="{FF2B5EF4-FFF2-40B4-BE49-F238E27FC236}">
                <a16:creationId xmlns:a16="http://schemas.microsoft.com/office/drawing/2014/main" id="{7FE2C5B9-E7C7-4B87-B256-1918496EE469}"/>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8">
            <a:extLst xmlns:a="http://schemas.openxmlformats.org/drawingml/2006/main">
              <a:ext uri="{FF2B5EF4-FFF2-40B4-BE49-F238E27FC236}">
                <a16:creationId xmlns:a16="http://schemas.microsoft.com/office/drawing/2014/main" id="{A95FEF39-36F6-4C4A-B728-155FCFD849E7}"/>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Geen QR-code van een ver scherm scannen</a:t>
            </a:r>
          </a:p>
          <a:p xmlns:a="http://schemas.openxmlformats.org/drawingml/2006/main">
            <a:pPr>
              <a:buNone/>
              <a:defRPr sz="1575">
                <a:solidFill>
                  <a:srgbClr val="17212D"/>
                </a:solidFill>
              </a:defRPr>
            </a:pPr>
            <a:r>
              <a:rPr sz="1575">
                <a:solidFill>
                  <a:srgbClr val="17212D"/>
                </a:solidFill>
              </a:rPr>
              <a:t>• Iedereen houdt alle stappen zelf bij de hand</a:t>
            </a:r>
          </a:p>
          <a:p xmlns:a="http://schemas.openxmlformats.org/drawingml/2006/main">
            <a:pPr>
              <a:buNone/>
              <a:defRPr sz="1575">
                <a:solidFill>
                  <a:srgbClr val="17212D"/>
                </a:solidFill>
              </a:defRPr>
            </a:pPr>
            <a:r>
              <a:rPr sz="1575">
                <a:solidFill>
                  <a:srgbClr val="17212D"/>
                </a:solidFill>
              </a:rPr>
              <a:t>• QR-code, link en quizcode bieden een reserveweg</a:t>
            </a:r>
          </a:p>
        </p:txBody>
      </p:sp>
      <p:sp>
        <p:nvSpPr>
          <p:cNvPr id="5" name="takeaway-box-8">
            <a:extLst xmlns:a="http://schemas.openxmlformats.org/drawingml/2006/main">
              <a:ext uri="{FF2B5EF4-FFF2-40B4-BE49-F238E27FC236}">
                <a16:creationId xmlns:a16="http://schemas.microsoft.com/office/drawing/2014/main" id="{39487D43-B28C-4623-A228-D5B91F8BC620}"/>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8">
            <a:extLst xmlns:a="http://schemas.openxmlformats.org/drawingml/2006/main">
              <a:ext uri="{FF2B5EF4-FFF2-40B4-BE49-F238E27FC236}">
                <a16:creationId xmlns:a16="http://schemas.microsoft.com/office/drawing/2014/main" id="{65D315BC-BD84-475B-B0A4-3513A278C067}"/>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8">
            <a:extLst xmlns:a="http://schemas.openxmlformats.org/drawingml/2006/main">
              <a:ext uri="{FF2B5EF4-FFF2-40B4-BE49-F238E27FC236}">
                <a16:creationId xmlns:a16="http://schemas.microsoft.com/office/drawing/2014/main" id="{5C9A1F9A-60EB-498A-9DC8-F686090DF75A}"/>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Instructie, toegang en hulp staan samen op één briefje.</a:t>
            </a:r>
          </a:p>
        </p:txBody>
      </p:sp>
      <p:sp>
        <p:nvSpPr>
          <p:cNvPr id="8" name="frame-deelnemersbriefje.jpg">
            <a:extLst xmlns:a="http://schemas.openxmlformats.org/drawingml/2006/main">
              <a:ext uri="{FF2B5EF4-FFF2-40B4-BE49-F238E27FC236}">
                <a16:creationId xmlns:a16="http://schemas.microsoft.com/office/drawing/2014/main" id="{576D1F2E-4C87-4C13-BB21-62405A87F41F}"/>
              </a:ext>
            </a:extLst>
          </p:cNvPr>
          <p:cNvSpPr>
            <a:spLocks xmlns:a="http://schemas.openxmlformats.org/drawingml/2006/main" noGrp="1"/>
          </p:cNvSpPr>
          <p:nvPr/>
        </p:nvSpPr>
        <p:spPr>
          <a:xfrm xmlns:a="http://schemas.openxmlformats.org/drawingml/2006/main">
            <a:off x="5905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2d7c3da82294c70"/>
          <a:stretch xmlns:a="http://schemas.openxmlformats.org/drawingml/2006/main"/>
        </p:blipFill>
        <p:spPr>
          <a:xfrm xmlns:a="http://schemas.openxmlformats.org/drawingml/2006/main">
            <a:off x="685800" y="1612210"/>
            <a:ext cx="6286500" cy="3538330"/>
          </a:xfrm>
          <a:prstGeom xmlns:a="http://schemas.openxmlformats.org/drawingml/2006/main" prst="roundRect">
            <a:avLst>
              <a:gd name="adj" fmla="val 2094"/>
            </a:avLst>
          </a:prstGeom>
        </p:spPr>
      </p:pic>
      <p:sp>
        <p:nvSpPr>
          <p:cNvPr id="10" name="image-caption-8">
            <a:extLst xmlns:a="http://schemas.openxmlformats.org/drawingml/2006/main">
              <a:ext uri="{FF2B5EF4-FFF2-40B4-BE49-F238E27FC236}">
                <a16:creationId xmlns:a16="http://schemas.microsoft.com/office/drawing/2014/main" id="{3572E420-5A4F-4038-86DD-473F525ADA6C}"/>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8">
            <a:extLst xmlns:a="http://schemas.openxmlformats.org/drawingml/2006/main">
              <a:ext uri="{FF2B5EF4-FFF2-40B4-BE49-F238E27FC236}">
                <a16:creationId xmlns:a16="http://schemas.microsoft.com/office/drawing/2014/main" id="{1B38A6CA-91C6-41DD-99C8-26A2147914DF}"/>
              </a:ext>
            </a:extLst>
          </p:cNvPr>
          <p:cNvSpPr>
            <a:spLocks xmlns:a="http://schemas.openxmlformats.org/drawingml/2006/main" noGrp="1"/>
          </p:cNvSpPr>
          <p:nvPr/>
        </p:nvSpPr>
        <p:spPr>
          <a:xfrm xmlns:a="http://schemas.openxmlformats.org/drawingml/2006/main">
            <a:off x="0" y="6800850"/>
            <a:ext cx="5737412"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8">
            <a:extLst xmlns:a="http://schemas.openxmlformats.org/drawingml/2006/main">
              <a:ext uri="{FF2B5EF4-FFF2-40B4-BE49-F238E27FC236}">
                <a16:creationId xmlns:a16="http://schemas.microsoft.com/office/drawing/2014/main" id="{6ED3711B-99DD-4073-88AC-8A14C4F737F2}"/>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8">
            <a:extLst xmlns:a="http://schemas.openxmlformats.org/drawingml/2006/main">
              <a:ext uri="{FF2B5EF4-FFF2-40B4-BE49-F238E27FC236}">
                <a16:creationId xmlns:a16="http://schemas.microsoft.com/office/drawing/2014/main" id="{6982B9C0-9882-478B-931E-476495D15B15}"/>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08 / 17</a:t>
            </a:r>
          </a:p>
        </p:txBody>
      </p:sp>
    </p:spTree>
    <p:extLst>
      <p:ext uri="{BB962C8B-B14F-4D97-AF65-F5344CB8AC3E}">
        <p14:creationId xmlns:p14="http://schemas.microsoft.com/office/powerpoint/2010/main" val="1823507482"/>
      </p:ext>
    </p:extLst>
  </p:cSld>
</p:sld>
</file>

<file path=ppt/slides/slide9.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9">
            <a:extLst xmlns:a="http://schemas.openxmlformats.org/drawingml/2006/main">
              <a:ext uri="{FF2B5EF4-FFF2-40B4-BE49-F238E27FC236}">
                <a16:creationId xmlns:a16="http://schemas.microsoft.com/office/drawing/2014/main" id="{3B2BD7DC-B820-48F9-A39D-797039894D7D}"/>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VERWACHT HIER HET MEESTE OPONTHOUD</a:t>
            </a:r>
          </a:p>
        </p:txBody>
      </p:sp>
      <p:sp>
        <p:nvSpPr>
          <p:cNvPr id="2" name="title-9">
            <a:extLst xmlns:a="http://schemas.openxmlformats.org/drawingml/2006/main">
              <a:ext uri="{FF2B5EF4-FFF2-40B4-BE49-F238E27FC236}">
                <a16:creationId xmlns:a16="http://schemas.microsoft.com/office/drawing/2014/main" id="{D03287F4-73FD-4A2E-8C75-2568D46EF118}"/>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Maak van verbinden een apart onthaalmoment</a:t>
            </a:r>
          </a:p>
        </p:txBody>
      </p:sp>
      <p:sp>
        <p:nvSpPr>
          <p:cNvPr id="3" name="accent-9">
            <a:extLst xmlns:a="http://schemas.openxmlformats.org/drawingml/2006/main">
              <a:ext uri="{FF2B5EF4-FFF2-40B4-BE49-F238E27FC236}">
                <a16:creationId xmlns:a16="http://schemas.microsoft.com/office/drawing/2014/main" id="{BD6BC88C-EB12-42F4-825C-0BD616054414}"/>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9">
            <a:extLst xmlns:a="http://schemas.openxmlformats.org/drawingml/2006/main">
              <a:ext uri="{FF2B5EF4-FFF2-40B4-BE49-F238E27FC236}">
                <a16:creationId xmlns:a16="http://schemas.microsoft.com/office/drawing/2014/main" id="{E40B53BA-3BB4-47AE-93B5-704AA7367868}"/>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Voorzie 15–20 minuten vóór de quizstart</a:t>
            </a:r>
          </a:p>
          <a:p xmlns:a="http://schemas.openxmlformats.org/drawingml/2006/main">
            <a:pPr>
              <a:buNone/>
              <a:defRPr sz="1575">
                <a:solidFill>
                  <a:srgbClr val="17212D"/>
                </a:solidFill>
              </a:defRPr>
            </a:pPr>
            <a:r>
              <a:rPr sz="1575">
                <a:solidFill>
                  <a:srgbClr val="17212D"/>
                </a:solidFill>
              </a:rPr>
              <a:t>• Geef aan de ingang één vaste korte instructie</a:t>
            </a:r>
          </a:p>
          <a:p xmlns:a="http://schemas.openxmlformats.org/drawingml/2006/main">
            <a:pPr>
              <a:buNone/>
              <a:defRPr sz="1575">
                <a:solidFill>
                  <a:srgbClr val="17212D"/>
                </a:solidFill>
              </a:defRPr>
            </a:pPr>
            <a:r>
              <a:rPr sz="1575">
                <a:solidFill>
                  <a:srgbClr val="17212D"/>
                </a:solidFill>
              </a:rPr>
              <a:t>• Zet helpers bij de ingang én in de zaal</a:t>
            </a:r>
          </a:p>
        </p:txBody>
      </p:sp>
      <p:sp>
        <p:nvSpPr>
          <p:cNvPr id="5" name="takeaway-box-9">
            <a:extLst xmlns:a="http://schemas.openxmlformats.org/drawingml/2006/main">
              <a:ext uri="{FF2B5EF4-FFF2-40B4-BE49-F238E27FC236}">
                <a16:creationId xmlns:a16="http://schemas.microsoft.com/office/drawing/2014/main" id="{689F49DB-7F97-419E-8213-67FB4E268FB5}"/>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9">
            <a:extLst xmlns:a="http://schemas.openxmlformats.org/drawingml/2006/main">
              <a:ext uri="{FF2B5EF4-FFF2-40B4-BE49-F238E27FC236}">
                <a16:creationId xmlns:a16="http://schemas.microsoft.com/office/drawing/2014/main" id="{91CB088D-9CF3-4F5A-8C23-DE9550884ADB}"/>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9">
            <a:extLst xmlns:a="http://schemas.openxmlformats.org/drawingml/2006/main">
              <a:ext uri="{FF2B5EF4-FFF2-40B4-BE49-F238E27FC236}">
                <a16:creationId xmlns:a16="http://schemas.microsoft.com/office/drawing/2014/main" id="{C5650956-EC69-48E2-BE1E-A815DB4EF68B}"/>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Begin pas wanneer de verbindingsteller klopt.</a:t>
            </a:r>
          </a:p>
        </p:txBody>
      </p:sp>
      <p:sp>
        <p:nvSpPr>
          <p:cNvPr id="8" name="frame-deelnemersbriefje.jpg">
            <a:extLst xmlns:a="http://schemas.openxmlformats.org/drawingml/2006/main">
              <a:ext uri="{FF2B5EF4-FFF2-40B4-BE49-F238E27FC236}">
                <a16:creationId xmlns:a16="http://schemas.microsoft.com/office/drawing/2014/main" id="{2BB2FA7E-7B56-4123-80F9-B29980A60B38}"/>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a49e0bc55d84ca8"/>
          <a:stretch xmlns:a="http://schemas.openxmlformats.org/drawingml/2006/main"/>
        </p:blipFill>
        <p:spPr>
          <a:xfrm xmlns:a="http://schemas.openxmlformats.org/drawingml/2006/main">
            <a:off x="5219700" y="1612210"/>
            <a:ext cx="6286500" cy="3538330"/>
          </a:xfrm>
          <a:prstGeom xmlns:a="http://schemas.openxmlformats.org/drawingml/2006/main" prst="roundRect">
            <a:avLst>
              <a:gd name="adj" fmla="val 2094"/>
            </a:avLst>
          </a:prstGeom>
        </p:spPr>
      </p:pic>
      <p:sp>
        <p:nvSpPr>
          <p:cNvPr id="10" name="image-caption-9">
            <a:extLst xmlns:a="http://schemas.openxmlformats.org/drawingml/2006/main">
              <a:ext uri="{FF2B5EF4-FFF2-40B4-BE49-F238E27FC236}">
                <a16:creationId xmlns:a16="http://schemas.microsoft.com/office/drawing/2014/main" id="{A754034A-6FBE-4526-A745-D73D34614CC5}"/>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9">
            <a:extLst xmlns:a="http://schemas.openxmlformats.org/drawingml/2006/main">
              <a:ext uri="{FF2B5EF4-FFF2-40B4-BE49-F238E27FC236}">
                <a16:creationId xmlns:a16="http://schemas.microsoft.com/office/drawing/2014/main" id="{F1859262-461C-412E-A8DE-F0457B241D45}"/>
              </a:ext>
            </a:extLst>
          </p:cNvPr>
          <p:cNvSpPr>
            <a:spLocks xmlns:a="http://schemas.openxmlformats.org/drawingml/2006/main" noGrp="1"/>
          </p:cNvSpPr>
          <p:nvPr/>
        </p:nvSpPr>
        <p:spPr>
          <a:xfrm xmlns:a="http://schemas.openxmlformats.org/drawingml/2006/main">
            <a:off x="0" y="6800850"/>
            <a:ext cx="6454588"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9">
            <a:extLst xmlns:a="http://schemas.openxmlformats.org/drawingml/2006/main">
              <a:ext uri="{FF2B5EF4-FFF2-40B4-BE49-F238E27FC236}">
                <a16:creationId xmlns:a16="http://schemas.microsoft.com/office/drawing/2014/main" id="{B2D10D02-05F2-4B52-8A31-26244371D990}"/>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9">
            <a:extLst xmlns:a="http://schemas.openxmlformats.org/drawingml/2006/main">
              <a:ext uri="{FF2B5EF4-FFF2-40B4-BE49-F238E27FC236}">
                <a16:creationId xmlns:a16="http://schemas.microsoft.com/office/drawing/2014/main" id="{162C3FCE-F9C4-4678-B830-5644B20813D5}"/>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09 / 17</a:t>
            </a:r>
          </a:p>
        </p:txBody>
      </p:sp>
    </p:spTree>
    <p:extLst>
      <p:ext uri="{BB962C8B-B14F-4D97-AF65-F5344CB8AC3E}">
        <p14:creationId xmlns:p14="http://schemas.microsoft.com/office/powerpoint/2010/main" val="2033140887"/>
      </p:ext>
    </p:extLst>
  </p:cSld>
</p:sld>
</file>

<file path=ppt/slides/slide10.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10">
            <a:extLst xmlns:a="http://schemas.openxmlformats.org/drawingml/2006/main">
              <a:ext uri="{FF2B5EF4-FFF2-40B4-BE49-F238E27FC236}">
                <a16:creationId xmlns:a16="http://schemas.microsoft.com/office/drawing/2014/main" id="{29BECF5B-74F5-4094-A103-F480CEBF69EE}"/>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DEELNEMER · STAP 1</a:t>
            </a:r>
          </a:p>
        </p:txBody>
      </p:sp>
      <p:sp>
        <p:nvSpPr>
          <p:cNvPr id="2" name="title-10">
            <a:extLst xmlns:a="http://schemas.openxmlformats.org/drawingml/2006/main">
              <a:ext uri="{FF2B5EF4-FFF2-40B4-BE49-F238E27FC236}">
                <a16:creationId xmlns:a16="http://schemas.microsoft.com/office/drawing/2014/main" id="{D4716DF4-BF84-4523-AC92-457359D473FC}"/>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Gebruik alleen de verbinding die op het briefje staat</a:t>
            </a:r>
          </a:p>
        </p:txBody>
      </p:sp>
      <p:sp>
        <p:nvSpPr>
          <p:cNvPr id="3" name="accent-10">
            <a:extLst xmlns:a="http://schemas.openxmlformats.org/drawingml/2006/main">
              <a:ext uri="{FF2B5EF4-FFF2-40B4-BE49-F238E27FC236}">
                <a16:creationId xmlns:a16="http://schemas.microsoft.com/office/drawing/2014/main" id="{EAE7DFD1-AC86-4514-A45C-F3B643C8944D}"/>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0">
            <a:extLst xmlns:a="http://schemas.openxmlformats.org/drawingml/2006/main">
              <a:ext uri="{FF2B5EF4-FFF2-40B4-BE49-F238E27FC236}">
                <a16:creationId xmlns:a16="http://schemas.microsoft.com/office/drawing/2014/main" id="{57EF0A40-9082-4157-9A60-B08A12429BEB}"/>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Zonder zaalwifi: mobiele data aanzetten</a:t>
            </a:r>
          </a:p>
          <a:p xmlns:a="http://schemas.openxmlformats.org/drawingml/2006/main">
            <a:pPr>
              <a:buNone/>
              <a:defRPr sz="1575">
                <a:solidFill>
                  <a:srgbClr val="17212D"/>
                </a:solidFill>
              </a:defRPr>
            </a:pPr>
            <a:r>
              <a:rPr sz="1575">
                <a:solidFill>
                  <a:srgbClr val="17212D"/>
                </a:solidFill>
              </a:rPr>
              <a:t>• Met zaalwifi: mobiele data of wifi-QR-code</a:t>
            </a:r>
          </a:p>
          <a:p xmlns:a="http://schemas.openxmlformats.org/drawingml/2006/main">
            <a:pPr>
              <a:buNone/>
              <a:defRPr sz="1575">
                <a:solidFill>
                  <a:srgbClr val="17212D"/>
                </a:solidFill>
              </a:defRPr>
            </a:pPr>
            <a:r>
              <a:rPr sz="1575">
                <a:solidFill>
                  <a:srgbClr val="17212D"/>
                </a:solidFill>
              </a:rPr>
              <a:t>• Daarna kort controleren of internet werkt</a:t>
            </a:r>
          </a:p>
        </p:txBody>
      </p:sp>
      <p:sp>
        <p:nvSpPr>
          <p:cNvPr id="5" name="takeaway-box-10">
            <a:extLst xmlns:a="http://schemas.openxmlformats.org/drawingml/2006/main">
              <a:ext uri="{FF2B5EF4-FFF2-40B4-BE49-F238E27FC236}">
                <a16:creationId xmlns:a16="http://schemas.microsoft.com/office/drawing/2014/main" id="{E5B79C8B-6748-4FA5-805E-0FD56E969BB2}"/>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0">
            <a:extLst xmlns:a="http://schemas.openxmlformats.org/drawingml/2006/main">
              <a:ext uri="{FF2B5EF4-FFF2-40B4-BE49-F238E27FC236}">
                <a16:creationId xmlns:a16="http://schemas.microsoft.com/office/drawing/2014/main" id="{7F3ED053-2D86-423F-B564-C9621296CE54}"/>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0">
            <a:extLst xmlns:a="http://schemas.openxmlformats.org/drawingml/2006/main">
              <a:ext uri="{FF2B5EF4-FFF2-40B4-BE49-F238E27FC236}">
                <a16:creationId xmlns:a16="http://schemas.microsoft.com/office/drawing/2014/main" id="{BE4871B7-7CDA-4F7B-B853-CD62CB63E671}"/>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Niet-beschikbare wifi wordt nooit op het briefje getoond.</a:t>
            </a:r>
          </a:p>
        </p:txBody>
      </p:sp>
      <p:sp>
        <p:nvSpPr>
          <p:cNvPr id="8" name="frame-deelnemersbriefje.jpg">
            <a:extLst xmlns:a="http://schemas.openxmlformats.org/drawingml/2006/main">
              <a:ext uri="{FF2B5EF4-FFF2-40B4-BE49-F238E27FC236}">
                <a16:creationId xmlns:a16="http://schemas.microsoft.com/office/drawing/2014/main" id="{792FBAEF-15D3-4538-B911-1757AE9106AA}"/>
              </a:ext>
            </a:extLst>
          </p:cNvPr>
          <p:cNvSpPr>
            <a:spLocks xmlns:a="http://schemas.openxmlformats.org/drawingml/2006/main" noGrp="1"/>
          </p:cNvSpPr>
          <p:nvPr/>
        </p:nvSpPr>
        <p:spPr>
          <a:xfrm xmlns:a="http://schemas.openxmlformats.org/drawingml/2006/main">
            <a:off x="5905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28d912a4dc24b1c"/>
          <a:stretch xmlns:a="http://schemas.openxmlformats.org/drawingml/2006/main"/>
        </p:blipFill>
        <p:spPr>
          <a:xfrm xmlns:a="http://schemas.openxmlformats.org/drawingml/2006/main">
            <a:off x="685800" y="1612210"/>
            <a:ext cx="6286500" cy="3538330"/>
          </a:xfrm>
          <a:prstGeom xmlns:a="http://schemas.openxmlformats.org/drawingml/2006/main" prst="roundRect">
            <a:avLst>
              <a:gd name="adj" fmla="val 2094"/>
            </a:avLst>
          </a:prstGeom>
        </p:spPr>
      </p:pic>
      <p:sp>
        <p:nvSpPr>
          <p:cNvPr id="10" name="image-caption-10">
            <a:extLst xmlns:a="http://schemas.openxmlformats.org/drawingml/2006/main">
              <a:ext uri="{FF2B5EF4-FFF2-40B4-BE49-F238E27FC236}">
                <a16:creationId xmlns:a16="http://schemas.microsoft.com/office/drawing/2014/main" id="{2726A321-5669-49C0-B9A0-07987E85811A}"/>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10">
            <a:extLst xmlns:a="http://schemas.openxmlformats.org/drawingml/2006/main">
              <a:ext uri="{FF2B5EF4-FFF2-40B4-BE49-F238E27FC236}">
                <a16:creationId xmlns:a16="http://schemas.microsoft.com/office/drawing/2014/main" id="{DD43CC97-DBAE-48E0-9A01-FAC006910142}"/>
              </a:ext>
            </a:extLst>
          </p:cNvPr>
          <p:cNvSpPr>
            <a:spLocks xmlns:a="http://schemas.openxmlformats.org/drawingml/2006/main" noGrp="1"/>
          </p:cNvSpPr>
          <p:nvPr/>
        </p:nvSpPr>
        <p:spPr>
          <a:xfrm xmlns:a="http://schemas.openxmlformats.org/drawingml/2006/main">
            <a:off x="0" y="6800850"/>
            <a:ext cx="7171765"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10">
            <a:extLst xmlns:a="http://schemas.openxmlformats.org/drawingml/2006/main">
              <a:ext uri="{FF2B5EF4-FFF2-40B4-BE49-F238E27FC236}">
                <a16:creationId xmlns:a16="http://schemas.microsoft.com/office/drawing/2014/main" id="{B1680E84-7502-4ECB-884E-472E9040C687}"/>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10">
            <a:extLst xmlns:a="http://schemas.openxmlformats.org/drawingml/2006/main">
              <a:ext uri="{FF2B5EF4-FFF2-40B4-BE49-F238E27FC236}">
                <a16:creationId xmlns:a16="http://schemas.microsoft.com/office/drawing/2014/main" id="{D14893B3-DF83-492B-B3A5-EAC406C2228B}"/>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10 / 17</a:t>
            </a:r>
          </a:p>
        </p:txBody>
      </p:sp>
    </p:spTree>
    <p:extLst>
      <p:ext uri="{BB962C8B-B14F-4D97-AF65-F5344CB8AC3E}">
        <p14:creationId xmlns:p14="http://schemas.microsoft.com/office/powerpoint/2010/main" val="285941513"/>
      </p:ext>
    </p:extLst>
  </p:cSld>
</p:sld>
</file>

<file path=ppt/slides/slide11.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11">
            <a:extLst xmlns:a="http://schemas.openxmlformats.org/drawingml/2006/main">
              <a:ext uri="{FF2B5EF4-FFF2-40B4-BE49-F238E27FC236}">
                <a16:creationId xmlns:a16="http://schemas.microsoft.com/office/drawing/2014/main" id="{C79B078A-AEA1-40B5-B712-23D937700540}"/>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DEELNEMER · STAP 2</a:t>
            </a:r>
          </a:p>
        </p:txBody>
      </p:sp>
      <p:sp>
        <p:nvSpPr>
          <p:cNvPr id="2" name="title-11">
            <a:extLst xmlns:a="http://schemas.openxmlformats.org/drawingml/2006/main">
              <a:ext uri="{FF2B5EF4-FFF2-40B4-BE49-F238E27FC236}">
                <a16:creationId xmlns:a16="http://schemas.microsoft.com/office/drawing/2014/main" id="{A65532BC-4297-43DB-B704-51C2E0C3FAF1}"/>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Open daarna de quiz vanaf hetzelfde briefje</a:t>
            </a:r>
          </a:p>
        </p:txBody>
      </p:sp>
      <p:sp>
        <p:nvSpPr>
          <p:cNvPr id="3" name="accent-11">
            <a:extLst xmlns:a="http://schemas.openxmlformats.org/drawingml/2006/main">
              <a:ext uri="{FF2B5EF4-FFF2-40B4-BE49-F238E27FC236}">
                <a16:creationId xmlns:a16="http://schemas.microsoft.com/office/drawing/2014/main" id="{6B8918EE-AAA5-460F-87FD-C22D5DE8F6BC}"/>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1">
            <a:extLst xmlns:a="http://schemas.openxmlformats.org/drawingml/2006/main">
              <a:ext uri="{FF2B5EF4-FFF2-40B4-BE49-F238E27FC236}">
                <a16:creationId xmlns:a16="http://schemas.microsoft.com/office/drawing/2014/main" id="{8B73E38A-D09A-46CC-BEAF-BABBA31FB69C}"/>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Scan de tweede QR-code en tik op de link</a:t>
            </a:r>
          </a:p>
          <a:p xmlns:a="http://schemas.openxmlformats.org/drawingml/2006/main">
            <a:pPr>
              <a:buNone/>
              <a:defRPr sz="1575">
                <a:solidFill>
                  <a:srgbClr val="17212D"/>
                </a:solidFill>
              </a:defRPr>
            </a:pPr>
            <a:r>
              <a:rPr sz="1575">
                <a:solidFill>
                  <a:srgbClr val="17212D"/>
                </a:solidFill>
              </a:rPr>
              <a:t>• Of typ de link rechtstreeks in de adresbalk</a:t>
            </a:r>
          </a:p>
          <a:p xmlns:a="http://schemas.openxmlformats.org/drawingml/2006/main">
            <a:pPr>
              <a:buNone/>
              <a:defRPr sz="1575">
                <a:solidFill>
                  <a:srgbClr val="17212D"/>
                </a:solidFill>
              </a:defRPr>
            </a:pPr>
            <a:r>
              <a:rPr sz="1575">
                <a:solidFill>
                  <a:srgbClr val="17212D"/>
                </a:solidFill>
              </a:rPr>
              <a:t>• Vul indien gevraagd de drie cijfers in</a:t>
            </a:r>
          </a:p>
        </p:txBody>
      </p:sp>
      <p:sp>
        <p:nvSpPr>
          <p:cNvPr id="5" name="takeaway-box-11">
            <a:extLst xmlns:a="http://schemas.openxmlformats.org/drawingml/2006/main">
              <a:ext uri="{FF2B5EF4-FFF2-40B4-BE49-F238E27FC236}">
                <a16:creationId xmlns:a16="http://schemas.microsoft.com/office/drawing/2014/main" id="{AA0E309B-344C-49E0-8903-FC6E33F6424E}"/>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1">
            <a:extLst xmlns:a="http://schemas.openxmlformats.org/drawingml/2006/main">
              <a:ext uri="{FF2B5EF4-FFF2-40B4-BE49-F238E27FC236}">
                <a16:creationId xmlns:a16="http://schemas.microsoft.com/office/drawing/2014/main" id="{3A965EA7-332F-434F-AEC2-8E6F7025F8F3}"/>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1">
            <a:extLst xmlns:a="http://schemas.openxmlformats.org/drawingml/2006/main">
              <a:ext uri="{FF2B5EF4-FFF2-40B4-BE49-F238E27FC236}">
                <a16:creationId xmlns:a16="http://schemas.microsoft.com/office/drawing/2014/main" id="{B8DD7F59-733F-4ABA-BF02-4E67246E1B21}"/>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Niet via Google zoeken — gebruik de adresbalk van de browser.</a:t>
            </a:r>
          </a:p>
        </p:txBody>
      </p:sp>
      <p:sp>
        <p:nvSpPr>
          <p:cNvPr id="8" name="frame-deelnemersbriefje.jpg">
            <a:extLst xmlns:a="http://schemas.openxmlformats.org/drawingml/2006/main">
              <a:ext uri="{FF2B5EF4-FFF2-40B4-BE49-F238E27FC236}">
                <a16:creationId xmlns:a16="http://schemas.microsoft.com/office/drawing/2014/main" id="{B4812442-3494-4A17-899A-DA75149C9AE6}"/>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47a9cb7b5784943"/>
          <a:stretch xmlns:a="http://schemas.openxmlformats.org/drawingml/2006/main"/>
        </p:blipFill>
        <p:spPr>
          <a:xfrm xmlns:a="http://schemas.openxmlformats.org/drawingml/2006/main">
            <a:off x="5219700" y="1612210"/>
            <a:ext cx="6286500" cy="3538330"/>
          </a:xfrm>
          <a:prstGeom xmlns:a="http://schemas.openxmlformats.org/drawingml/2006/main" prst="roundRect">
            <a:avLst>
              <a:gd name="adj" fmla="val 2094"/>
            </a:avLst>
          </a:prstGeom>
        </p:spPr>
      </p:pic>
      <p:sp>
        <p:nvSpPr>
          <p:cNvPr id="10" name="image-caption-11">
            <a:extLst xmlns:a="http://schemas.openxmlformats.org/drawingml/2006/main">
              <a:ext uri="{FF2B5EF4-FFF2-40B4-BE49-F238E27FC236}">
                <a16:creationId xmlns:a16="http://schemas.microsoft.com/office/drawing/2014/main" id="{4A4303DB-8F6A-4259-A092-8F30B6572237}"/>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11">
            <a:extLst xmlns:a="http://schemas.openxmlformats.org/drawingml/2006/main">
              <a:ext uri="{FF2B5EF4-FFF2-40B4-BE49-F238E27FC236}">
                <a16:creationId xmlns:a16="http://schemas.microsoft.com/office/drawing/2014/main" id="{530F4811-4190-45C5-A599-FFE660DA6312}"/>
              </a:ext>
            </a:extLst>
          </p:cNvPr>
          <p:cNvSpPr>
            <a:spLocks xmlns:a="http://schemas.openxmlformats.org/drawingml/2006/main" noGrp="1"/>
          </p:cNvSpPr>
          <p:nvPr/>
        </p:nvSpPr>
        <p:spPr>
          <a:xfrm xmlns:a="http://schemas.openxmlformats.org/drawingml/2006/main">
            <a:off x="0" y="6800850"/>
            <a:ext cx="7888941"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11">
            <a:extLst xmlns:a="http://schemas.openxmlformats.org/drawingml/2006/main">
              <a:ext uri="{FF2B5EF4-FFF2-40B4-BE49-F238E27FC236}">
                <a16:creationId xmlns:a16="http://schemas.microsoft.com/office/drawing/2014/main" id="{AC6D6222-07FF-4575-BE3A-CE18A3F4CEF8}"/>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11">
            <a:extLst xmlns:a="http://schemas.openxmlformats.org/drawingml/2006/main">
              <a:ext uri="{FF2B5EF4-FFF2-40B4-BE49-F238E27FC236}">
                <a16:creationId xmlns:a16="http://schemas.microsoft.com/office/drawing/2014/main" id="{99F924E9-E861-4CF6-A316-3F51E4EAD611}"/>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11 / 17</a:t>
            </a:r>
          </a:p>
        </p:txBody>
      </p:sp>
    </p:spTree>
    <p:extLst>
      <p:ext uri="{BB962C8B-B14F-4D97-AF65-F5344CB8AC3E}">
        <p14:creationId xmlns:p14="http://schemas.microsoft.com/office/powerpoint/2010/main" val="1370924658"/>
      </p:ext>
    </p:extLst>
  </p:cSld>
</p:sld>
</file>

<file path=ppt/slides/slide12.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12">
            <a:extLst xmlns:a="http://schemas.openxmlformats.org/drawingml/2006/main">
              <a:ext uri="{FF2B5EF4-FFF2-40B4-BE49-F238E27FC236}">
                <a16:creationId xmlns:a16="http://schemas.microsoft.com/office/drawing/2014/main" id="{BECA77A0-233D-443D-9028-C5FF54F3C17E}"/>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DEELNEMER VERBONDEN</a:t>
            </a:r>
          </a:p>
        </p:txBody>
      </p:sp>
      <p:sp>
        <p:nvSpPr>
          <p:cNvPr id="2" name="title-12">
            <a:extLst xmlns:a="http://schemas.openxmlformats.org/drawingml/2006/main">
              <a:ext uri="{FF2B5EF4-FFF2-40B4-BE49-F238E27FC236}">
                <a16:creationId xmlns:a16="http://schemas.microsoft.com/office/drawing/2014/main" id="{DFD17651-CF35-46D2-9676-51F8DAA8C7F7}"/>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In de wachtkamer hoeft men niets meer te doen</a:t>
            </a:r>
          </a:p>
        </p:txBody>
      </p:sp>
      <p:sp>
        <p:nvSpPr>
          <p:cNvPr id="3" name="accent-12">
            <a:extLst xmlns:a="http://schemas.openxmlformats.org/drawingml/2006/main">
              <a:ext uri="{FF2B5EF4-FFF2-40B4-BE49-F238E27FC236}">
                <a16:creationId xmlns:a16="http://schemas.microsoft.com/office/drawing/2014/main" id="{57EB5E54-1314-4B8B-A945-2E971E7E8DCB}"/>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2">
            <a:extLst xmlns:a="http://schemas.openxmlformats.org/drawingml/2006/main">
              <a:ext uri="{FF2B5EF4-FFF2-40B4-BE49-F238E27FC236}">
                <a16:creationId xmlns:a16="http://schemas.microsoft.com/office/drawing/2014/main" id="{5D2DE0AF-31F9-421F-B6DF-5694FFA87D5F}"/>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De quizcode wordt bevestigd</a:t>
            </a:r>
          </a:p>
          <a:p xmlns:a="http://schemas.openxmlformats.org/drawingml/2006/main">
            <a:pPr>
              <a:buNone/>
              <a:defRPr sz="1575">
                <a:solidFill>
                  <a:srgbClr val="17212D"/>
                </a:solidFill>
              </a:defRPr>
            </a:pPr>
            <a:r>
              <a:rPr sz="1575">
                <a:solidFill>
                  <a:srgbClr val="17212D"/>
                </a:solidFill>
              </a:rPr>
              <a:t>• De status toont U bent verbonden</a:t>
            </a:r>
          </a:p>
          <a:p xmlns:a="http://schemas.openxmlformats.org/drawingml/2006/main">
            <a:pPr>
              <a:buNone/>
              <a:defRPr sz="1575">
                <a:solidFill>
                  <a:srgbClr val="17212D"/>
                </a:solidFill>
              </a:defRPr>
            </a:pPr>
            <a:r>
              <a:rPr sz="1575">
                <a:solidFill>
                  <a:srgbClr val="17212D"/>
                </a:solidFill>
              </a:rPr>
              <a:t>• Nieuwe vragen verschijnen vanzelf</a:t>
            </a:r>
          </a:p>
        </p:txBody>
      </p:sp>
      <p:sp>
        <p:nvSpPr>
          <p:cNvPr id="5" name="takeaway-box-12">
            <a:extLst xmlns:a="http://schemas.openxmlformats.org/drawingml/2006/main">
              <a:ext uri="{FF2B5EF4-FFF2-40B4-BE49-F238E27FC236}">
                <a16:creationId xmlns:a16="http://schemas.microsoft.com/office/drawing/2014/main" id="{E6643E83-EBA8-4EA4-A92D-69E72F5E9097}"/>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2">
            <a:extLst xmlns:a="http://schemas.openxmlformats.org/drawingml/2006/main">
              <a:ext uri="{FF2B5EF4-FFF2-40B4-BE49-F238E27FC236}">
                <a16:creationId xmlns:a16="http://schemas.microsoft.com/office/drawing/2014/main" id="{8B6F1E87-8467-40E1-A142-74149A54411B}"/>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2">
            <a:extLst xmlns:a="http://schemas.openxmlformats.org/drawingml/2006/main">
              <a:ext uri="{FF2B5EF4-FFF2-40B4-BE49-F238E27FC236}">
                <a16:creationId xmlns:a16="http://schemas.microsoft.com/office/drawing/2014/main" id="{66CDF569-B948-47BA-B8B4-B2A7E82D0343}"/>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Laat de pagina open; opnieuw scannen of vernieuwen is niet nodig.</a:t>
            </a:r>
          </a:p>
        </p:txBody>
      </p:sp>
      <p:sp>
        <p:nvSpPr>
          <p:cNvPr id="8" name="frame-deelnemer-wachtkamer.jpg">
            <a:extLst xmlns:a="http://schemas.openxmlformats.org/drawingml/2006/main">
              <a:ext uri="{FF2B5EF4-FFF2-40B4-BE49-F238E27FC236}">
                <a16:creationId xmlns:a16="http://schemas.microsoft.com/office/drawing/2014/main" id="{5EBF0143-C646-42FD-BF04-C79A3A7FF84F}"/>
              </a:ext>
            </a:extLst>
          </p:cNvPr>
          <p:cNvSpPr>
            <a:spLocks xmlns:a="http://schemas.openxmlformats.org/drawingml/2006/main" noGrp="1"/>
          </p:cNvSpPr>
          <p:nvPr/>
        </p:nvSpPr>
        <p:spPr>
          <a:xfrm xmlns:a="http://schemas.openxmlformats.org/drawingml/2006/main">
            <a:off x="5905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f04edfd043b4fe5"/>
          <a:stretch xmlns:a="http://schemas.openxmlformats.org/drawingml/2006/main"/>
        </p:blipFill>
        <p:spPr>
          <a:xfrm xmlns:a="http://schemas.openxmlformats.org/drawingml/2006/main">
            <a:off x="685800" y="1613297"/>
            <a:ext cx="6286500" cy="3536156"/>
          </a:xfrm>
          <a:prstGeom xmlns:a="http://schemas.openxmlformats.org/drawingml/2006/main" prst="roundRect">
            <a:avLst>
              <a:gd name="adj" fmla="val 2094"/>
            </a:avLst>
          </a:prstGeom>
        </p:spPr>
      </p:pic>
      <p:sp>
        <p:nvSpPr>
          <p:cNvPr id="10" name="image-caption-12">
            <a:extLst xmlns:a="http://schemas.openxmlformats.org/drawingml/2006/main">
              <a:ext uri="{FF2B5EF4-FFF2-40B4-BE49-F238E27FC236}">
                <a16:creationId xmlns:a16="http://schemas.microsoft.com/office/drawing/2014/main" id="{043FF0AB-D62C-418A-83B6-6DA68FB2DACB}"/>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12">
            <a:extLst xmlns:a="http://schemas.openxmlformats.org/drawingml/2006/main">
              <a:ext uri="{FF2B5EF4-FFF2-40B4-BE49-F238E27FC236}">
                <a16:creationId xmlns:a16="http://schemas.microsoft.com/office/drawing/2014/main" id="{29F8A7CC-5893-48D6-8036-6BBE8F14EFE4}"/>
              </a:ext>
            </a:extLst>
          </p:cNvPr>
          <p:cNvSpPr>
            <a:spLocks xmlns:a="http://schemas.openxmlformats.org/drawingml/2006/main" noGrp="1"/>
          </p:cNvSpPr>
          <p:nvPr/>
        </p:nvSpPr>
        <p:spPr>
          <a:xfrm xmlns:a="http://schemas.openxmlformats.org/drawingml/2006/main">
            <a:off x="0" y="6800850"/>
            <a:ext cx="8606118"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12">
            <a:extLst xmlns:a="http://schemas.openxmlformats.org/drawingml/2006/main">
              <a:ext uri="{FF2B5EF4-FFF2-40B4-BE49-F238E27FC236}">
                <a16:creationId xmlns:a16="http://schemas.microsoft.com/office/drawing/2014/main" id="{724D803A-40B6-465D-B1F1-7D63745B57C3}"/>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12">
            <a:extLst xmlns:a="http://schemas.openxmlformats.org/drawingml/2006/main">
              <a:ext uri="{FF2B5EF4-FFF2-40B4-BE49-F238E27FC236}">
                <a16:creationId xmlns:a16="http://schemas.microsoft.com/office/drawing/2014/main" id="{299B5752-536D-465C-B1D2-DA9A3FD602E9}"/>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12 / 17</a:t>
            </a:r>
          </a:p>
        </p:txBody>
      </p:sp>
    </p:spTree>
    <p:extLst>
      <p:ext uri="{BB962C8B-B14F-4D97-AF65-F5344CB8AC3E}">
        <p14:creationId xmlns:p14="http://schemas.microsoft.com/office/powerpoint/2010/main" val="2108177785"/>
      </p:ext>
    </p:extLst>
  </p:cSld>
</p:sld>
</file>

<file path=ppt/slides/slide13.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13">
            <a:extLst xmlns:a="http://schemas.openxmlformats.org/drawingml/2006/main">
              <a:ext uri="{FF2B5EF4-FFF2-40B4-BE49-F238E27FC236}">
                <a16:creationId xmlns:a16="http://schemas.microsoft.com/office/drawing/2014/main" id="{375B572B-1C31-4BF7-9375-C0171F824F1D}"/>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ANTWOORDEN OP DE GSM</a:t>
            </a:r>
          </a:p>
        </p:txBody>
      </p:sp>
      <p:sp>
        <p:nvSpPr>
          <p:cNvPr id="2" name="title-13">
            <a:extLst xmlns:a="http://schemas.openxmlformats.org/drawingml/2006/main">
              <a:ext uri="{FF2B5EF4-FFF2-40B4-BE49-F238E27FC236}">
                <a16:creationId xmlns:a16="http://schemas.microsoft.com/office/drawing/2014/main" id="{F19D807D-00FE-436A-9427-414A77A13273}"/>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Iedere deelnemer kiest één antwoord</a:t>
            </a:r>
          </a:p>
        </p:txBody>
      </p:sp>
      <p:sp>
        <p:nvSpPr>
          <p:cNvPr id="3" name="accent-13">
            <a:extLst xmlns:a="http://schemas.openxmlformats.org/drawingml/2006/main">
              <a:ext uri="{FF2B5EF4-FFF2-40B4-BE49-F238E27FC236}">
                <a16:creationId xmlns:a16="http://schemas.microsoft.com/office/drawing/2014/main" id="{5381EB81-12ED-4536-928B-BF58BC1DAAF9}"/>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3">
            <a:extLst xmlns:a="http://schemas.openxmlformats.org/drawingml/2006/main">
              <a:ext uri="{FF2B5EF4-FFF2-40B4-BE49-F238E27FC236}">
                <a16:creationId xmlns:a16="http://schemas.microsoft.com/office/drawing/2014/main" id="{81CAF9CB-04FE-437D-B055-9FF228EA7362}"/>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Eén duidelijke vraag</a:t>
            </a:r>
          </a:p>
          <a:p xmlns:a="http://schemas.openxmlformats.org/drawingml/2006/main">
            <a:pPr>
              <a:buNone/>
              <a:defRPr sz="1575">
                <a:solidFill>
                  <a:srgbClr val="17212D"/>
                </a:solidFill>
              </a:defRPr>
            </a:pPr>
            <a:r>
              <a:rPr sz="1575">
                <a:solidFill>
                  <a:srgbClr val="17212D"/>
                </a:solidFill>
              </a:rPr>
              <a:t>• Vier grote antwoordknoppen</a:t>
            </a:r>
          </a:p>
          <a:p xmlns:a="http://schemas.openxmlformats.org/drawingml/2006/main">
            <a:pPr>
              <a:buNone/>
              <a:defRPr sz="1575">
                <a:solidFill>
                  <a:srgbClr val="17212D"/>
                </a:solidFill>
              </a:defRPr>
            </a:pPr>
            <a:r>
              <a:rPr sz="1575">
                <a:solidFill>
                  <a:srgbClr val="17212D"/>
                </a:solidFill>
              </a:rPr>
              <a:t>• Ieder antwoord wordt één keer bewaard</a:t>
            </a:r>
          </a:p>
        </p:txBody>
      </p:sp>
      <p:sp>
        <p:nvSpPr>
          <p:cNvPr id="5" name="takeaway-box-13">
            <a:extLst xmlns:a="http://schemas.openxmlformats.org/drawingml/2006/main">
              <a:ext uri="{FF2B5EF4-FFF2-40B4-BE49-F238E27FC236}">
                <a16:creationId xmlns:a16="http://schemas.microsoft.com/office/drawing/2014/main" id="{E5DCD467-B536-4464-8D82-C0442725C2FA}"/>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3">
            <a:extLst xmlns:a="http://schemas.openxmlformats.org/drawingml/2006/main">
              <a:ext uri="{FF2B5EF4-FFF2-40B4-BE49-F238E27FC236}">
                <a16:creationId xmlns:a16="http://schemas.microsoft.com/office/drawing/2014/main" id="{59077E87-5104-46C4-886F-A0D98CB5E634}"/>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3">
            <a:extLst xmlns:a="http://schemas.openxmlformats.org/drawingml/2006/main">
              <a:ext uri="{FF2B5EF4-FFF2-40B4-BE49-F238E27FC236}">
                <a16:creationId xmlns:a16="http://schemas.microsoft.com/office/drawing/2014/main" id="{137EC3BD-2E7F-4123-8FC7-A8FBA7CACC1E}"/>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Een bevestiging toont dat het antwoord is ontvangen.</a:t>
            </a:r>
          </a:p>
        </p:txBody>
      </p:sp>
      <p:sp>
        <p:nvSpPr>
          <p:cNvPr id="8" name="frame-deelnemer-vraag.jpg">
            <a:extLst xmlns:a="http://schemas.openxmlformats.org/drawingml/2006/main">
              <a:ext uri="{FF2B5EF4-FFF2-40B4-BE49-F238E27FC236}">
                <a16:creationId xmlns:a16="http://schemas.microsoft.com/office/drawing/2014/main" id="{FA4648FA-FA6F-46D3-AEF4-C65DD99626BA}"/>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fc368bf259e4cd4"/>
          <a:stretch xmlns:a="http://schemas.openxmlformats.org/drawingml/2006/main"/>
        </p:blipFill>
        <p:spPr>
          <a:xfrm xmlns:a="http://schemas.openxmlformats.org/drawingml/2006/main">
            <a:off x="5219700" y="1612210"/>
            <a:ext cx="6286500" cy="3538330"/>
          </a:xfrm>
          <a:prstGeom xmlns:a="http://schemas.openxmlformats.org/drawingml/2006/main" prst="roundRect">
            <a:avLst>
              <a:gd name="adj" fmla="val 2094"/>
            </a:avLst>
          </a:prstGeom>
        </p:spPr>
      </p:pic>
      <p:sp>
        <p:nvSpPr>
          <p:cNvPr id="10" name="image-caption-13">
            <a:extLst xmlns:a="http://schemas.openxmlformats.org/drawingml/2006/main">
              <a:ext uri="{FF2B5EF4-FFF2-40B4-BE49-F238E27FC236}">
                <a16:creationId xmlns:a16="http://schemas.microsoft.com/office/drawing/2014/main" id="{AE2A39D5-F8B4-41FD-8352-CBADF5728DED}"/>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13">
            <a:extLst xmlns:a="http://schemas.openxmlformats.org/drawingml/2006/main">
              <a:ext uri="{FF2B5EF4-FFF2-40B4-BE49-F238E27FC236}">
                <a16:creationId xmlns:a16="http://schemas.microsoft.com/office/drawing/2014/main" id="{AFD9DAB6-28F5-4F22-8335-2C881FC03088}"/>
              </a:ext>
            </a:extLst>
          </p:cNvPr>
          <p:cNvSpPr>
            <a:spLocks xmlns:a="http://schemas.openxmlformats.org/drawingml/2006/main" noGrp="1"/>
          </p:cNvSpPr>
          <p:nvPr/>
        </p:nvSpPr>
        <p:spPr>
          <a:xfrm xmlns:a="http://schemas.openxmlformats.org/drawingml/2006/main">
            <a:off x="0" y="6800850"/>
            <a:ext cx="9323294"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13">
            <a:extLst xmlns:a="http://schemas.openxmlformats.org/drawingml/2006/main">
              <a:ext uri="{FF2B5EF4-FFF2-40B4-BE49-F238E27FC236}">
                <a16:creationId xmlns:a16="http://schemas.microsoft.com/office/drawing/2014/main" id="{7EFD98B5-B07E-4B9C-BA98-69E6017CAB34}"/>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13">
            <a:extLst xmlns:a="http://schemas.openxmlformats.org/drawingml/2006/main">
              <a:ext uri="{FF2B5EF4-FFF2-40B4-BE49-F238E27FC236}">
                <a16:creationId xmlns:a16="http://schemas.microsoft.com/office/drawing/2014/main" id="{CE569AFA-9B76-42A1-A4D2-D53F1E5E60A6}"/>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13 / 17</a:t>
            </a:r>
          </a:p>
        </p:txBody>
      </p:sp>
    </p:spTree>
    <p:extLst>
      <p:ext uri="{BB962C8B-B14F-4D97-AF65-F5344CB8AC3E}">
        <p14:creationId xmlns:p14="http://schemas.microsoft.com/office/powerpoint/2010/main" val="209551680"/>
      </p:ext>
    </p:extLst>
  </p:cSld>
</p:sld>
</file>

<file path=ppt/slides/slide14.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14">
            <a:extLst xmlns:a="http://schemas.openxmlformats.org/drawingml/2006/main">
              <a:ext uri="{FF2B5EF4-FFF2-40B4-BE49-F238E27FC236}">
                <a16:creationId xmlns:a16="http://schemas.microsoft.com/office/drawing/2014/main" id="{24A1CAEA-DEEE-43B3-A1FA-3DE5EDDA7BF5}"/>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DE VRAGEN BEDIENEN</a:t>
            </a:r>
          </a:p>
        </p:txBody>
      </p:sp>
      <p:sp>
        <p:nvSpPr>
          <p:cNvPr id="2" name="title-14">
            <a:extLst xmlns:a="http://schemas.openxmlformats.org/drawingml/2006/main">
              <a:ext uri="{FF2B5EF4-FFF2-40B4-BE49-F238E27FC236}">
                <a16:creationId xmlns:a16="http://schemas.microsoft.com/office/drawing/2014/main" id="{CCE79F61-49B2-4E0F-98B3-FFCEF0169EB3}"/>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De quizmaster gebruikt de twee antwoordtellers</a:t>
            </a:r>
          </a:p>
        </p:txBody>
      </p:sp>
      <p:sp>
        <p:nvSpPr>
          <p:cNvPr id="3" name="accent-14">
            <a:extLst xmlns:a="http://schemas.openxmlformats.org/drawingml/2006/main">
              <a:ext uri="{FF2B5EF4-FFF2-40B4-BE49-F238E27FC236}">
                <a16:creationId xmlns:a16="http://schemas.microsoft.com/office/drawing/2014/main" id="{D5741CD3-BBAE-4F0F-8202-707EF0217CA0}"/>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4">
            <a:extLst xmlns:a="http://schemas.openxmlformats.org/drawingml/2006/main">
              <a:ext uri="{FF2B5EF4-FFF2-40B4-BE49-F238E27FC236}">
                <a16:creationId xmlns:a16="http://schemas.microsoft.com/office/drawing/2014/main" id="{823CF731-E3AB-46EF-A474-E22FB554296E}"/>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Hoeveel deelnemers zijn verbonden?</a:t>
            </a:r>
          </a:p>
          <a:p xmlns:a="http://schemas.openxmlformats.org/drawingml/2006/main">
            <a:pPr>
              <a:buNone/>
              <a:defRPr sz="1575">
                <a:solidFill>
                  <a:srgbClr val="17212D"/>
                </a:solidFill>
              </a:defRPr>
            </a:pPr>
            <a:r>
              <a:rPr sz="1575">
                <a:solidFill>
                  <a:srgbClr val="17212D"/>
                </a:solidFill>
              </a:rPr>
              <a:t>• Hoeveel antwoorden zijn ontvangen?</a:t>
            </a:r>
          </a:p>
          <a:p xmlns:a="http://schemas.openxmlformats.org/drawingml/2006/main">
            <a:pPr>
              <a:buNone/>
              <a:defRPr sz="1575">
                <a:solidFill>
                  <a:srgbClr val="17212D"/>
                </a:solidFill>
              </a:defRPr>
            </a:pPr>
            <a:r>
              <a:rPr sz="1575">
                <a:solidFill>
                  <a:srgbClr val="17212D"/>
                </a:solidFill>
              </a:rPr>
              <a:t>• Heeft iemand in de zaal nog hulp nodig?</a:t>
            </a:r>
          </a:p>
        </p:txBody>
      </p:sp>
      <p:sp>
        <p:nvSpPr>
          <p:cNvPr id="5" name="takeaway-box-14">
            <a:extLst xmlns:a="http://schemas.openxmlformats.org/drawingml/2006/main">
              <a:ext uri="{FF2B5EF4-FFF2-40B4-BE49-F238E27FC236}">
                <a16:creationId xmlns:a16="http://schemas.microsoft.com/office/drawing/2014/main" id="{6DF81ABA-775D-45B3-822F-BED0F6B444BC}"/>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4">
            <a:extLst xmlns:a="http://schemas.openxmlformats.org/drawingml/2006/main">
              <a:ext uri="{FF2B5EF4-FFF2-40B4-BE49-F238E27FC236}">
                <a16:creationId xmlns:a16="http://schemas.microsoft.com/office/drawing/2014/main" id="{15138135-1872-420A-B056-F3E27C9F22B2}"/>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4">
            <a:extLst xmlns:a="http://schemas.openxmlformats.org/drawingml/2006/main">
              <a:ext uri="{FF2B5EF4-FFF2-40B4-BE49-F238E27FC236}">
                <a16:creationId xmlns:a16="http://schemas.microsoft.com/office/drawing/2014/main" id="{550170E0-A245-4016-A290-BDEF8AC2E05C}"/>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30 verbonden en 30 antwoorden: iedereen is klaar.</a:t>
            </a:r>
          </a:p>
        </p:txBody>
      </p:sp>
      <p:sp>
        <p:nvSpPr>
          <p:cNvPr id="8" name="frame-quizmaster-vraag-open.jpg">
            <a:extLst xmlns:a="http://schemas.openxmlformats.org/drawingml/2006/main">
              <a:ext uri="{FF2B5EF4-FFF2-40B4-BE49-F238E27FC236}">
                <a16:creationId xmlns:a16="http://schemas.microsoft.com/office/drawing/2014/main" id="{16CE8178-1417-4EF6-9C98-E394784915AC}"/>
              </a:ext>
            </a:extLst>
          </p:cNvPr>
          <p:cNvSpPr>
            <a:spLocks xmlns:a="http://schemas.openxmlformats.org/drawingml/2006/main" noGrp="1"/>
          </p:cNvSpPr>
          <p:nvPr/>
        </p:nvSpPr>
        <p:spPr>
          <a:xfrm xmlns:a="http://schemas.openxmlformats.org/drawingml/2006/main">
            <a:off x="5905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1f7e1f51a284a40"/>
          <a:stretch xmlns:a="http://schemas.openxmlformats.org/drawingml/2006/main"/>
        </p:blipFill>
        <p:spPr>
          <a:xfrm xmlns:a="http://schemas.openxmlformats.org/drawingml/2006/main">
            <a:off x="685800" y="1612210"/>
            <a:ext cx="6286500" cy="3538330"/>
          </a:xfrm>
          <a:prstGeom xmlns:a="http://schemas.openxmlformats.org/drawingml/2006/main" prst="roundRect">
            <a:avLst>
              <a:gd name="adj" fmla="val 2094"/>
            </a:avLst>
          </a:prstGeom>
        </p:spPr>
      </p:pic>
      <p:sp>
        <p:nvSpPr>
          <p:cNvPr id="10" name="image-caption-14">
            <a:extLst xmlns:a="http://schemas.openxmlformats.org/drawingml/2006/main">
              <a:ext uri="{FF2B5EF4-FFF2-40B4-BE49-F238E27FC236}">
                <a16:creationId xmlns:a16="http://schemas.microsoft.com/office/drawing/2014/main" id="{C87CE85F-E5BD-457A-904A-D0E27FAB0755}"/>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14">
            <a:extLst xmlns:a="http://schemas.openxmlformats.org/drawingml/2006/main">
              <a:ext uri="{FF2B5EF4-FFF2-40B4-BE49-F238E27FC236}">
                <a16:creationId xmlns:a16="http://schemas.microsoft.com/office/drawing/2014/main" id="{25A2845D-AC07-463E-8D84-66180A39FBFF}"/>
              </a:ext>
            </a:extLst>
          </p:cNvPr>
          <p:cNvSpPr>
            <a:spLocks xmlns:a="http://schemas.openxmlformats.org/drawingml/2006/main" noGrp="1"/>
          </p:cNvSpPr>
          <p:nvPr/>
        </p:nvSpPr>
        <p:spPr>
          <a:xfrm xmlns:a="http://schemas.openxmlformats.org/drawingml/2006/main">
            <a:off x="0" y="6800850"/>
            <a:ext cx="10040471"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14">
            <a:extLst xmlns:a="http://schemas.openxmlformats.org/drawingml/2006/main">
              <a:ext uri="{FF2B5EF4-FFF2-40B4-BE49-F238E27FC236}">
                <a16:creationId xmlns:a16="http://schemas.microsoft.com/office/drawing/2014/main" id="{FDF1CE1B-E4F8-4A53-B83D-5BF4C5159DB7}"/>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14">
            <a:extLst xmlns:a="http://schemas.openxmlformats.org/drawingml/2006/main">
              <a:ext uri="{FF2B5EF4-FFF2-40B4-BE49-F238E27FC236}">
                <a16:creationId xmlns:a16="http://schemas.microsoft.com/office/drawing/2014/main" id="{3BB987A5-92AE-4F09-AE7B-342334BA3BB3}"/>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14 / 17</a:t>
            </a:r>
          </a:p>
        </p:txBody>
      </p:sp>
    </p:spTree>
    <p:extLst>
      <p:ext uri="{BB962C8B-B14F-4D97-AF65-F5344CB8AC3E}">
        <p14:creationId xmlns:p14="http://schemas.microsoft.com/office/powerpoint/2010/main" val="1677453347"/>
      </p:ext>
    </p:extLst>
  </p:cSld>
</p:sld>
</file>

<file path=ppt/slides/slide15.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15">
            <a:extLst xmlns:a="http://schemas.openxmlformats.org/drawingml/2006/main">
              <a:ext uri="{FF2B5EF4-FFF2-40B4-BE49-F238E27FC236}">
                <a16:creationId xmlns:a16="http://schemas.microsoft.com/office/drawing/2014/main" id="{9A1066FF-174D-489F-9B4D-02AE28C629B6}"/>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SAMEN LEREN</a:t>
            </a:r>
          </a:p>
        </p:txBody>
      </p:sp>
      <p:sp>
        <p:nvSpPr>
          <p:cNvPr id="2" name="title-15">
            <a:extLst xmlns:a="http://schemas.openxmlformats.org/drawingml/2006/main">
              <a:ext uri="{FF2B5EF4-FFF2-40B4-BE49-F238E27FC236}">
                <a16:creationId xmlns:a16="http://schemas.microsoft.com/office/drawing/2014/main" id="{EDA08153-8941-44A7-9675-0ADDFDC7A95F}"/>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Toon en bespreek de juiste oplossing</a:t>
            </a:r>
          </a:p>
        </p:txBody>
      </p:sp>
      <p:sp>
        <p:nvSpPr>
          <p:cNvPr id="3" name="accent-15">
            <a:extLst xmlns:a="http://schemas.openxmlformats.org/drawingml/2006/main">
              <a:ext uri="{FF2B5EF4-FFF2-40B4-BE49-F238E27FC236}">
                <a16:creationId xmlns:a16="http://schemas.microsoft.com/office/drawing/2014/main" id="{6B4B6C29-3263-455B-8A61-56D1627635BD}"/>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5">
            <a:extLst xmlns:a="http://schemas.openxmlformats.org/drawingml/2006/main">
              <a:ext uri="{FF2B5EF4-FFF2-40B4-BE49-F238E27FC236}">
                <a16:creationId xmlns:a16="http://schemas.microsoft.com/office/drawing/2014/main" id="{7D574107-63BF-4BF7-9A93-295DC0DC3627}"/>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Sluit eerst de antwoorden</a:t>
            </a:r>
          </a:p>
          <a:p xmlns:a="http://schemas.openxmlformats.org/drawingml/2006/main">
            <a:pPr>
              <a:buNone/>
              <a:defRPr sz="1575">
                <a:solidFill>
                  <a:srgbClr val="17212D"/>
                </a:solidFill>
              </a:defRPr>
            </a:pPr>
            <a:r>
              <a:rPr sz="1575">
                <a:solidFill>
                  <a:srgbClr val="17212D"/>
                </a:solidFill>
              </a:rPr>
              <a:t>• Toon daarna bewust het juiste antwoord</a:t>
            </a:r>
          </a:p>
          <a:p xmlns:a="http://schemas.openxmlformats.org/drawingml/2006/main">
            <a:pPr>
              <a:buNone/>
              <a:defRPr sz="1575">
                <a:solidFill>
                  <a:srgbClr val="17212D"/>
                </a:solidFill>
              </a:defRPr>
            </a:pPr>
            <a:r>
              <a:rPr sz="1575">
                <a:solidFill>
                  <a:srgbClr val="17212D"/>
                </a:solidFill>
              </a:rPr>
              <a:t>• Geef uitleg en open de volgende vraag</a:t>
            </a:r>
          </a:p>
        </p:txBody>
      </p:sp>
      <p:sp>
        <p:nvSpPr>
          <p:cNvPr id="5" name="takeaway-box-15">
            <a:extLst xmlns:a="http://schemas.openxmlformats.org/drawingml/2006/main">
              <a:ext uri="{FF2B5EF4-FFF2-40B4-BE49-F238E27FC236}">
                <a16:creationId xmlns:a16="http://schemas.microsoft.com/office/drawing/2014/main" id="{14E3EE02-B2A6-4F70-9881-589DB8D5C336}"/>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5">
            <a:extLst xmlns:a="http://schemas.openxmlformats.org/drawingml/2006/main">
              <a:ext uri="{FF2B5EF4-FFF2-40B4-BE49-F238E27FC236}">
                <a16:creationId xmlns:a16="http://schemas.microsoft.com/office/drawing/2014/main" id="{FBEA5EBE-D017-4A36-B1F8-821E02831EA0}"/>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5">
            <a:extLst xmlns:a="http://schemas.openxmlformats.org/drawingml/2006/main">
              <a:ext uri="{FF2B5EF4-FFF2-40B4-BE49-F238E27FC236}">
                <a16:creationId xmlns:a16="http://schemas.microsoft.com/office/drawing/2014/main" id="{E1A825EA-66BC-400E-99E7-7275E957A511}"/>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De antwoordverdeling maakt elke vraag tot een leermoment.</a:t>
            </a:r>
          </a:p>
        </p:txBody>
      </p:sp>
      <p:sp>
        <p:nvSpPr>
          <p:cNvPr id="8" name="frame-quizmaster-oplossing.jpg">
            <a:extLst xmlns:a="http://schemas.openxmlformats.org/drawingml/2006/main">
              <a:ext uri="{FF2B5EF4-FFF2-40B4-BE49-F238E27FC236}">
                <a16:creationId xmlns:a16="http://schemas.microsoft.com/office/drawing/2014/main" id="{80CD226A-848C-4A3C-8AF8-1D2FB384AF81}"/>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5d7980dbbcb4659"/>
          <a:stretch xmlns:a="http://schemas.openxmlformats.org/drawingml/2006/main"/>
        </p:blipFill>
        <p:spPr>
          <a:xfrm xmlns:a="http://schemas.openxmlformats.org/drawingml/2006/main">
            <a:off x="5219700" y="1612210"/>
            <a:ext cx="6286500" cy="3538330"/>
          </a:xfrm>
          <a:prstGeom xmlns:a="http://schemas.openxmlformats.org/drawingml/2006/main" prst="roundRect">
            <a:avLst>
              <a:gd name="adj" fmla="val 2094"/>
            </a:avLst>
          </a:prstGeom>
        </p:spPr>
      </p:pic>
      <p:sp>
        <p:nvSpPr>
          <p:cNvPr id="10" name="image-caption-15">
            <a:extLst xmlns:a="http://schemas.openxmlformats.org/drawingml/2006/main">
              <a:ext uri="{FF2B5EF4-FFF2-40B4-BE49-F238E27FC236}">
                <a16:creationId xmlns:a16="http://schemas.microsoft.com/office/drawing/2014/main" id="{F41CB939-103C-4112-A1B0-784992FAE91C}"/>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15">
            <a:extLst xmlns:a="http://schemas.openxmlformats.org/drawingml/2006/main">
              <a:ext uri="{FF2B5EF4-FFF2-40B4-BE49-F238E27FC236}">
                <a16:creationId xmlns:a16="http://schemas.microsoft.com/office/drawing/2014/main" id="{38480DCD-169F-4B76-ADB0-605B0313DE4B}"/>
              </a:ext>
            </a:extLst>
          </p:cNvPr>
          <p:cNvSpPr>
            <a:spLocks xmlns:a="http://schemas.openxmlformats.org/drawingml/2006/main" noGrp="1"/>
          </p:cNvSpPr>
          <p:nvPr/>
        </p:nvSpPr>
        <p:spPr>
          <a:xfrm xmlns:a="http://schemas.openxmlformats.org/drawingml/2006/main">
            <a:off x="0" y="6800850"/>
            <a:ext cx="10757647"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15">
            <a:extLst xmlns:a="http://schemas.openxmlformats.org/drawingml/2006/main">
              <a:ext uri="{FF2B5EF4-FFF2-40B4-BE49-F238E27FC236}">
                <a16:creationId xmlns:a16="http://schemas.microsoft.com/office/drawing/2014/main" id="{395FF6AA-95B2-4EEA-89DD-32E6B90478D6}"/>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15">
            <a:extLst xmlns:a="http://schemas.openxmlformats.org/drawingml/2006/main">
              <a:ext uri="{FF2B5EF4-FFF2-40B4-BE49-F238E27FC236}">
                <a16:creationId xmlns:a16="http://schemas.microsoft.com/office/drawing/2014/main" id="{001041EE-2C57-48D3-B62E-BC529827AE27}"/>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15 / 17</a:t>
            </a:r>
          </a:p>
        </p:txBody>
      </p:sp>
    </p:spTree>
    <p:extLst>
      <p:ext uri="{BB962C8B-B14F-4D97-AF65-F5344CB8AC3E}">
        <p14:creationId xmlns:p14="http://schemas.microsoft.com/office/powerpoint/2010/main" val="206490823"/>
      </p:ext>
    </p:extLst>
  </p:cSld>
</p:sld>
</file>

<file path=ppt/slides/slide16.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6" name="kicker-16">
            <a:extLst xmlns:a="http://schemas.openxmlformats.org/drawingml/2006/main">
              <a:ext uri="{FF2B5EF4-FFF2-40B4-BE49-F238E27FC236}">
                <a16:creationId xmlns:a16="http://schemas.microsoft.com/office/drawing/2014/main" id="{B3B2EBD8-4C4B-44D4-B225-65C752CAC148}"/>
              </a:ext>
            </a:extLst>
          </p:cNvPr>
          <p:cNvSpPr>
            <a:spLocks xmlns:a="http://schemas.openxmlformats.org/drawingml/2006/main" noGrp="1"/>
          </p:cNvSpPr>
          <p:nvPr/>
        </p:nvSpPr>
        <p:spPr>
          <a:xfrm xmlns:a="http://schemas.openxmlformats.org/drawingml/2006/main">
            <a:off x="72390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NA DE LAATSTE VRAAG</a:t>
            </a:r>
          </a:p>
        </p:txBody>
      </p:sp>
      <p:sp>
        <p:nvSpPr>
          <p:cNvPr id="2" name="title-16">
            <a:extLst xmlns:a="http://schemas.openxmlformats.org/drawingml/2006/main">
              <a:ext uri="{FF2B5EF4-FFF2-40B4-BE49-F238E27FC236}">
                <a16:creationId xmlns:a16="http://schemas.microsoft.com/office/drawing/2014/main" id="{B3A69891-227F-4FF3-9E3F-6A0DEBC61BEA}"/>
              </a:ext>
            </a:extLst>
          </p:cNvPr>
          <p:cNvSpPr>
            <a:spLocks xmlns:a="http://schemas.openxmlformats.org/drawingml/2006/main" noGrp="1"/>
          </p:cNvSpPr>
          <p:nvPr/>
        </p:nvSpPr>
        <p:spPr>
          <a:xfrm xmlns:a="http://schemas.openxmlformats.org/drawingml/2006/main">
            <a:off x="72390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Privé resultaat en gezamenlijke eindanalyse</a:t>
            </a:r>
          </a:p>
        </p:txBody>
      </p:sp>
      <p:sp>
        <p:nvSpPr>
          <p:cNvPr id="3" name="accent-16">
            <a:extLst xmlns:a="http://schemas.openxmlformats.org/drawingml/2006/main">
              <a:ext uri="{FF2B5EF4-FFF2-40B4-BE49-F238E27FC236}">
                <a16:creationId xmlns:a16="http://schemas.microsoft.com/office/drawing/2014/main" id="{1E9F8B2F-6D49-4F2E-A6F7-3574BFF21BA4}"/>
              </a:ext>
            </a:extLst>
          </p:cNvPr>
          <p:cNvSpPr>
            <a:spLocks xmlns:a="http://schemas.openxmlformats.org/drawingml/2006/main" noGrp="1"/>
          </p:cNvSpPr>
          <p:nvPr/>
        </p:nvSpPr>
        <p:spPr>
          <a:xfrm xmlns:a="http://schemas.openxmlformats.org/drawingml/2006/main">
            <a:off x="72390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6">
            <a:extLst xmlns:a="http://schemas.openxmlformats.org/drawingml/2006/main">
              <a:ext uri="{FF2B5EF4-FFF2-40B4-BE49-F238E27FC236}">
                <a16:creationId xmlns:a16="http://schemas.microsoft.com/office/drawing/2014/main" id="{A5B18D01-497D-431D-840E-18133B0DA399}"/>
              </a:ext>
            </a:extLst>
          </p:cNvPr>
          <p:cNvSpPr>
            <a:spLocks xmlns:a="http://schemas.openxmlformats.org/drawingml/2006/main" noGrp="1"/>
          </p:cNvSpPr>
          <p:nvPr/>
        </p:nvSpPr>
        <p:spPr>
          <a:xfrm xmlns:a="http://schemas.openxmlformats.org/drawingml/2006/main">
            <a:off x="72390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Persoonlijke score alleen op de eigen gsm</a:t>
            </a:r>
          </a:p>
          <a:p xmlns:a="http://schemas.openxmlformats.org/drawingml/2006/main">
            <a:pPr>
              <a:buNone/>
              <a:defRPr sz="1575">
                <a:solidFill>
                  <a:srgbClr val="17212D"/>
                </a:solidFill>
              </a:defRPr>
            </a:pPr>
            <a:r>
              <a:rPr sz="1575">
                <a:solidFill>
                  <a:srgbClr val="17212D"/>
                </a:solidFill>
              </a:rPr>
              <a:t>• Top drie leerpunten op het zaalscherm</a:t>
            </a:r>
          </a:p>
          <a:p xmlns:a="http://schemas.openxmlformats.org/drawingml/2006/main">
            <a:pPr>
              <a:buNone/>
              <a:defRPr sz="1575">
                <a:solidFill>
                  <a:srgbClr val="17212D"/>
                </a:solidFill>
              </a:defRPr>
            </a:pPr>
            <a:r>
              <a:rPr sz="1575">
                <a:solidFill>
                  <a:srgbClr val="17212D"/>
                </a:solidFill>
              </a:rPr>
              <a:t>• Geen namen of openbare rangschikking</a:t>
            </a:r>
          </a:p>
        </p:txBody>
      </p:sp>
      <p:sp>
        <p:nvSpPr>
          <p:cNvPr id="5" name="takeaway-box-16">
            <a:extLst xmlns:a="http://schemas.openxmlformats.org/drawingml/2006/main">
              <a:ext uri="{FF2B5EF4-FFF2-40B4-BE49-F238E27FC236}">
                <a16:creationId xmlns:a16="http://schemas.microsoft.com/office/drawing/2014/main" id="{810ABBE7-8059-46BF-A36C-EDB06930F283}"/>
              </a:ext>
            </a:extLst>
          </p:cNvPr>
          <p:cNvSpPr>
            <a:spLocks xmlns:a="http://schemas.openxmlformats.org/drawingml/2006/main" noGrp="1"/>
          </p:cNvSpPr>
          <p:nvPr/>
        </p:nvSpPr>
        <p:spPr>
          <a:xfrm xmlns:a="http://schemas.openxmlformats.org/drawingml/2006/main">
            <a:off x="72390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6">
            <a:extLst xmlns:a="http://schemas.openxmlformats.org/drawingml/2006/main">
              <a:ext uri="{FF2B5EF4-FFF2-40B4-BE49-F238E27FC236}">
                <a16:creationId xmlns:a16="http://schemas.microsoft.com/office/drawing/2014/main" id="{F3C1FF5A-37B9-42A7-ADB9-78A0104C910C}"/>
              </a:ext>
            </a:extLst>
          </p:cNvPr>
          <p:cNvSpPr>
            <a:spLocks xmlns:a="http://schemas.openxmlformats.org/drawingml/2006/main" noGrp="1"/>
          </p:cNvSpPr>
          <p:nvPr/>
        </p:nvSpPr>
        <p:spPr>
          <a:xfrm xmlns:a="http://schemas.openxmlformats.org/drawingml/2006/main">
            <a:off x="72390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6">
            <a:extLst xmlns:a="http://schemas.openxmlformats.org/drawingml/2006/main">
              <a:ext uri="{FF2B5EF4-FFF2-40B4-BE49-F238E27FC236}">
                <a16:creationId xmlns:a16="http://schemas.microsoft.com/office/drawing/2014/main" id="{48EA17AD-40B9-4E84-B89E-B29DCF03A8DD}"/>
              </a:ext>
            </a:extLst>
          </p:cNvPr>
          <p:cNvSpPr>
            <a:spLocks xmlns:a="http://schemas.openxmlformats.org/drawingml/2006/main" noGrp="1"/>
          </p:cNvSpPr>
          <p:nvPr/>
        </p:nvSpPr>
        <p:spPr>
          <a:xfrm xmlns:a="http://schemas.openxmlformats.org/drawingml/2006/main">
            <a:off x="75057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De groep herhaalt wat het vaakst fout werd beantwoord.</a:t>
            </a:r>
          </a:p>
        </p:txBody>
      </p:sp>
      <p:sp>
        <p:nvSpPr>
          <p:cNvPr id="8" name="frame-deelnemer-resultaat.jpg">
            <a:extLst xmlns:a="http://schemas.openxmlformats.org/drawingml/2006/main">
              <a:ext uri="{FF2B5EF4-FFF2-40B4-BE49-F238E27FC236}">
                <a16:creationId xmlns:a16="http://schemas.microsoft.com/office/drawing/2014/main" id="{2CFD8051-4936-4C99-8E51-A6E90F35B8F9}"/>
              </a:ext>
            </a:extLst>
          </p:cNvPr>
          <p:cNvSpPr>
            <a:spLocks xmlns:a="http://schemas.openxmlformats.org/drawingml/2006/main" noGrp="1"/>
          </p:cNvSpPr>
          <p:nvPr/>
        </p:nvSpPr>
        <p:spPr>
          <a:xfrm xmlns:a="http://schemas.openxmlformats.org/drawingml/2006/main">
            <a:off x="590550" y="1466850"/>
            <a:ext cx="3143250" cy="38290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9050">
            <a:solidFill>
              <a:srgbClr val="C9DEE7"/>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65c9931bb304516"/>
          <a:stretch xmlns:a="http://schemas.openxmlformats.org/drawingml/2006/main"/>
        </p:blipFill>
        <p:spPr>
          <a:xfrm xmlns:a="http://schemas.openxmlformats.org/drawingml/2006/main">
            <a:off x="685800" y="2550403"/>
            <a:ext cx="2952750" cy="1661943"/>
          </a:xfrm>
          <a:prstGeom xmlns:a="http://schemas.openxmlformats.org/drawingml/2006/main" prst="roundRect">
            <a:avLst>
              <a:gd name="adj" fmla="val 2581"/>
            </a:avLst>
          </a:prstGeom>
        </p:spPr>
      </p:pic>
      <p:sp>
        <p:nvSpPr>
          <p:cNvPr id="10" name="frame-zaalscherm-eindanalyse.jpg">
            <a:extLst xmlns:a="http://schemas.openxmlformats.org/drawingml/2006/main">
              <a:ext uri="{FF2B5EF4-FFF2-40B4-BE49-F238E27FC236}">
                <a16:creationId xmlns:a16="http://schemas.microsoft.com/office/drawing/2014/main" id="{65E6F116-C173-49BA-B835-B134F26B2F89}"/>
              </a:ext>
            </a:extLst>
          </p:cNvPr>
          <p:cNvSpPr>
            <a:spLocks xmlns:a="http://schemas.openxmlformats.org/drawingml/2006/main" noGrp="1"/>
          </p:cNvSpPr>
          <p:nvPr/>
        </p:nvSpPr>
        <p:spPr>
          <a:xfrm xmlns:a="http://schemas.openxmlformats.org/drawingml/2006/main">
            <a:off x="3924300" y="1466850"/>
            <a:ext cx="3143250" cy="38290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9050">
            <a:solidFill>
              <a:srgbClr val="C9DEE7"/>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be5a6234cbb4f9b"/>
          <a:stretch xmlns:a="http://schemas.openxmlformats.org/drawingml/2006/main"/>
        </p:blipFill>
        <p:spPr>
          <a:xfrm xmlns:a="http://schemas.openxmlformats.org/drawingml/2006/main">
            <a:off x="4019550" y="2550403"/>
            <a:ext cx="2952750" cy="1661943"/>
          </a:xfrm>
          <a:prstGeom xmlns:a="http://schemas.openxmlformats.org/drawingml/2006/main" prst="roundRect">
            <a:avLst>
              <a:gd name="adj" fmla="val 2581"/>
            </a:avLst>
          </a:prstGeom>
        </p:spPr>
      </p:pic>
      <p:sp>
        <p:nvSpPr>
          <p:cNvPr id="12" name="image-caption-16">
            <a:extLst xmlns:a="http://schemas.openxmlformats.org/drawingml/2006/main">
              <a:ext uri="{FF2B5EF4-FFF2-40B4-BE49-F238E27FC236}">
                <a16:creationId xmlns:a16="http://schemas.microsoft.com/office/drawing/2014/main" id="{DBED1283-8778-41AD-9D35-1E6CF0015580}"/>
              </a:ext>
            </a:extLst>
          </p:cNvPr>
          <p:cNvSpPr>
            <a:spLocks xmlns:a="http://schemas.openxmlformats.org/drawingml/2006/main" noGrp="1"/>
          </p:cNvSpPr>
          <p:nvPr/>
        </p:nvSpPr>
        <p:spPr>
          <a:xfrm xmlns:a="http://schemas.openxmlformats.org/drawingml/2006/main">
            <a:off x="6858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3" name="progress-16">
            <a:extLst xmlns:a="http://schemas.openxmlformats.org/drawingml/2006/main">
              <a:ext uri="{FF2B5EF4-FFF2-40B4-BE49-F238E27FC236}">
                <a16:creationId xmlns:a16="http://schemas.microsoft.com/office/drawing/2014/main" id="{BBFC30DD-6E36-4462-8FC3-381B3A727366}"/>
              </a:ext>
            </a:extLst>
          </p:cNvPr>
          <p:cNvSpPr>
            <a:spLocks xmlns:a="http://schemas.openxmlformats.org/drawingml/2006/main" noGrp="1"/>
          </p:cNvSpPr>
          <p:nvPr/>
        </p:nvSpPr>
        <p:spPr>
          <a:xfrm xmlns:a="http://schemas.openxmlformats.org/drawingml/2006/main">
            <a:off x="0" y="6800850"/>
            <a:ext cx="11474824"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4" name="footer-label-16">
            <a:extLst xmlns:a="http://schemas.openxmlformats.org/drawingml/2006/main">
              <a:ext uri="{FF2B5EF4-FFF2-40B4-BE49-F238E27FC236}">
                <a16:creationId xmlns:a16="http://schemas.microsoft.com/office/drawing/2014/main" id="{59FA2736-D95F-42B2-A6A9-B2D61FAD4663}"/>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5" name="footer-number-16">
            <a:extLst xmlns:a="http://schemas.openxmlformats.org/drawingml/2006/main">
              <a:ext uri="{FF2B5EF4-FFF2-40B4-BE49-F238E27FC236}">
                <a16:creationId xmlns:a16="http://schemas.microsoft.com/office/drawing/2014/main" id="{F1B24C60-A0E2-44E2-9296-7880C723FF2C}"/>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16 / 17</a:t>
            </a:r>
          </a:p>
        </p:txBody>
      </p:sp>
    </p:spTree>
    <p:extLst>
      <p:ext uri="{BB962C8B-B14F-4D97-AF65-F5344CB8AC3E}">
        <p14:creationId xmlns:p14="http://schemas.microsoft.com/office/powerpoint/2010/main" val="1905879219"/>
      </p:ext>
    </p:extLst>
  </p:cSld>
</p:sld>
</file>

<file path=ppt/slides/slide17.xml><?xml version="1.0" encoding="utf-8"?>
<p:sld xmlns:p="http://schemas.openxmlformats.org/presentationml/2006/main">
  <p:cSld>
    <p:bg>
      <p:bgPr>
        <a:solidFill xmlns:a="http://schemas.openxmlformats.org/drawingml/2006/main">
          <a:srgbClr val="EEF6F9"/>
        </a:solidFill>
      </p:bgPr>
    </p:bg>
    <p:spTree>
      <p:nvGrpSpPr>
        <p:cNvPr id="1" name=""/>
        <p:cNvGrpSpPr/>
        <p:nvPr/>
      </p:nvGrpSpPr>
      <p:grpSpPr>
        <a:xfrm xmlns:a="http://schemas.openxmlformats.org/drawingml/2006/main"/>
      </p:grpSpPr>
      <p:sp>
        <p:nvSpPr>
          <p:cNvPr id="14" name="kicker-17">
            <a:extLst xmlns:a="http://schemas.openxmlformats.org/drawingml/2006/main">
              <a:ext uri="{FF2B5EF4-FFF2-40B4-BE49-F238E27FC236}">
                <a16:creationId xmlns:a16="http://schemas.microsoft.com/office/drawing/2014/main" id="{DE587EF6-DFCA-4321-AB73-44978C4183D6}"/>
              </a:ext>
            </a:extLst>
          </p:cNvPr>
          <p:cNvSpPr>
            <a:spLocks xmlns:a="http://schemas.openxmlformats.org/drawingml/2006/main" noGrp="1"/>
          </p:cNvSpPr>
          <p:nvPr/>
        </p:nvSpPr>
        <p:spPr>
          <a:xfrm xmlns:a="http://schemas.openxmlformats.org/drawingml/2006/main">
            <a:off x="685800" y="552450"/>
            <a:ext cx="426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b="1">
                <a:solidFill>
                  <a:srgbClr val="075678"/>
                </a:solidFill>
              </a:defRPr>
            </a:pPr>
            <a:r>
              <a:rPr sz="1200" b="1">
                <a:solidFill>
                  <a:srgbClr val="075678"/>
                </a:solidFill>
              </a:rPr>
              <a:t>DEZELFDE OF EEN NIEUWE ACTIVITEIT</a:t>
            </a:r>
          </a:p>
        </p:txBody>
      </p:sp>
      <p:sp>
        <p:nvSpPr>
          <p:cNvPr id="2" name="title-17">
            <a:extLst xmlns:a="http://schemas.openxmlformats.org/drawingml/2006/main">
              <a:ext uri="{FF2B5EF4-FFF2-40B4-BE49-F238E27FC236}">
                <a16:creationId xmlns:a16="http://schemas.microsoft.com/office/drawing/2014/main" id="{824CEB68-7E49-4FA1-8995-329DF118D89C}"/>
              </a:ext>
            </a:extLst>
          </p:cNvPr>
          <p:cNvSpPr>
            <a:spLocks xmlns:a="http://schemas.openxmlformats.org/drawingml/2006/main" noGrp="1"/>
          </p:cNvSpPr>
          <p:nvPr/>
        </p:nvSpPr>
        <p:spPr>
          <a:xfrm xmlns:a="http://schemas.openxmlformats.org/drawingml/2006/main">
            <a:off x="685800" y="895350"/>
            <a:ext cx="4267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700" b="1">
                <a:solidFill>
                  <a:srgbClr val="17212D"/>
                </a:solidFill>
              </a:defRPr>
            </a:pPr>
            <a:r>
              <a:rPr sz="2700" b="1">
                <a:solidFill>
                  <a:srgbClr val="17212D"/>
                </a:solidFill>
              </a:rPr>
              <a:t>Een nieuwe dag vraagt nieuwe voorbereiding</a:t>
            </a:r>
          </a:p>
        </p:txBody>
      </p:sp>
      <p:sp>
        <p:nvSpPr>
          <p:cNvPr id="3" name="accent-17">
            <a:extLst xmlns:a="http://schemas.openxmlformats.org/drawingml/2006/main">
              <a:ext uri="{FF2B5EF4-FFF2-40B4-BE49-F238E27FC236}">
                <a16:creationId xmlns:a16="http://schemas.microsoft.com/office/drawing/2014/main" id="{287DFA7E-F016-47D6-B32E-42471044EF32}"/>
              </a:ext>
            </a:extLst>
          </p:cNvPr>
          <p:cNvSpPr>
            <a:spLocks xmlns:a="http://schemas.openxmlformats.org/drawingml/2006/main" noGrp="1"/>
          </p:cNvSpPr>
          <p:nvPr/>
        </p:nvSpPr>
        <p:spPr>
          <a:xfrm xmlns:a="http://schemas.openxmlformats.org/drawingml/2006/main">
            <a:off x="685800" y="2247900"/>
            <a:ext cx="8763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4" name="bullets-17">
            <a:extLst xmlns:a="http://schemas.openxmlformats.org/drawingml/2006/main">
              <a:ext uri="{FF2B5EF4-FFF2-40B4-BE49-F238E27FC236}">
                <a16:creationId xmlns:a16="http://schemas.microsoft.com/office/drawing/2014/main" id="{15AFF21B-620E-412C-90C2-141C0601F4FE}"/>
              </a:ext>
            </a:extLst>
          </p:cNvPr>
          <p:cNvSpPr>
            <a:spLocks xmlns:a="http://schemas.openxmlformats.org/drawingml/2006/main" noGrp="1"/>
          </p:cNvSpPr>
          <p:nvPr/>
        </p:nvSpPr>
        <p:spPr>
          <a:xfrm xmlns:a="http://schemas.openxmlformats.org/drawingml/2006/main">
            <a:off x="685800" y="2514600"/>
            <a:ext cx="42672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a:solidFill>
                  <a:srgbClr val="17212D"/>
                </a:solidFill>
              </a:defRPr>
            </a:pPr>
            <a:r>
              <a:rPr sz="1575">
                <a:solidFill>
                  <a:srgbClr val="17212D"/>
                </a:solidFill>
              </a:rPr>
              <a:t>• Binnen dezelfde activiteit volgen gsm's automatisch</a:t>
            </a:r>
          </a:p>
          <a:p xmlns:a="http://schemas.openxmlformats.org/drawingml/2006/main">
            <a:pPr>
              <a:buNone/>
              <a:defRPr sz="1575">
                <a:solidFill>
                  <a:srgbClr val="17212D"/>
                </a:solidFill>
              </a:defRPr>
            </a:pPr>
            <a:r>
              <a:rPr sz="1575">
                <a:solidFill>
                  <a:srgbClr val="17212D"/>
                </a:solidFill>
              </a:rPr>
              <a:t>• Voor een andere dag thuis een nieuwe sessie maken</a:t>
            </a:r>
          </a:p>
          <a:p xmlns:a="http://schemas.openxmlformats.org/drawingml/2006/main">
            <a:pPr>
              <a:buNone/>
              <a:defRPr sz="1575">
                <a:solidFill>
                  <a:srgbClr val="17212D"/>
                </a:solidFill>
              </a:defRPr>
            </a:pPr>
            <a:r>
              <a:rPr sz="1575">
                <a:solidFill>
                  <a:srgbClr val="17212D"/>
                </a:solidFill>
              </a:rPr>
              <a:t>• Bij de nieuwe code nieuwe briefjes afdrukken</a:t>
            </a:r>
          </a:p>
        </p:txBody>
      </p:sp>
      <p:sp>
        <p:nvSpPr>
          <p:cNvPr id="5" name="takeaway-box-17">
            <a:extLst xmlns:a="http://schemas.openxmlformats.org/drawingml/2006/main">
              <a:ext uri="{FF2B5EF4-FFF2-40B4-BE49-F238E27FC236}">
                <a16:creationId xmlns:a16="http://schemas.microsoft.com/office/drawing/2014/main" id="{7FE8CC2C-E013-4393-8F77-1BE2D8777129}"/>
              </a:ext>
            </a:extLst>
          </p:cNvPr>
          <p:cNvSpPr>
            <a:spLocks xmlns:a="http://schemas.openxmlformats.org/drawingml/2006/main" noGrp="1"/>
          </p:cNvSpPr>
          <p:nvPr/>
        </p:nvSpPr>
        <p:spPr>
          <a:xfrm xmlns:a="http://schemas.openxmlformats.org/drawingml/2006/main">
            <a:off x="685800" y="4229100"/>
            <a:ext cx="42672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9DEE7"/>
            </a:solidFill>
            <a:prstDash val="solid"/>
          </a:ln>
        </p:spPr>
      </p:sp>
      <p:sp>
        <p:nvSpPr>
          <p:cNvPr id="6" name="takeaway-line-17">
            <a:extLst xmlns:a="http://schemas.openxmlformats.org/drawingml/2006/main">
              <a:ext uri="{FF2B5EF4-FFF2-40B4-BE49-F238E27FC236}">
                <a16:creationId xmlns:a16="http://schemas.microsoft.com/office/drawing/2014/main" id="{A8B1AD5A-5781-4F13-A972-16E031B1D9F4}"/>
              </a:ext>
            </a:extLst>
          </p:cNvPr>
          <p:cNvSpPr>
            <a:spLocks xmlns:a="http://schemas.openxmlformats.org/drawingml/2006/main" noGrp="1"/>
          </p:cNvSpPr>
          <p:nvPr/>
        </p:nvSpPr>
        <p:spPr>
          <a:xfrm xmlns:a="http://schemas.openxmlformats.org/drawingml/2006/main">
            <a:off x="685800" y="4229100"/>
            <a:ext cx="76200" cy="1104900"/>
          </a:xfrm>
          <a:prstGeom xmlns:a="http://schemas.openxmlformats.org/drawingml/2006/main" prst="rect">
            <a:avLst/>
          </a:prstGeom>
          <a:solidFill xmlns:a="http://schemas.openxmlformats.org/drawingml/2006/main">
            <a:srgbClr val="168044"/>
          </a:solidFill>
          <a:ln xmlns:a="http://schemas.openxmlformats.org/drawingml/2006/main" w="0">
            <a:noFill/>
            <a:prstDash val="solid"/>
          </a:ln>
        </p:spPr>
      </p:sp>
      <p:sp>
        <p:nvSpPr>
          <p:cNvPr id="7" name="takeaway-17">
            <a:extLst xmlns:a="http://schemas.openxmlformats.org/drawingml/2006/main">
              <a:ext uri="{FF2B5EF4-FFF2-40B4-BE49-F238E27FC236}">
                <a16:creationId xmlns:a16="http://schemas.microsoft.com/office/drawing/2014/main" id="{ABB0C22F-D600-40EC-8504-10B9C92CE71E}"/>
              </a:ext>
            </a:extLst>
          </p:cNvPr>
          <p:cNvSpPr>
            <a:spLocks xmlns:a="http://schemas.openxmlformats.org/drawingml/2006/main" noGrp="1"/>
          </p:cNvSpPr>
          <p:nvPr/>
        </p:nvSpPr>
        <p:spPr>
          <a:xfrm xmlns:a="http://schemas.openxmlformats.org/drawingml/2006/main">
            <a:off x="952500" y="4400550"/>
            <a:ext cx="3733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168044"/>
                </a:solidFill>
              </a:defRPr>
            </a:pPr>
            <a:r>
              <a:rPr sz="1425" b="1">
                <a:solidFill>
                  <a:srgbClr val="168044"/>
                </a:solidFill>
              </a:rPr>
              <a:t>Vooraf voorbereiden houdt de start in de zaal rustig.</a:t>
            </a:r>
          </a:p>
        </p:txBody>
      </p:sp>
      <p:sp>
        <p:nvSpPr>
          <p:cNvPr id="8" name="frame-quizmaster-eindanalyse.jpg">
            <a:extLst xmlns:a="http://schemas.openxmlformats.org/drawingml/2006/main">
              <a:ext uri="{FF2B5EF4-FFF2-40B4-BE49-F238E27FC236}">
                <a16:creationId xmlns:a16="http://schemas.microsoft.com/office/drawing/2014/main" id="{4574129E-C72F-4A00-908A-29A5A671094E}"/>
              </a:ext>
            </a:extLst>
          </p:cNvPr>
          <p:cNvSpPr>
            <a:spLocks xmlns:a="http://schemas.openxmlformats.org/drawingml/2006/main" noGrp="1"/>
          </p:cNvSpPr>
          <p:nvPr/>
        </p:nvSpPr>
        <p:spPr>
          <a:xfrm xmlns:a="http://schemas.openxmlformats.org/drawingml/2006/main">
            <a:off x="5124450" y="1466850"/>
            <a:ext cx="6477000" cy="3829050"/>
          </a:xfrm>
          <a:prstGeom xmlns:a="http://schemas.openxmlformats.org/drawingml/2006/main" prst="roundRect">
            <a:avLst>
              <a:gd name="adj" fmla="val 1990"/>
            </a:avLst>
          </a:prstGeom>
          <a:solidFill xmlns:a="http://schemas.openxmlformats.org/drawingml/2006/main">
            <a:srgbClr val="FFFFFF"/>
          </a:solidFill>
          <a:ln xmlns:a="http://schemas.openxmlformats.org/drawingml/2006/main" w="19050">
            <a:solidFill>
              <a:srgbClr val="C9DEE7"/>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912c379e8b04d94"/>
          <a:stretch xmlns:a="http://schemas.openxmlformats.org/drawingml/2006/main"/>
        </p:blipFill>
        <p:spPr>
          <a:xfrm xmlns:a="http://schemas.openxmlformats.org/drawingml/2006/main">
            <a:off x="5219700" y="1612210"/>
            <a:ext cx="6286500" cy="3538330"/>
          </a:xfrm>
          <a:prstGeom xmlns:a="http://schemas.openxmlformats.org/drawingml/2006/main" prst="roundRect">
            <a:avLst>
              <a:gd name="adj" fmla="val 2094"/>
            </a:avLst>
          </a:prstGeom>
        </p:spPr>
      </p:pic>
      <p:sp>
        <p:nvSpPr>
          <p:cNvPr id="10" name="image-caption-17">
            <a:extLst xmlns:a="http://schemas.openxmlformats.org/drawingml/2006/main">
              <a:ext uri="{FF2B5EF4-FFF2-40B4-BE49-F238E27FC236}">
                <a16:creationId xmlns:a16="http://schemas.microsoft.com/office/drawing/2014/main" id="{8BEFE7E8-E7D7-4CB1-9C5D-2891758F5A54}"/>
              </a:ext>
            </a:extLst>
          </p:cNvPr>
          <p:cNvSpPr>
            <a:spLocks xmlns:a="http://schemas.openxmlformats.org/drawingml/2006/main" noGrp="1"/>
          </p:cNvSpPr>
          <p:nvPr/>
        </p:nvSpPr>
        <p:spPr>
          <a:xfrm xmlns:a="http://schemas.openxmlformats.org/drawingml/2006/main">
            <a:off x="5219700" y="53911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a:solidFill>
                  <a:srgbClr val="5B6B7F"/>
                </a:solidFill>
              </a:defRPr>
            </a:pPr>
            <a:r>
              <a:rPr sz="975">
                <a:solidFill>
                  <a:srgbClr val="5B6B7F"/>
                </a:solidFill>
              </a:rPr>
              <a:t>Echte schermen uit de quiz</a:t>
            </a:r>
          </a:p>
        </p:txBody>
      </p:sp>
      <p:sp>
        <p:nvSpPr>
          <p:cNvPr id="11" name="progress-17">
            <a:extLst xmlns:a="http://schemas.openxmlformats.org/drawingml/2006/main">
              <a:ext uri="{FF2B5EF4-FFF2-40B4-BE49-F238E27FC236}">
                <a16:creationId xmlns:a16="http://schemas.microsoft.com/office/drawing/2014/main" id="{F4D68439-3757-447E-8A44-36C64613D13B}"/>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20A7C8"/>
          </a:solidFill>
          <a:ln xmlns:a="http://schemas.openxmlformats.org/drawingml/2006/main" w="0">
            <a:noFill/>
            <a:prstDash val="solid"/>
          </a:ln>
        </p:spPr>
      </p:sp>
      <p:sp>
        <p:nvSpPr>
          <p:cNvPr id="12" name="footer-label-17">
            <a:extLst xmlns:a="http://schemas.openxmlformats.org/drawingml/2006/main">
              <a:ext uri="{FF2B5EF4-FFF2-40B4-BE49-F238E27FC236}">
                <a16:creationId xmlns:a16="http://schemas.microsoft.com/office/drawing/2014/main" id="{FFC6A82E-8F6D-497A-8D7D-29AD0E68780C}"/>
              </a:ext>
            </a:extLst>
          </p:cNvPr>
          <p:cNvSpPr>
            <a:spLocks xmlns:a="http://schemas.openxmlformats.org/drawingml/2006/main" noGrp="1"/>
          </p:cNvSpPr>
          <p:nvPr/>
        </p:nvSpPr>
        <p:spPr>
          <a:xfrm xmlns:a="http://schemas.openxmlformats.org/drawingml/2006/main">
            <a:off x="685800" y="6438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a:solidFill>
                  <a:srgbClr val="5B6B7F"/>
                </a:solidFill>
              </a:defRPr>
            </a:pPr>
            <a:r>
              <a:rPr sz="975">
                <a:solidFill>
                  <a:srgbClr val="5B6B7F"/>
                </a:solidFill>
              </a:rPr>
              <a:t>Live Diabetes Quiz</a:t>
            </a:r>
          </a:p>
        </p:txBody>
      </p:sp>
      <p:sp>
        <p:nvSpPr>
          <p:cNvPr id="13" name="footer-number-17">
            <a:extLst xmlns:a="http://schemas.openxmlformats.org/drawingml/2006/main">
              <a:ext uri="{FF2B5EF4-FFF2-40B4-BE49-F238E27FC236}">
                <a16:creationId xmlns:a16="http://schemas.microsoft.com/office/drawing/2014/main" id="{4B1F2F83-A568-4A0C-865A-F5D7F7EC3C7C}"/>
              </a:ext>
            </a:extLst>
          </p:cNvPr>
          <p:cNvSpPr>
            <a:spLocks xmlns:a="http://schemas.openxmlformats.org/drawingml/2006/main" noGrp="1"/>
          </p:cNvSpPr>
          <p:nvPr/>
        </p:nvSpPr>
        <p:spPr>
          <a:xfrm xmlns:a="http://schemas.openxmlformats.org/drawingml/2006/main">
            <a:off x="10287000" y="643890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a:solidFill>
                  <a:srgbClr val="5B6B7F"/>
                </a:solidFill>
              </a:defRPr>
            </a:pPr>
            <a:r>
              <a:rPr sz="975">
                <a:solidFill>
                  <a:srgbClr val="5B6B7F"/>
                </a:solidFill>
              </a:rPr>
              <a:t>17 / 17</a:t>
            </a:r>
          </a:p>
        </p:txBody>
      </p:sp>
    </p:spTree>
    <p:extLst>
      <p:ext uri="{BB962C8B-B14F-4D97-AF65-F5344CB8AC3E}">
        <p14:creationId xmlns:p14="http://schemas.microsoft.com/office/powerpoint/2010/main" val="8522487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2026-08-10T08:02:53.6210000Z</dcterms:created>
  <dcterms:modified xsi:type="dcterms:W3CDTF">2026-08-10T08:02:53.6210000Z</dcterms:modified>
</coreProperties>
</file>