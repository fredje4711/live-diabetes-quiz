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8520cda60634686" /><Relationship Type="http://schemas.openxmlformats.org/officeDocument/2006/relationships/extended-properties" Target="/docProps/app.xml" Id="R78f1fbc5c8ec4e19" /><Relationship Type="http://schemas.openxmlformats.org/officeDocument/2006/relationships/officeDocument" Target="/ppt/presentation.xml" Id="Ra3c482ba04724a94" /></Relationships>
</file>

<file path=ppt/presentation.xml><?xml version="1.0" encoding="utf-8"?>
<p:presentation xmlns:p="http://schemas.openxmlformats.org/presentationml/2006/main">
  <p:sldMasterIdLst>
    <p:sldMasterId xmlns:r="http://schemas.openxmlformats.org/officeDocument/2006/relationships" id="2147483648" r:id="R7920d49001ff4ff7"/>
  </p:sldMasterIdLst>
  <p:notesMasterIdLst>
    <p:notesMasterId xmlns:r="http://schemas.openxmlformats.org/officeDocument/2006/relationships" r:id="R1ae549f3e8dc4c54"/>
  </p:notesMasterIdLst>
  <p:sldIdLst>
    <p:sldId xmlns:r="http://schemas.openxmlformats.org/officeDocument/2006/relationships" id="256" r:id="R154543e8109041ca"/>
    <p:sldId xmlns:r="http://schemas.openxmlformats.org/officeDocument/2006/relationships" id="257" r:id="Re7c8fb88879e4eb6"/>
    <p:sldId xmlns:r="http://schemas.openxmlformats.org/officeDocument/2006/relationships" id="258" r:id="Raedbb410f4a84a53"/>
    <p:sldId xmlns:r="http://schemas.openxmlformats.org/officeDocument/2006/relationships" id="259" r:id="Rec0033fbd22343d5"/>
    <p:sldId xmlns:r="http://schemas.openxmlformats.org/officeDocument/2006/relationships" id="260" r:id="Rcf9f8e54c6714930"/>
    <p:sldId xmlns:r="http://schemas.openxmlformats.org/officeDocument/2006/relationships" id="261" r:id="R8bd9f978f9f74d28"/>
    <p:sldId xmlns:r="http://schemas.openxmlformats.org/officeDocument/2006/relationships" id="262" r:id="R74b3cd7428bd45d4"/>
    <p:sldId xmlns:r="http://schemas.openxmlformats.org/officeDocument/2006/relationships" id="263" r:id="R09b96fe0bc754742"/>
    <p:sldId xmlns:r="http://schemas.openxmlformats.org/officeDocument/2006/relationships" id="264" r:id="Rdb1a6ba1518441ef"/>
    <p:sldId xmlns:r="http://schemas.openxmlformats.org/officeDocument/2006/relationships" id="265" r:id="Rcd0463dc472f41e2"/>
    <p:sldId xmlns:r="http://schemas.openxmlformats.org/officeDocument/2006/relationships" id="266" r:id="Rd0a2b5b8c3c44ae9"/>
    <p:sldId xmlns:r="http://schemas.openxmlformats.org/officeDocument/2006/relationships" id="267" r:id="R94fb47c1c6774775"/>
    <p:sldId xmlns:r="http://schemas.openxmlformats.org/officeDocument/2006/relationships" id="268" r:id="R616c6772796e4b8b"/>
    <p:sldId xmlns:r="http://schemas.openxmlformats.org/officeDocument/2006/relationships" id="269" r:id="Rff8ee698940f4d82"/>
    <p:sldId xmlns:r="http://schemas.openxmlformats.org/officeDocument/2006/relationships" id="270" r:id="R71e8367cef2d46f2"/>
    <p:sldId xmlns:r="http://schemas.openxmlformats.org/officeDocument/2006/relationships" id="271" r:id="R3865decdb8004190"/>
    <p:sldId xmlns:r="http://schemas.openxmlformats.org/officeDocument/2006/relationships" id="272" r:id="R2afe408c205b4a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4eeff8f4344a17" /><Relationship Type="http://schemas.openxmlformats.org/officeDocument/2006/relationships/slideMaster" Target="/ppt/slideMasters/slideMaster1.xml" Id="R7920d49001ff4ff7" /><Relationship Type="http://schemas.openxmlformats.org/officeDocument/2006/relationships/notesMaster" Target="/ppt/notesMasters/notesMaster1.xml" Id="R1ae549f3e8dc4c54" /><Relationship Type="http://schemas.openxmlformats.org/officeDocument/2006/relationships/presProps" Target="/ppt/presProps.xml" Id="Raf16915c42f84ddb" /><Relationship Type="http://schemas.openxmlformats.org/officeDocument/2006/relationships/tableStyles" Target="/ppt/tableStyles.xml" Id="R965915eac05140b4" /><Relationship Type="http://schemas.openxmlformats.org/officeDocument/2006/relationships/slide" Target="/ppt/slides/slide1.xml" Id="R154543e8109041ca" /><Relationship Type="http://schemas.openxmlformats.org/officeDocument/2006/relationships/slide" Target="/ppt/slides/slide2.xml" Id="Re7c8fb88879e4eb6" /><Relationship Type="http://schemas.openxmlformats.org/officeDocument/2006/relationships/slide" Target="/ppt/slides/slide3.xml" Id="Raedbb410f4a84a53" /><Relationship Type="http://schemas.openxmlformats.org/officeDocument/2006/relationships/slide" Target="/ppt/slides/slide4.xml" Id="Rec0033fbd22343d5" /><Relationship Type="http://schemas.openxmlformats.org/officeDocument/2006/relationships/slide" Target="/ppt/slides/slide5.xml" Id="Rcf9f8e54c6714930" /><Relationship Type="http://schemas.openxmlformats.org/officeDocument/2006/relationships/slide" Target="/ppt/slides/slide6.xml" Id="R8bd9f978f9f74d28" /><Relationship Type="http://schemas.openxmlformats.org/officeDocument/2006/relationships/slide" Target="/ppt/slides/slide7.xml" Id="R74b3cd7428bd45d4" /><Relationship Type="http://schemas.openxmlformats.org/officeDocument/2006/relationships/slide" Target="/ppt/slides/slide8.xml" Id="R09b96fe0bc754742" /><Relationship Type="http://schemas.openxmlformats.org/officeDocument/2006/relationships/slide" Target="/ppt/slides/slide9.xml" Id="Rdb1a6ba1518441ef" /><Relationship Type="http://schemas.openxmlformats.org/officeDocument/2006/relationships/slide" Target="/ppt/slides/slide10.xml" Id="Rcd0463dc472f41e2" /><Relationship Type="http://schemas.openxmlformats.org/officeDocument/2006/relationships/slide" Target="/ppt/slides/slide11.xml" Id="Rd0a2b5b8c3c44ae9" /><Relationship Type="http://schemas.openxmlformats.org/officeDocument/2006/relationships/slide" Target="/ppt/slides/slide12.xml" Id="R94fb47c1c6774775" /><Relationship Type="http://schemas.openxmlformats.org/officeDocument/2006/relationships/slide" Target="/ppt/slides/slide13.xml" Id="R616c6772796e4b8b" /><Relationship Type="http://schemas.openxmlformats.org/officeDocument/2006/relationships/slide" Target="/ppt/slides/slide14.xml" Id="Rff8ee698940f4d82" /><Relationship Type="http://schemas.openxmlformats.org/officeDocument/2006/relationships/slide" Target="/ppt/slides/slide15.xml" Id="R71e8367cef2d46f2" /><Relationship Type="http://schemas.openxmlformats.org/officeDocument/2006/relationships/slide" Target="/ppt/slides/slide16.xml" Id="R3865decdb8004190" /><Relationship Type="http://schemas.openxmlformats.org/officeDocument/2006/relationships/slide" Target="/ppt/slides/slide17.xml" Id="R2afe408c205b4a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1cd160e32f64a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5ffcb782f5425f" /><Relationship Type="http://schemas.openxmlformats.org/officeDocument/2006/relationships/notesMaster" Target="/ppt/notesMasters/notesMaster1.xml" Id="R1d2175a2c2da4f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de5666e0b74b7e" /><Relationship Type="http://schemas.openxmlformats.org/officeDocument/2006/relationships/notesMaster" Target="/ppt/notesMasters/notesMaster1.xml" Id="R54bb316b0ba24a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e4b72df73a4d01" /><Relationship Type="http://schemas.openxmlformats.org/officeDocument/2006/relationships/notesMaster" Target="/ppt/notesMasters/notesMaster1.xml" Id="Rdf474ca4acf445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b5c7e558364954" /><Relationship Type="http://schemas.openxmlformats.org/officeDocument/2006/relationships/notesMaster" Target="/ppt/notesMasters/notesMaster1.xml" Id="R1da9d576940e4d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348a78a5b54f68" /><Relationship Type="http://schemas.openxmlformats.org/officeDocument/2006/relationships/notesMaster" Target="/ppt/notesMasters/notesMaster1.xml" Id="R9e90682bb0784d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0c2f5e2f384e95" /><Relationship Type="http://schemas.openxmlformats.org/officeDocument/2006/relationships/notesMaster" Target="/ppt/notesMasters/notesMaster1.xml" Id="R80a15a5e7c7544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716f094ea04688" /><Relationship Type="http://schemas.openxmlformats.org/officeDocument/2006/relationships/notesMaster" Target="/ppt/notesMasters/notesMaster1.xml" Id="R0a5b677a17a744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28e237afbf4b4f" /><Relationship Type="http://schemas.openxmlformats.org/officeDocument/2006/relationships/notesMaster" Target="/ppt/notesMasters/notesMaster1.xml" Id="R000d1c7feac04e5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bcd4a53cb3433e" /><Relationship Type="http://schemas.openxmlformats.org/officeDocument/2006/relationships/notesMaster" Target="/ppt/notesMasters/notesMaster1.xml" Id="R710db1ac148d4e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0f1892a8764e49" /><Relationship Type="http://schemas.openxmlformats.org/officeDocument/2006/relationships/notesMaster" Target="/ppt/notesMasters/notesMaster1.xml" Id="R53b3d36dfbe84e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a654e986c24701" /><Relationship Type="http://schemas.openxmlformats.org/officeDocument/2006/relationships/notesMaster" Target="/ppt/notesMasters/notesMaster1.xml" Id="R244763ebbba2449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9331f383154d47" /><Relationship Type="http://schemas.openxmlformats.org/officeDocument/2006/relationships/notesMaster" Target="/ppt/notesMasters/notesMaster1.xml" Id="R8360e3aa539c4b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7c6a63b73c49b1" /><Relationship Type="http://schemas.openxmlformats.org/officeDocument/2006/relationships/notesMaster" Target="/ppt/notesMasters/notesMaster1.xml" Id="R86324e286f944f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ed92d8589b04041" /><Relationship Type="http://schemas.openxmlformats.org/officeDocument/2006/relationships/notesMaster" Target="/ppt/notesMasters/notesMaster1.xml" Id="R943e69400b0d4ca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6ab9a747ed74356" /><Relationship Type="http://schemas.openxmlformats.org/officeDocument/2006/relationships/notesMaster" Target="/ppt/notesMasters/notesMaster1.xml" Id="Rb577d781e6c946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8385ad193e4111" /><Relationship Type="http://schemas.openxmlformats.org/officeDocument/2006/relationships/notesMaster" Target="/ppt/notesMasters/notesMaster1.xml" Id="Reec46804e6f94ff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e23bdc5a9be4c0f" /><Relationship Type="http://schemas.openxmlformats.org/officeDocument/2006/relationships/notesMaster" Target="/ppt/notesMasters/notesMaster1.xml" Id="Re1d1bdc213a94c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 voor organisatoren</a:t>
            </a:r>
          </a:p>
          <a:p xmlns:a="http://schemas.openxmlformats.org/drawingml/2006/main">
            <a:r>
              <a:t>Duur: 25 seconden</a:t>
            </a:r>
          </a:p>
          <a:p xmlns:a="http://schemas.openxmlformats.org/drawingml/2006/main">
            <a:r>
              <a:t/>
            </a:r>
          </a:p>
          <a:p xmlns:a="http://schemas.openxmlformats.org/drawingml/2006/main">
            <a:r>
              <a:t>Welkom bij de organisatorhandleiding van de Live Diabetes Quiz. We doorlopen de activiteit in de volgorde waarin u ze werkelijk uitvoert: eerst de voorbereiding thuis, daarna de opbouw in de zaal, vervolgens de ontvangst van de deelnemers en ten slotte de quiz en de eindanalyse. U ziet daarbij de echte schermen die u later zelf gebruikt.</a:t>
            </a:r>
          </a:p>
          <a:p xmlns:a="http://schemas.openxmlformats.org/drawingml/2006/main">
            <a:r>
              <a:t/>
            </a:r>
          </a:p>
          <a:p xmlns:a="http://schemas.openxmlformats.org/drawingml/2006/main">
            <a:r>
              <a:t>Canva-aanwijzing: Laat eerst het logo verschijnen. Daarna komen titel en de vier fasen rustig in beeld.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met elk een eigen taak</a:t>
            </a:r>
          </a:p>
          <a:p xmlns:a="http://schemas.openxmlformats.org/drawingml/2006/main">
            <a:r>
              <a:t>Duur: 35 seconden</a:t>
            </a:r>
          </a:p>
          <a:p xmlns:a="http://schemas.openxmlformats.org/drawingml/2006/main">
            <a:r>
              <a:t/>
            </a:r>
          </a:p>
          <a:p xmlns:a="http://schemas.openxmlformats.org/drawingml/2006/main">
            <a:r>
              <a:t>De quiz gebruikt drie schermen. De quizmaster bedient alles op de laptop. Iedere deelnemer antwoordt anoniem op de eigen gsm. Het grote zaalscherm toont de vraag en de vier antwoorden, maar nooit de geheime bediening. Onderaan ziet iedereen hoeveel deelnemers verbonden zijn en hoeveel antwoorden ontvangen zijn. Bij bijvoorbeeld dertig verbonden deelnemers en dertig ontvangen antwoorden weet de quizmaster dat iedereen geantwoord heeft.</a:t>
            </a:r>
          </a:p>
          <a:p xmlns:a="http://schemas.openxmlformats.org/drawingml/2006/main">
            <a:r>
              <a:t/>
            </a:r>
          </a:p>
          <a:p xmlns:a="http://schemas.openxmlformats.org/drawingml/2006/main">
            <a:r>
              <a:t>Canva-aanwijzing: Toon de drie schermen één voor één en zoom daarna in op de twee tellers van het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Thuis: mobiele data heeft de voorkeur, wifi blijft beschikbaar</a:t>
            </a:r>
          </a:p>
          <a:p xmlns:a="http://schemas.openxmlformats.org/drawingml/2006/main">
            <a:r>
              <a:t>Duur: 75 seconden</a:t>
            </a:r>
          </a:p>
          <a:p xmlns:a="http://schemas.openxmlformats.org/drawingml/2006/main">
            <a:r>
              <a:t/>
            </a:r>
          </a:p>
          <a:p xmlns:a="http://schemas.openxmlformats.org/drawingml/2006/main">
            <a:r>
              <a:t>Begin ruim vóór de activiteit met de zaalgegevens. De eenvoudigste keuze is dat iedere deelnemer de eigen mobiele data gebruikt. Veel mensen zijn tegenwoordig voortdurend online en hebben een datapakket dat hiervoor ruim volstaat. Ze hoeven dan geen nieuw netwerk te kiezen of een wifiwachtwoord in te voeren. Is er gratis zaalwifi, bied die keuze dan toch aan op het briefje. Sommige deelnemers gebruiken liever wifi of hebben weinig mobiele data. De organisator test vooraf in de zaal beide mogelijkheden: de zaalwifi met meerdere toestellen én de mobiele ontvangst, liefst met verschillende mobiele netwerken. Is de mobiele ontvangst goed, zeg dan bij het onthaal dat de eigen mobiele data de gemakkelijkste keuze is. Is de mobiele ontvangst zwak of onbetrouwbaar, vraag deelnemers dan uitdrukkelijk de zaalwifi en de wifi-QR-code op hun briefje te gebruiken. Noteer daarom vooraf de exacte wifinaam en het wachtwoord. Zonder zaalwifi vermeldt het briefje alleen mobiele data. Deze voorbereiding en duidelijke communicatie voorkomen het grootste deel van het oponthoud bij de start.</a:t>
            </a:r>
          </a:p>
          <a:p xmlns:a="http://schemas.openxmlformats.org/drawingml/2006/main">
            <a:r>
              <a:t/>
            </a:r>
          </a:p>
          <a:p xmlns:a="http://schemas.openxmlformats.org/drawingml/2006/main">
            <a:r>
              <a:t>Canva-aanwijzing: Zet “Voorkeur: eigen mobiele data” duidelijk bovenaan. Toon daarnaast “Gratis zaalwifi: vrije keuze en reserve”. Eindig met de beslisregel: goed mobiel bereik is mobiele data; slecht mobiel bereik is zaalwifi adviseren.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Thuis of op kantoor: voer eerst de volledige proefquiz uit</a:t>
            </a:r>
          </a:p>
          <a:p xmlns:a="http://schemas.openxmlformats.org/drawingml/2006/main">
            <a:r>
              <a:t>Duur: 50 seconden</a:t>
            </a:r>
          </a:p>
          <a:p xmlns:a="http://schemas.openxmlformats.org/drawingml/2006/main">
            <a:r>
              <a:t/>
            </a:r>
          </a:p>
          <a:p xmlns:a="http://schemas.openxmlformats.org/drawingml/2006/main">
            <a:r>
              <a:t>Wilt u de volledige werking testen, doe dat dan thuis of op kantoor, vóór u de definitieve sessie maakt en vóór u deelnemersbriefjes afdrukt. Maak een tijdelijke sessie van vijf vragen en oefen bijvoorbeeld met enkele bestuursleden. Doorloop de wachtkamer, de vragen, de antwoordtellers, de oplossingen en de eindanalyse. Dit is de volledige functionele proefquiz. Rond deze tijdelijke proef af. Maak pas daarna de definitieve sessie voor de echte zaalactiviteit. Iedere nieuwe sessie krijgt namelijk een andere quizcode; daarom mogen er voor de tijdelijke proef nog geen definitieve briefjes worden afgedrukt.</a:t>
            </a:r>
          </a:p>
          <a:p xmlns:a="http://schemas.openxmlformats.org/drawingml/2006/main">
            <a:r>
              <a:t/>
            </a:r>
          </a:p>
          <a:p xmlns:a="http://schemas.openxmlformats.org/drawingml/2006/main">
            <a:r>
              <a:t>Canva-aanwijzing: Toon duidelijk “thuis of kantoor”, vervolgens “tijdelijke proef — 5 vragen”, “volledig doorlopen” en pas daarna “definitieve sessie”.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Na de proef: maak de definitieve quizsessie en code</a:t>
            </a:r>
          </a:p>
          <a:p xmlns:a="http://schemas.openxmlformats.org/drawingml/2006/main">
            <a:r>
              <a:t>Duur: 50 seconden</a:t>
            </a:r>
          </a:p>
          <a:p xmlns:a="http://schemas.openxmlformats.org/drawingml/2006/main">
            <a:r>
              <a:t/>
            </a:r>
          </a:p>
          <a:p xmlns:a="http://schemas.openxmlformats.org/drawingml/2006/main">
            <a:r>
              <a:t>Is de volledige proefquiz afgerond en werkt alles zoals verwacht, maak dan op de laptop en in de gewone browser die later meegaan de definitieve zaalquiz. Kies het gewenste aantal vragen. Tien vragen is aanbevolen voor een gewone activiteit en twintig is het aanbevolen maximum. Klik op Nieuwe quizsessie maken. Nu ontstaat de definitieve driecijferige code die straks op alle deelnemersbriefjes komt. Vanaf dit moment maakt u geen nieuwe sessie meer en wist u geen browsergegevens. Anders verandert de code en komen de vooraf afgedrukte briefjes niet meer overeen met de zaalquiz.</a:t>
            </a:r>
          </a:p>
          <a:p xmlns:a="http://schemas.openxmlformats.org/drawingml/2006/main">
            <a:r>
              <a:t/>
            </a:r>
          </a:p>
          <a:p xmlns:a="http://schemas.openxmlformats.org/drawingml/2006/main">
            <a:r>
              <a:t>Canva-aanwijzing: Begin met “proef geslaagd”, markeer daarna de keuzelijst, Nieuwe quizsessie maken en ten slotte “definitieve code voor de briefjes”.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Thuis: stel de deelnemersbriefjes juist in</a:t>
            </a:r>
          </a:p>
          <a:p xmlns:a="http://schemas.openxmlformats.org/drawingml/2006/main">
            <a:r>
              <a:t>Duur: 60 seconden</a:t>
            </a:r>
          </a:p>
          <a:p xmlns:a="http://schemas.openxmlformats.org/drawingml/2006/main">
            <a:r>
              <a:t/>
            </a:r>
          </a:p>
          <a:p xmlns:a="http://schemas.openxmlformats.org/drawingml/2006/main">
            <a:r>
              <a:t>Klik bij de definitieve sessie op Deelnemersbriefjes afdrukken. De juiste quizcode staat automatisch op ieder briefje. Is zaalwifi beschikbaar, vul dan de exacte wifinaam en het wachtwoord in. Het systeem maakt daarvoor een aparte wifi-QR-code. Is er geen zaalwifi, laat beide velden leeg. De wifi-keuze en wifi-QR-code verdwijnen dan van het briefje en de eerste stap zegt uitsluitend dat mobiele data moet worden aangezet. Zo krijgt niemand een keuze die in de zaal niet werkt. Controleer ook of de quizlink en de drie cijfers duidelijk leesbaar zijn.</a:t>
            </a:r>
          </a:p>
          <a:p xmlns:a="http://schemas.openxmlformats.org/drawingml/2006/main">
            <a:r>
              <a:t/>
            </a:r>
          </a:p>
          <a:p xmlns:a="http://schemas.openxmlformats.org/drawingml/2006/main">
            <a:r>
              <a:t>Canva-aanwijzing: Toon eerst de keuze wifi of mobiele data, daarna de quiz-QR-code en de quizcode.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Thuis: proefdruk, testen, afdrukken en snijden</a:t>
            </a:r>
          </a:p>
          <a:p xmlns:a="http://schemas.openxmlformats.org/drawingml/2006/main">
            <a:r>
              <a:t>Duur: 60 seconden</a:t>
            </a:r>
          </a:p>
          <a:p xmlns:a="http://schemas.openxmlformats.org/drawingml/2006/main">
            <a:r>
              <a:t/>
            </a:r>
          </a:p>
          <a:p xmlns:a="http://schemas.openxmlformats.org/drawingml/2006/main">
            <a:r>
              <a:t>Maak eerst één proefafdruk op A4 in staande richting, met de schaal op honderd procent of standaard. Er staan twee verticale briefjes op één vel. Scan zelf de wifi-QR-code wanneer die aanwezig is en scan ook de quiz-QR-code. Controleer of de gsm de juiste wachtkamer opent en of de drie cijfers overeenkomen met de definitieve quizcode op de laptop. Druk daarna voldoende exemplaren af, plus enkele reserves. Voor zestig deelnemers zijn dertig A4-vellen nodig, aangevuld met reservevellen. Snijd de briefjes vooraf en leg ze per stapel klaar.</a:t>
            </a:r>
          </a:p>
          <a:p xmlns:a="http://schemas.openxmlformats.org/drawingml/2006/main">
            <a:r>
              <a:t/>
            </a:r>
          </a:p>
          <a:p xmlns:a="http://schemas.openxmlformats.org/drawingml/2006/main">
            <a:r>
              <a:t>Canva-aanwijzing: Toon achtereenvolgens proefafdruk, twee briefjes per A4, QR-test, codecontrole, oplage en snijden.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Thuis: pak alles in voor de zaal</a:t>
            </a:r>
          </a:p>
          <a:p xmlns:a="http://schemas.openxmlformats.org/drawingml/2006/main">
            <a:r>
              <a:t>Duur: 40 seconden</a:t>
            </a:r>
          </a:p>
          <a:p xmlns:a="http://schemas.openxmlformats.org/drawingml/2006/main">
            <a:r>
              <a:t/>
            </a:r>
          </a:p>
          <a:p xmlns:a="http://schemas.openxmlformats.org/drawingml/2006/main">
            <a:r>
              <a:t>Neem dezelfde laptop mee waarmee de definitieve sessie is gemaakt, samen met de oplader, de nodige beeldkabels en eventueel een verlengkabel. Neem de gesneden deelnemersbriefjes, voldoende reservebriefjes en de genoteerde zaalgegevens mee. Sluit de browser gerust af, maar verwijder geen browsergegevens. De definitieve sessie wordt later op dezelfde laptop en in dezelfde browser opnieuw geopend. Daarmee is de voorbereiding thuis afgerond.</a:t>
            </a:r>
          </a:p>
          <a:p xmlns:a="http://schemas.openxmlformats.org/drawingml/2006/main">
            <a:r>
              <a:t/>
            </a:r>
          </a:p>
          <a:p xmlns:a="http://schemas.openxmlformats.org/drawingml/2006/main">
            <a:r>
              <a:t>Canva-aanwijzing: Bouw een korte checklist op: laptop, oplader, kabels, briefjes, reserves en zaalgegevens.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In de zaal: begin ongeveer anderhalf uur vooraf</a:t>
            </a:r>
          </a:p>
          <a:p xmlns:a="http://schemas.openxmlformats.org/drawingml/2006/main">
            <a:r>
              <a:t>Duur: 50 seconden</a:t>
            </a:r>
          </a:p>
          <a:p xmlns:a="http://schemas.openxmlformats.org/drawingml/2006/main">
            <a:r>
              <a:t/>
            </a:r>
          </a:p>
          <a:p xmlns:a="http://schemas.openxmlformats.org/drawingml/2006/main">
            <a:r>
              <a:t>Kom bij voorkeur ongeveer anderhalf uur vóór de deelnemers aan. Sluit de laptop aan op stroom en internet en verbind hem met de projector of het grote scherm. Stel Windows zo in dat de beeldschermen worden uitgebreid. Op de laptop blijft de quizmasterbediening staan; op het grote scherm opent u uitsluitend het zaalscherm. Controleer of tekst, geluid indien gebruikt en internetverbinding goed werken en of het zaalscherm vanuit de achterste rij leesbaar is.</a:t>
            </a:r>
          </a:p>
          <a:p xmlns:a="http://schemas.openxmlformats.org/drawingml/2006/main">
            <a:r>
              <a:t/>
            </a:r>
          </a:p>
          <a:p xmlns:a="http://schemas.openxmlformats.org/drawingml/2006/main">
            <a:r>
              <a:t>Canva-aanwijzing: Toon een tijdlijn “90 minuten vooraf”, gevolgd door laptop, internet, projector en uitgebreid bureaublad.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In de zaal: open de bestaande definitieve sessie</a:t>
            </a:r>
          </a:p>
          <a:p xmlns:a="http://schemas.openxmlformats.org/drawingml/2006/main">
            <a:r>
              <a:t>Duur: 45 seconden</a:t>
            </a:r>
          </a:p>
          <a:p xmlns:a="http://schemas.openxmlformats.org/drawingml/2006/main">
            <a:r>
              <a:t/>
            </a:r>
          </a:p>
          <a:p xmlns:a="http://schemas.openxmlformats.org/drawingml/2006/main">
            <a:r>
              <a:t>Open op dezelfde laptop en in dezelfde browser het quizmasterscherm. De eerder gemaakte definitieve sessie verschijnt opnieuw. Vergelijk onmiddellijk de driecijferige code op het scherm met een afgedrukt briefje. Ze moeten identiek zijn. Klik daarna op Open groot zaalscherm en plaats dat venster op de projector. Maak in de zaal geen nieuwe sessie meer, want dan krijgen de afgedrukte briefjes een verkeerde code.</a:t>
            </a:r>
          </a:p>
          <a:p xmlns:a="http://schemas.openxmlformats.org/drawingml/2006/main">
            <a:r>
              <a:t/>
            </a:r>
          </a:p>
          <a:p xmlns:a="http://schemas.openxmlformats.org/drawingml/2006/main">
            <a:r>
              <a:t>Canva-aanwijzing: Laat laptopcode en papiercode naast elkaar verschijnen met een groen gelijkteken; toon daarna Open groot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In de zaal: alleen technisch controleren, geen vragen starten</a:t>
            </a:r>
          </a:p>
          <a:p xmlns:a="http://schemas.openxmlformats.org/drawingml/2006/main">
            <a:r>
              <a:t>Duur: 50 seconden</a:t>
            </a:r>
          </a:p>
          <a:p xmlns:a="http://schemas.openxmlformats.org/drawingml/2006/main">
            <a:r>
              <a:t/>
            </a:r>
          </a:p>
          <a:p xmlns:a="http://schemas.openxmlformats.org/drawingml/2006/main">
            <a:r>
              <a:t>Neem één reservebriefje en scan het met uw eigen gsm. Controleer of de juiste definitieve code opent, of de wachtkamer met U bent verbonden verschijnt en of de deelnemersteller op de laptop en het zaalscherm met één stijgt. Kijk ook of de projectie goed leesbaar is. Stop de controle daar: start geen enkele quizvraag. De volledige proefquiz werd thuis of op kantoor met een tijdelijke sessie uitgevoerd. De sessie die nu openstaat is de definitieve zaalquiz waarvan de code op alle afgedrukte briefjes staat. Die wordt pas gestart wanneer de deelnemers aanwezig en verbonden zijn.</a:t>
            </a:r>
          </a:p>
          <a:p xmlns:a="http://schemas.openxmlformats.org/drawingml/2006/main">
            <a:r>
              <a:t/>
            </a:r>
          </a:p>
          <a:p xmlns:a="http://schemas.openxmlformats.org/drawingml/2006/main">
            <a:r>
              <a:t>Canva-aanwijzing: Toon codecontrole, wachtkamer, teller één en leesbare projectie. Plaats daarna een duidelijk stopsymbool bij “geen vragen starten”.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Voor de deuren opengaan: bereid de ontvangst voor</a:t>
            </a:r>
          </a:p>
          <a:p xmlns:a="http://schemas.openxmlformats.org/drawingml/2006/main">
            <a:r>
              <a:t>Duur: 50 seconden</a:t>
            </a:r>
          </a:p>
          <a:p xmlns:a="http://schemas.openxmlformats.org/drawingml/2006/main">
            <a:r>
              <a:t/>
            </a:r>
          </a:p>
          <a:p xmlns:a="http://schemas.openxmlformats.org/drawingml/2006/main">
            <a:r>
              <a:t>Leg de briefjes bij de ingang en bewaar een aparte stapel reserves. Spreek met de helpers één vaste uitleg af: neem één briefje, zet eerst internet aan, open daarna de quiz en laat de pagina openstaan. Voorzie bij een grotere zaal ongeveer vijftien tot twintig minuten om iedereen te verbinden. Laat bij voorkeur één helper aan de ingang het briefje uitdelen en één helper in de zaal mensen met hun gsm helpen. Op het grote scherm blijft intussen rustig de wachtkamer zichtbaar.</a:t>
            </a:r>
          </a:p>
          <a:p xmlns:a="http://schemas.openxmlformats.org/drawingml/2006/main">
            <a:r>
              <a:t/>
            </a:r>
          </a:p>
          <a:p xmlns:a="http://schemas.openxmlformats.org/drawingml/2006/main">
            <a:r>
              <a:t>Canva-aanwijzing: Toon de ingang, één briefje per persoon, twee helpers en het wachtkamerscherm.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13 — Bij ontvangst: geef iedere deelnemer één briefje</a:t>
            </a:r>
          </a:p>
          <a:p xmlns:a="http://schemas.openxmlformats.org/drawingml/2006/main">
            <a:r>
              <a:t>Duur: 55 seconden</a:t>
            </a:r>
          </a:p>
          <a:p xmlns:a="http://schemas.openxmlformats.org/drawingml/2006/main">
            <a:r>
              <a:t/>
            </a:r>
          </a:p>
          <a:p xmlns:a="http://schemas.openxmlformats.org/drawingml/2006/main">
            <a:r>
              <a:t>Geef het briefje bij het binnenkomen, dus vóór de deelnemer plaatsneemt. Vraag eerst om internet actief te maken. Staat op het briefje alleen mobiele data, dan zet de deelnemer mobiele data aan. Staat er zaalwifi op, dan kan men mobiele data gebruiken of de wifi-QR-code scannen; lukt dat niet, dan staan wifinaam en wachtwoord ook leesbaar vermeld. Test zo nodig of een gewone website opent. Pas wanneer internet werkt, gaat de deelnemer verder naar de quiz.</a:t>
            </a:r>
          </a:p>
          <a:p xmlns:a="http://schemas.openxmlformats.org/drawingml/2006/main">
            <a:r>
              <a:t/>
            </a:r>
          </a:p>
          <a:p xmlns:a="http://schemas.openxmlformats.org/drawingml/2006/main">
            <a:r>
              <a:t>Canva-aanwijzing: Volg letterlijk stap één van het briefje en toon beide mogelijke versies: mobiele data of zaalwifi.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14 — Bij ontvangst: open de quiz en wacht</a:t>
            </a:r>
          </a:p>
          <a:p xmlns:a="http://schemas.openxmlformats.org/drawingml/2006/main">
            <a:r>
              <a:t>Duur: 50 seconden</a:t>
            </a:r>
          </a:p>
          <a:p xmlns:a="http://schemas.openxmlformats.org/drawingml/2006/main">
            <a:r>
              <a:t/>
            </a:r>
          </a:p>
          <a:p xmlns:a="http://schemas.openxmlformats.org/drawingml/2006/main">
            <a:r>
              <a:t>De deelnemer scant nu de quiz-QR-code en tikt op de link. Werkt scannen niet, dan wordt de vermelde link in de adresbalk van Chrome, Safari of een andere browser getypt en worden de drie cijfers ingevuld. Een naam of e-mailadres wordt nooit gevraagd. Zodra U bent verbonden verschijnt, laat de deelnemer de pagina openstaan en neemt plaats. De quizmaster vergelijkt de verbindingsteller met het aantal mensen dat wil deelnemen en start pas wanneer iedereen klaar is.</a:t>
            </a:r>
          </a:p>
          <a:p xmlns:a="http://schemas.openxmlformats.org/drawingml/2006/main">
            <a:r>
              <a:t/>
            </a:r>
          </a:p>
          <a:p xmlns:a="http://schemas.openxmlformats.org/drawingml/2006/main">
            <a:r>
              <a:t>Canva-aanwijzing: Toon quiz-QR-code, reserve-link, drie cijfers, U bent verbonden en ten slotte de verbindingsteller.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15 — Tijdens de quiz: antwoorden tellen en samen verdergaan</a:t>
            </a:r>
          </a:p>
          <a:p xmlns:a="http://schemas.openxmlformats.org/drawingml/2006/main">
            <a:r>
              <a:t>Duur: 60 seconden</a:t>
            </a:r>
          </a:p>
          <a:p xmlns:a="http://schemas.openxmlformats.org/drawingml/2006/main">
            <a:r>
              <a:t/>
            </a:r>
          </a:p>
          <a:p xmlns:a="http://schemas.openxmlformats.org/drawingml/2006/main">
            <a:r>
              <a:t>De quizmaster start de eerste vraag. Op iedere gsm en op het grote scherm verschijnen dezelfde vraag en vier antwoorden. Iedere deelnemer kiest één antwoord; dat wordt onmiddellijk en anoniem bewaard. Kijk bij iedere vraag naar de tellers. Zijn er bijvoorbeeld dertig deelnemers verbonden en achtentwintig antwoorden ontvangen, wacht dan nog even en vraag of iemand hulp nodig heeft. Bij dertig van de dertig zijn alle antwoorden binnen. Sluit daarna de antwoorden, toon het juiste antwoord, geef een korte toelichting en ga pas dan naar de volgende vraag.</a:t>
            </a:r>
          </a:p>
          <a:p xmlns:a="http://schemas.openxmlformats.org/drawingml/2006/main">
            <a:r>
              <a:t/>
            </a:r>
          </a:p>
          <a:p xmlns:a="http://schemas.openxmlformats.org/drawingml/2006/main">
            <a:r>
              <a:t>Canva-aanwijzing: Animeer 30 verbonden, daarna 28 en vervolgens 30 ontvangen; toon daarna sluiten, oplossing en volgende vraag.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16 — Na de laatste vraag: score en gezamenlijke eindanalyse</a:t>
            </a:r>
          </a:p>
          <a:p xmlns:a="http://schemas.openxmlformats.org/drawingml/2006/main">
            <a:r>
              <a:t>Duur: 45 seconden</a:t>
            </a:r>
          </a:p>
          <a:p xmlns:a="http://schemas.openxmlformats.org/drawingml/2006/main">
            <a:r>
              <a:t/>
            </a:r>
          </a:p>
          <a:p xmlns:a="http://schemas.openxmlformats.org/drawingml/2006/main">
            <a:r>
              <a:t>Na de laatste vraag ziet iedere deelnemer alleen op de eigen gsm de persoonlijke score en de eigen fout beantwoorde vragen. Er is geen rangschikking. Met de knop Eindanalyse toont de quizmaster op het grote zaalscherm de drie vragen die de groep het vaakst fout beantwoordde, telkens samen met het juiste antwoord. Gebruik dit als laatste leermoment. Persoonlijke scores, namen en e-mailadressen verschijnen nooit op het zaalscherm.</a:t>
            </a:r>
          </a:p>
          <a:p xmlns:a="http://schemas.openxmlformats.org/drawingml/2006/main">
            <a:r>
              <a:t/>
            </a:r>
          </a:p>
          <a:p xmlns:a="http://schemas.openxmlformats.org/drawingml/2006/main">
            <a:r>
              <a:t>Canva-aanwijzing: Toon eerst de persoonlijke score op de gsm, daarna de knop Eindanalyse en vervolgens de gezamenlijke top drie.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17 — Na afloop: herhalen of zaal en online samenbrengen</a:t>
            </a:r>
          </a:p>
          <a:p xmlns:a="http://schemas.openxmlformats.org/drawingml/2006/main">
            <a:r>
              <a:t>Duur: 65 seconden</a:t>
            </a:r>
          </a:p>
          <a:p xmlns:a="http://schemas.openxmlformats.org/drawingml/2006/main">
            <a:r>
              <a:t/>
            </a:r>
          </a:p>
          <a:p xmlns:a="http://schemas.openxmlformats.org/drawingml/2006/main">
            <a:r>
              <a:t>Wilt u met dezelfde aanwezige groep nog een quiz spelen, kies dan Nieuwe sessie voorbereiden. De gsm’s en het zaalscherm kunnen die nieuwe sessie automatisch volgen zolang iedereen verbonden blijft; nieuwe briefjes zijn dan niet nodig. Omdat de quiz volledig via internet werkt, kunnen ook mensen deelnemen die de voorafgaande infosessie online volgen. Deel vlak vóór de quiz de deelnemerslink en de driecijferige code via de online vergaderchat of stuur die informatie vooraf mee. De online deelnemer opent de quiz op een gsm, tablet of tweede browservenster en ziet daar dezelfde vragen en antwoorden. De quizmaster hoeft geen aparte sessie te maken: zaal- en online deelnemers verschijnen samen in de tellers voor verbonden deelnemers en ontvangen antwoorden. Zo kan de quiz een vaste gezamenlijke afsluiter worden na iedere infosessie. Voor een activiteit op een andere dag begint u opnieuw bij de thuisvoorbereiding en maakt u een nieuwe definitieve sessie met nieuwe briefjes.</a:t>
            </a:r>
          </a:p>
          <a:p xmlns:a="http://schemas.openxmlformats.org/drawingml/2006/main">
            <a:r>
              <a:t/>
            </a:r>
          </a:p>
          <a:p xmlns:a="http://schemas.openxmlformats.org/drawingml/2006/main">
            <a:r>
              <a:t>Canva-aanwijzing: Toon eerst “dezelfde groep — geen nieuwe briefjes”. Voeg daarna “zaal + online in dezelfde quiz” toe met één gedeelde teller. Eindig met “nieuwe dag — opnieuw thuis voorbereiden”.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12e2d818fd41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8bb90d2fc74dd5" /><Relationship Type="http://schemas.openxmlformats.org/officeDocument/2006/relationships/slideLayout" Target="/ppt/slideLayouts/slideLayout1.xml" Id="R194cbd28c0c94f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4cbd28c0c94f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5b496ed50c4848" /><Relationship Type="http://schemas.openxmlformats.org/officeDocument/2006/relationships/image" Target="/ppt/media/image.png" Id="R649acbbaf6cb4b3f" /><Relationship Type="http://schemas.openxmlformats.org/officeDocument/2006/relationships/notesSlide" Target="/ppt/notesSlides/notesSlide1.xml" Id="R3023e0e1274140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0e84395fa0b4a92" /><Relationship Type="http://schemas.openxmlformats.org/officeDocument/2006/relationships/image" Target="/ppt/media/image.jpeg" Id="R70a0cf8d9a7141bc" /><Relationship Type="http://schemas.openxmlformats.org/officeDocument/2006/relationships/notesSlide" Target="/ppt/notesSlides/notesSlide2.xml" Id="Rac48107bab8d4f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89f99f5922442e5" /><Relationship Type="http://schemas.openxmlformats.org/officeDocument/2006/relationships/image" Target="/ppt/media/image2.jpeg" Id="R78194f9bef994801" /><Relationship Type="http://schemas.openxmlformats.org/officeDocument/2006/relationships/notesSlide" Target="/ppt/notesSlides/notesSlide3.xml" Id="R09338f12f03948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9097c9d4474966" /><Relationship Type="http://schemas.openxmlformats.org/officeDocument/2006/relationships/image" Target="/ppt/media/image3.jpeg" Id="R008cc798349e45b8" /><Relationship Type="http://schemas.openxmlformats.org/officeDocument/2006/relationships/notesSlide" Target="/ppt/notesSlides/notesSlide4.xml" Id="Rd29dc756eb864d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c3f8d933b4f4f21" /><Relationship Type="http://schemas.openxmlformats.org/officeDocument/2006/relationships/image" Target="/ppt/media/image4.jpeg" Id="R2baedfd4c7a14b15" /><Relationship Type="http://schemas.openxmlformats.org/officeDocument/2006/relationships/notesSlide" Target="/ppt/notesSlides/notesSlide5.xml" Id="R6adc357be40242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402c2f436a3425d" /><Relationship Type="http://schemas.openxmlformats.org/officeDocument/2006/relationships/image" Target="/ppt/media/image5.jpeg" Id="Rb7ad9c35d26b4de4" /><Relationship Type="http://schemas.openxmlformats.org/officeDocument/2006/relationships/notesSlide" Target="/ppt/notesSlides/notesSlide6.xml" Id="Rabd6e65d0ca947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b77fc640fe84bda" /><Relationship Type="http://schemas.openxmlformats.org/officeDocument/2006/relationships/image" Target="/ppt/media/image6.jpeg" Id="R2b1b32c9ac5a4bb1" /><Relationship Type="http://schemas.openxmlformats.org/officeDocument/2006/relationships/notesSlide" Target="/ppt/notesSlides/notesSlide7.xml" Id="R047dba3a8b914e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531f6bf66df43a3" /><Relationship Type="http://schemas.openxmlformats.org/officeDocument/2006/relationships/image" Target="/ppt/media/image7.jpeg" Id="R2bf21794baf74b2d" /><Relationship Type="http://schemas.openxmlformats.org/officeDocument/2006/relationships/notesSlide" Target="/ppt/notesSlides/notesSlide8.xml" Id="R09c1d2b23c0d4b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53fa04bfa6f4b6c" /><Relationship Type="http://schemas.openxmlformats.org/officeDocument/2006/relationships/image" Target="/ppt/media/image8.jpeg" Id="R2c44c759035240a6" /><Relationship Type="http://schemas.openxmlformats.org/officeDocument/2006/relationships/notesSlide" Target="/ppt/notesSlides/notesSlide9.xml" Id="R99fd576b37f2495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e124e7ba0e7447b" /><Relationship Type="http://schemas.openxmlformats.org/officeDocument/2006/relationships/image" Target="/ppt/media/image9.jpeg" Id="R42d036dd05584c59" /><Relationship Type="http://schemas.openxmlformats.org/officeDocument/2006/relationships/notesSlide" Target="/ppt/notesSlides/notesSlide10.xml" Id="Rf014a74e7df94c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3192b04dacd46ac" /><Relationship Type="http://schemas.openxmlformats.org/officeDocument/2006/relationships/image" Target="/ppt/media/image10.jpeg" Id="Rd3b524e3239b48be" /><Relationship Type="http://schemas.openxmlformats.org/officeDocument/2006/relationships/notesSlide" Target="/ppt/notesSlides/notesSlide11.xml" Id="Ra03cb976499f48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a5dbe9c81334747" /><Relationship Type="http://schemas.openxmlformats.org/officeDocument/2006/relationships/image" Target="/ppt/media/image11.jpeg" Id="R929eefec3d724baf" /><Relationship Type="http://schemas.openxmlformats.org/officeDocument/2006/relationships/notesSlide" Target="/ppt/notesSlides/notesSlide12.xml" Id="R18e200f06c9c47e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4ac9933c9f418f" /><Relationship Type="http://schemas.openxmlformats.org/officeDocument/2006/relationships/image" Target="/ppt/media/image12.jpeg" Id="R07154d8d3ccc4000" /><Relationship Type="http://schemas.openxmlformats.org/officeDocument/2006/relationships/notesSlide" Target="/ppt/notesSlides/notesSlide13.xml" Id="R62c8a3e00d7d4ce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c874d12d87c4636" /><Relationship Type="http://schemas.openxmlformats.org/officeDocument/2006/relationships/image" Target="/ppt/media/image13.jpeg" Id="Ra2fc31fb03a747f4" /><Relationship Type="http://schemas.openxmlformats.org/officeDocument/2006/relationships/notesSlide" Target="/ppt/notesSlides/notesSlide14.xml" Id="R45e376f1ee6b4d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44ad843627c4c5b" /><Relationship Type="http://schemas.openxmlformats.org/officeDocument/2006/relationships/image" Target="/ppt/media/image14.jpeg" Id="R7e92e69a383a4448" /><Relationship Type="http://schemas.openxmlformats.org/officeDocument/2006/relationships/notesSlide" Target="/ppt/notesSlides/notesSlide15.xml" Id="R87ab741b3191428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311998cafed410b" /><Relationship Type="http://schemas.openxmlformats.org/officeDocument/2006/relationships/image" Target="/ppt/media/image15.jpeg" Id="Rd6ff9459d3d64ac1" /><Relationship Type="http://schemas.openxmlformats.org/officeDocument/2006/relationships/image" Target="/ppt/media/image16.jpeg" Id="Rdf2802bd387b4d61" /><Relationship Type="http://schemas.openxmlformats.org/officeDocument/2006/relationships/notesSlide" Target="/ppt/notesSlides/notesSlide16.xml" Id="Rbcd169f6f39d41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b547a0d3b614f93" /><Relationship Type="http://schemas.openxmlformats.org/officeDocument/2006/relationships/image" Target="/ppt/media/image17.jpeg" Id="R9e91d34e3ec643c5" /><Relationship Type="http://schemas.openxmlformats.org/officeDocument/2006/relationships/notesSlide" Target="/ppt/notesSlides/notesSlide17.xml" Id="Re320eaa3f54841cd" /></Relationships>
</file>

<file path=ppt/slides/slide1.xml><?xml version="1.0" encoding="utf-8"?>
<p:sld xmlns:p="http://schemas.openxmlformats.org/presentationml/2006/main">
  <p:cSld>
    <p:bg>
      <p:bgPr>
        <a:solidFill xmlns:a="http://schemas.openxmlformats.org/drawingml/2006/main">
          <a:srgbClr val="075678"/>
        </a:solidFill>
      </p:bgPr>
    </p:bg>
    <p:spTree>
      <p:nvGrpSpPr>
        <p:cNvPr id="1" name=""/>
        <p:cNvGrpSpPr/>
        <p:nvPr/>
      </p:nvGrpSpPr>
      <p:grpSpPr>
        <a:xfrm xmlns:a="http://schemas.openxmlformats.org/drawingml/2006/main"/>
      </p:grpSpPr>
      <p:sp>
        <p:nvSpPr>
          <p:cNvPr id="10" name="title-accent">
            <a:extLst xmlns:a="http://schemas.openxmlformats.org/drawingml/2006/main">
              <a:ext uri="{FF2B5EF4-FFF2-40B4-BE49-F238E27FC236}">
                <a16:creationId xmlns:a16="http://schemas.microsoft.com/office/drawing/2014/main" id="{9356D2BB-276F-4BED-88E7-59688D344FD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2" name="logo-surface">
            <a:extLst xmlns:a="http://schemas.openxmlformats.org/drawingml/2006/main">
              <a:ext uri="{FF2B5EF4-FFF2-40B4-BE49-F238E27FC236}">
                <a16:creationId xmlns:a16="http://schemas.microsoft.com/office/drawing/2014/main" id="{BF04C547-7866-4606-BADB-FC8A9D7143E7}"/>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49acbbaf6cb4b3f"/>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4" name="title-kicker">
            <a:extLst xmlns:a="http://schemas.openxmlformats.org/drawingml/2006/main">
              <a:ext uri="{FF2B5EF4-FFF2-40B4-BE49-F238E27FC236}">
                <a16:creationId xmlns:a16="http://schemas.microsoft.com/office/drawing/2014/main" id="{65C26E31-C094-4979-879A-C06CC3B70E3A}"/>
              </a:ext>
            </a:extLst>
          </p:cNvPr>
          <p:cNvSpPr>
            <a:spLocks xmlns:a="http://schemas.openxmlformats.org/drawingml/2006/main" noGrp="1"/>
          </p:cNvSpPr>
          <p:nvPr/>
        </p:nvSpPr>
        <p:spPr>
          <a:xfrm xmlns:a="http://schemas.openxmlformats.org/drawingml/2006/main">
            <a:off x="685800" y="21907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350" b="1">
                <a:solidFill>
                  <a:srgbClr val="BFE8F2"/>
                </a:solidFill>
              </a:defRPr>
            </a:pPr>
            <a:r>
              <a:rPr sz="1350" b="1">
                <a:solidFill>
                  <a:srgbClr val="BFE8F2"/>
                </a:solidFill>
              </a:rPr>
              <a:t>VIDEOHANDLEIDING VOOR ORGANISATOREN</a:t>
            </a:r>
          </a:p>
        </p:txBody>
      </p:sp>
      <p:sp>
        <p:nvSpPr>
          <p:cNvPr id="5" name="deck-title">
            <a:extLst xmlns:a="http://schemas.openxmlformats.org/drawingml/2006/main">
              <a:ext uri="{FF2B5EF4-FFF2-40B4-BE49-F238E27FC236}">
                <a16:creationId xmlns:a16="http://schemas.microsoft.com/office/drawing/2014/main" id="{EAEDB489-DC5D-4CF6-8865-A5791FF78240}"/>
              </a:ext>
            </a:extLst>
          </p:cNvPr>
          <p:cNvSpPr>
            <a:spLocks xmlns:a="http://schemas.openxmlformats.org/drawingml/2006/main" noGrp="1"/>
          </p:cNvSpPr>
          <p:nvPr/>
        </p:nvSpPr>
        <p:spPr>
          <a:xfrm xmlns:a="http://schemas.openxmlformats.org/drawingml/2006/main">
            <a:off x="685800" y="2647950"/>
            <a:ext cx="857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4050" b="1">
                <a:solidFill>
                  <a:srgbClr val="FFFFFF"/>
                </a:solidFill>
              </a:defRPr>
            </a:pPr>
            <a:r>
              <a:rPr sz="4050" b="1">
                <a:solidFill>
                  <a:srgbClr val="FFFFFF"/>
                </a:solidFill>
              </a:rPr>
              <a:t>Live Diabetes Quiz</a:t>
            </a:r>
          </a:p>
        </p:txBody>
      </p:sp>
      <p:sp>
        <p:nvSpPr>
          <p:cNvPr id="6" name="deck-subtitle">
            <a:extLst xmlns:a="http://schemas.openxmlformats.org/drawingml/2006/main">
              <a:ext uri="{FF2B5EF4-FFF2-40B4-BE49-F238E27FC236}">
                <a16:creationId xmlns:a16="http://schemas.microsoft.com/office/drawing/2014/main" id="{491EEACE-916A-4776-8E24-281FF587071C}"/>
              </a:ext>
            </a:extLst>
          </p:cNvPr>
          <p:cNvSpPr>
            <a:spLocks xmlns:a="http://schemas.openxmlformats.org/drawingml/2006/main" noGrp="1"/>
          </p:cNvSpPr>
          <p:nvPr/>
        </p:nvSpPr>
        <p:spPr>
          <a:xfrm xmlns:a="http://schemas.openxmlformats.org/drawingml/2006/main">
            <a:off x="685800" y="3638550"/>
            <a:ext cx="885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950">
                <a:solidFill>
                  <a:srgbClr val="D9EEF4"/>
                </a:solidFill>
              </a:defRPr>
            </a:pPr>
            <a:r>
              <a:rPr sz="1950">
                <a:solidFill>
                  <a:srgbClr val="D9EEF4"/>
                </a:solidFill>
              </a:rPr>
              <a:t>Van voorbereiding thuis tot ontvangst, quiz en eindanalyse in de zaal</a:t>
            </a:r>
          </a:p>
        </p:txBody>
      </p:sp>
      <p:sp>
        <p:nvSpPr>
          <p:cNvPr id="7" name="title-takeaway">
            <a:extLst xmlns:a="http://schemas.openxmlformats.org/drawingml/2006/main">
              <a:ext uri="{FF2B5EF4-FFF2-40B4-BE49-F238E27FC236}">
                <a16:creationId xmlns:a16="http://schemas.microsoft.com/office/drawing/2014/main" id="{D126F0ED-EC7D-42FE-88C9-DBD8EB1D24CE}"/>
              </a:ext>
            </a:extLst>
          </p:cNvPr>
          <p:cNvSpPr>
            <a:spLocks xmlns:a="http://schemas.openxmlformats.org/drawingml/2006/main" noGrp="1"/>
          </p:cNvSpPr>
          <p:nvPr/>
        </p:nvSpPr>
        <p:spPr>
          <a:xfrm xmlns:a="http://schemas.openxmlformats.org/drawingml/2006/main">
            <a:off x="685800" y="4953000"/>
            <a:ext cx="8953500" cy="838200"/>
          </a:xfrm>
          <a:prstGeom xmlns:a="http://schemas.openxmlformats.org/drawingml/2006/main" prst="roundRect">
            <a:avLst>
              <a:gd name="adj" fmla="val 9091"/>
            </a:avLst>
          </a:prstGeom>
          <a:solidFill xmlns:a="http://schemas.openxmlformats.org/drawingml/2006/main">
            <a:srgbClr val="0D6689"/>
          </a:solidFill>
          <a:ln xmlns:a="http://schemas.openxmlformats.org/drawingml/2006/main" w="9525">
            <a:solidFill>
              <a:srgbClr val="4AA8C1"/>
            </a:solidFill>
            <a:prstDash val="solid"/>
          </a:ln>
        </p:spPr>
      </p:sp>
      <p:sp>
        <p:nvSpPr>
          <p:cNvPr id="8" name="title-takeaway-text">
            <a:extLst xmlns:a="http://schemas.openxmlformats.org/drawingml/2006/main">
              <a:ext uri="{FF2B5EF4-FFF2-40B4-BE49-F238E27FC236}">
                <a16:creationId xmlns:a16="http://schemas.microsoft.com/office/drawing/2014/main" id="{F95E505A-56FB-4CB1-AB39-184B42476BDF}"/>
              </a:ext>
            </a:extLst>
          </p:cNvPr>
          <p:cNvSpPr>
            <a:spLocks xmlns:a="http://schemas.openxmlformats.org/drawingml/2006/main" noGrp="1"/>
          </p:cNvSpPr>
          <p:nvPr/>
        </p:nvSpPr>
        <p:spPr>
          <a:xfrm xmlns:a="http://schemas.openxmlformats.org/drawingml/2006/main">
            <a:off x="971550" y="5143500"/>
            <a:ext cx="838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75" b="1">
                <a:solidFill>
                  <a:srgbClr val="FFFFFF"/>
                </a:solidFill>
              </a:defRPr>
            </a:pPr>
            <a:r>
              <a:rPr sz="1575" b="1">
                <a:solidFill>
                  <a:srgbClr val="FFFFFF"/>
                </a:solidFill>
              </a:rPr>
              <a:t>Eén chronologische werkwijze — precies weten wat u op welk moment doet.</a:t>
            </a:r>
          </a:p>
        </p:txBody>
      </p:sp>
      <p:sp>
        <p:nvSpPr>
          <p:cNvPr id="9" name="organization">
            <a:extLst xmlns:a="http://schemas.openxmlformats.org/drawingml/2006/main">
              <a:ext uri="{FF2B5EF4-FFF2-40B4-BE49-F238E27FC236}">
                <a16:creationId xmlns:a16="http://schemas.microsoft.com/office/drawing/2014/main" id="{1F0C51CF-32F1-49C4-B137-D1B6DAF71992}"/>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50">
                <a:solidFill>
                  <a:srgbClr val="BFE8F2"/>
                </a:solidFill>
              </a:defRPr>
            </a:pPr>
            <a:r>
              <a:rPr sz="1050">
                <a:solidFill>
                  <a:srgbClr val="BFE8F2"/>
                </a:solidFill>
              </a:rPr>
              <a:t>Diabetes Liga Midden-Limburg</a:t>
            </a:r>
          </a:p>
        </p:txBody>
      </p:sp>
    </p:spTree>
    <p:extLst>
      <p:ext uri="{BB962C8B-B14F-4D97-AF65-F5344CB8AC3E}">
        <p14:creationId xmlns:p14="http://schemas.microsoft.com/office/powerpoint/2010/main" val="228363619"/>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28B25F0A-A237-4485-813D-7C0B8AD9181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EERST HET TOTAALBEELD</a:t>
            </a:r>
          </a:p>
        </p:txBody>
      </p:sp>
      <p:sp>
        <p:nvSpPr>
          <p:cNvPr id="2" name="title-2">
            <a:extLst xmlns:a="http://schemas.openxmlformats.org/drawingml/2006/main">
              <a:ext uri="{FF2B5EF4-FFF2-40B4-BE49-F238E27FC236}">
                <a16:creationId xmlns:a16="http://schemas.microsoft.com/office/drawing/2014/main" id="{E6287B08-464C-406E-AAD9-585BD9510D49}"/>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Drie schermen met elk een eigen taak</a:t>
            </a:r>
          </a:p>
        </p:txBody>
      </p:sp>
      <p:sp>
        <p:nvSpPr>
          <p:cNvPr id="3" name="accent-2">
            <a:extLst xmlns:a="http://schemas.openxmlformats.org/drawingml/2006/main">
              <a:ext uri="{FF2B5EF4-FFF2-40B4-BE49-F238E27FC236}">
                <a16:creationId xmlns:a16="http://schemas.microsoft.com/office/drawing/2014/main" id="{9D14C59D-6ABC-4474-BC49-61D616FC522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3760388C-D9CA-4F39-912C-771F49B2FB14}"/>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Quizmaster: bediening op de laptop</a:t>
            </a:r>
          </a:p>
          <a:p xmlns:a="http://schemas.openxmlformats.org/drawingml/2006/main">
            <a:pPr>
              <a:buNone/>
              <a:defRPr sz="1575">
                <a:solidFill>
                  <a:srgbClr val="17212D"/>
                </a:solidFill>
              </a:defRPr>
            </a:pPr>
            <a:r>
              <a:rPr sz="1575">
                <a:solidFill>
                  <a:srgbClr val="17212D"/>
                </a:solidFill>
              </a:rPr>
              <a:t>• Deelnemer: anoniem antwoorden op de gsm</a:t>
            </a:r>
          </a:p>
          <a:p xmlns:a="http://schemas.openxmlformats.org/drawingml/2006/main">
            <a:pPr>
              <a:buNone/>
              <a:defRPr sz="1575">
                <a:solidFill>
                  <a:srgbClr val="17212D"/>
                </a:solidFill>
              </a:defRPr>
            </a:pPr>
            <a:r>
              <a:rPr sz="1575">
                <a:solidFill>
                  <a:srgbClr val="17212D"/>
                </a:solidFill>
              </a:rPr>
              <a:t>• Zaal: samen volgen op het grote scherm</a:t>
            </a:r>
          </a:p>
        </p:txBody>
      </p:sp>
      <p:sp>
        <p:nvSpPr>
          <p:cNvPr id="5" name="takeaway-box-2">
            <a:extLst xmlns:a="http://schemas.openxmlformats.org/drawingml/2006/main">
              <a:ext uri="{FF2B5EF4-FFF2-40B4-BE49-F238E27FC236}">
                <a16:creationId xmlns:a16="http://schemas.microsoft.com/office/drawing/2014/main" id="{2C96831B-38CF-4D61-A4DD-1E4A006BBD16}"/>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2">
            <a:extLst xmlns:a="http://schemas.openxmlformats.org/drawingml/2006/main">
              <a:ext uri="{FF2B5EF4-FFF2-40B4-BE49-F238E27FC236}">
                <a16:creationId xmlns:a16="http://schemas.microsoft.com/office/drawing/2014/main" id="{F2870455-8A84-4D83-902B-265DCFB2308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3E69F9C3-B1CB-4E6E-9889-96031578D62B}"/>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30 verbonden en 30 antwoorden betekent: iedereen is klaar.</a:t>
            </a:r>
          </a:p>
        </p:txBody>
      </p:sp>
      <p:sp>
        <p:nvSpPr>
          <p:cNvPr id="8" name="frame-zaalscherm-vraag.jpg">
            <a:extLst xmlns:a="http://schemas.openxmlformats.org/drawingml/2006/main">
              <a:ext uri="{FF2B5EF4-FFF2-40B4-BE49-F238E27FC236}">
                <a16:creationId xmlns:a16="http://schemas.microsoft.com/office/drawing/2014/main" id="{BA08ABD2-90E3-4019-B89A-E461A71924F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0a0cf8d9a7141bc"/>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2">
            <a:extLst xmlns:a="http://schemas.openxmlformats.org/drawingml/2006/main">
              <a:ext uri="{FF2B5EF4-FFF2-40B4-BE49-F238E27FC236}">
                <a16:creationId xmlns:a16="http://schemas.microsoft.com/office/drawing/2014/main" id="{BD80AAC6-A017-430B-B216-37119BCABD69}"/>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2">
            <a:extLst xmlns:a="http://schemas.openxmlformats.org/drawingml/2006/main">
              <a:ext uri="{FF2B5EF4-FFF2-40B4-BE49-F238E27FC236}">
                <a16:creationId xmlns:a16="http://schemas.microsoft.com/office/drawing/2014/main" id="{C8511EFE-5644-4EE4-B4E1-8EE5159F3611}"/>
              </a:ext>
            </a:extLst>
          </p:cNvPr>
          <p:cNvSpPr>
            <a:spLocks xmlns:a="http://schemas.openxmlformats.org/drawingml/2006/main" noGrp="1"/>
          </p:cNvSpPr>
          <p:nvPr/>
        </p:nvSpPr>
        <p:spPr>
          <a:xfrm xmlns:a="http://schemas.openxmlformats.org/drawingml/2006/main">
            <a:off x="0" y="6800850"/>
            <a:ext cx="1434353"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0786426C-A0C4-41B9-92F5-5DF786CF7BF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2">
            <a:extLst xmlns:a="http://schemas.openxmlformats.org/drawingml/2006/main">
              <a:ext uri="{FF2B5EF4-FFF2-40B4-BE49-F238E27FC236}">
                <a16:creationId xmlns:a16="http://schemas.microsoft.com/office/drawing/2014/main" id="{3C5B2B22-446A-4164-8FFB-DDE396128E4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02 / 17</a:t>
            </a:r>
          </a:p>
        </p:txBody>
      </p:sp>
    </p:spTree>
    <p:extLst>
      <p:ext uri="{BB962C8B-B14F-4D97-AF65-F5344CB8AC3E}">
        <p14:creationId xmlns:p14="http://schemas.microsoft.com/office/powerpoint/2010/main" val="1023365117"/>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8AC91267-45F4-44F5-A794-4174C41BD15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THUIS VOORBEREIDEN</a:t>
            </a:r>
          </a:p>
        </p:txBody>
      </p:sp>
      <p:sp>
        <p:nvSpPr>
          <p:cNvPr id="2" name="title-3">
            <a:extLst xmlns:a="http://schemas.openxmlformats.org/drawingml/2006/main">
              <a:ext uri="{FF2B5EF4-FFF2-40B4-BE49-F238E27FC236}">
                <a16:creationId xmlns:a16="http://schemas.microsoft.com/office/drawing/2014/main" id="{9417BAC5-ED99-41E3-BF36-C7C5033B3246}"/>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bij voorkeur mobiele data; houd zaalwifi klaar</a:t>
            </a:r>
          </a:p>
        </p:txBody>
      </p:sp>
      <p:sp>
        <p:nvSpPr>
          <p:cNvPr id="3" name="accent-3">
            <a:extLst xmlns:a="http://schemas.openxmlformats.org/drawingml/2006/main">
              <a:ext uri="{FF2B5EF4-FFF2-40B4-BE49-F238E27FC236}">
                <a16:creationId xmlns:a16="http://schemas.microsoft.com/office/drawing/2014/main" id="{392EF4CA-BA2A-42CD-A851-B72DACA964B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431BF5B7-7088-4243-8894-9684B04427BD}"/>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Eigen mobiele data is meestal het gemakkelijkst</a:t>
            </a:r>
          </a:p>
          <a:p xmlns:a="http://schemas.openxmlformats.org/drawingml/2006/main">
            <a:pPr>
              <a:buNone/>
              <a:defRPr sz="1575">
                <a:solidFill>
                  <a:srgbClr val="17212D"/>
                </a:solidFill>
              </a:defRPr>
            </a:pPr>
            <a:r>
              <a:rPr sz="1575">
                <a:solidFill>
                  <a:srgbClr val="17212D"/>
                </a:solidFill>
              </a:rPr>
              <a:t>• Bied gratis zaalwifi aan als keuze en reserve</a:t>
            </a:r>
          </a:p>
          <a:p xmlns:a="http://schemas.openxmlformats.org/drawingml/2006/main">
            <a:pPr>
              <a:buNone/>
              <a:defRPr sz="1575">
                <a:solidFill>
                  <a:srgbClr val="17212D"/>
                </a:solidFill>
              </a:defRPr>
            </a:pPr>
            <a:r>
              <a:rPr sz="1575">
                <a:solidFill>
                  <a:srgbClr val="17212D"/>
                </a:solidFill>
              </a:rPr>
              <a:t>• Test vooraf in de zaal beide verbindingen</a:t>
            </a:r>
          </a:p>
        </p:txBody>
      </p:sp>
      <p:sp>
        <p:nvSpPr>
          <p:cNvPr id="5" name="takeaway-box-3">
            <a:extLst xmlns:a="http://schemas.openxmlformats.org/drawingml/2006/main">
              <a:ext uri="{FF2B5EF4-FFF2-40B4-BE49-F238E27FC236}">
                <a16:creationId xmlns:a16="http://schemas.microsoft.com/office/drawing/2014/main" id="{75F764B5-9D5E-46AD-8762-4A6FFDD49AF8}"/>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3">
            <a:extLst xmlns:a="http://schemas.openxmlformats.org/drawingml/2006/main">
              <a:ext uri="{FF2B5EF4-FFF2-40B4-BE49-F238E27FC236}">
                <a16:creationId xmlns:a16="http://schemas.microsoft.com/office/drawing/2014/main" id="{AFB4F079-7086-4A93-868D-69D109E6511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F2F632DF-0F25-4656-A713-1A5072F2E176}"/>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Slecht mobiel bereik? Adviseer duidelijk de zaalwifi op het briefje.</a:t>
            </a:r>
          </a:p>
        </p:txBody>
      </p:sp>
      <p:sp>
        <p:nvSpPr>
          <p:cNvPr id="8" name="frame-quizmaster-voorbereiden.jpg">
            <a:extLst xmlns:a="http://schemas.openxmlformats.org/drawingml/2006/main">
              <a:ext uri="{FF2B5EF4-FFF2-40B4-BE49-F238E27FC236}">
                <a16:creationId xmlns:a16="http://schemas.microsoft.com/office/drawing/2014/main" id="{2B88218B-BCA2-443B-8F63-FD987563521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8194f9bef994801"/>
          <a:stretch xmlns:a="http://schemas.openxmlformats.org/drawingml/2006/main"/>
        </p:blipFill>
        <p:spPr>
          <a:xfrm xmlns:a="http://schemas.openxmlformats.org/drawingml/2006/main" flipH="0" flipV="0">
            <a:off x="5219700" y="1613297"/>
            <a:ext cx="6286500" cy="3536156"/>
          </a:xfrm>
          <a:prstGeom xmlns:a="http://schemas.openxmlformats.org/drawingml/2006/main" prst="roundRect">
            <a:avLst/>
          </a:prstGeom>
        </p:spPr>
      </p:pic>
      <p:sp>
        <p:nvSpPr>
          <p:cNvPr id="10" name="image-caption-3">
            <a:extLst xmlns:a="http://schemas.openxmlformats.org/drawingml/2006/main">
              <a:ext uri="{FF2B5EF4-FFF2-40B4-BE49-F238E27FC236}">
                <a16:creationId xmlns:a16="http://schemas.microsoft.com/office/drawing/2014/main" id="{94FBA2AE-D83A-4563-BD7B-BE3DBBA44A8B}"/>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3">
            <a:extLst xmlns:a="http://schemas.openxmlformats.org/drawingml/2006/main">
              <a:ext uri="{FF2B5EF4-FFF2-40B4-BE49-F238E27FC236}">
                <a16:creationId xmlns:a16="http://schemas.microsoft.com/office/drawing/2014/main" id="{0D486323-105A-44A4-85B4-C61289C0BDE8}"/>
              </a:ext>
            </a:extLst>
          </p:cNvPr>
          <p:cNvSpPr>
            <a:spLocks xmlns:a="http://schemas.openxmlformats.org/drawingml/2006/main" noGrp="1"/>
          </p:cNvSpPr>
          <p:nvPr/>
        </p:nvSpPr>
        <p:spPr>
          <a:xfrm xmlns:a="http://schemas.openxmlformats.org/drawingml/2006/main">
            <a:off x="0" y="6800850"/>
            <a:ext cx="215152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34C9D36D-E12B-4A24-80D4-49D2B045F68D}"/>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3">
            <a:extLst xmlns:a="http://schemas.openxmlformats.org/drawingml/2006/main">
              <a:ext uri="{FF2B5EF4-FFF2-40B4-BE49-F238E27FC236}">
                <a16:creationId xmlns:a16="http://schemas.microsoft.com/office/drawing/2014/main" id="{8DEDF80D-69C2-4143-A238-B1D5E0C5593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03 / 17</a:t>
            </a:r>
          </a:p>
        </p:txBody>
      </p:sp>
    </p:spTree>
    <p:extLst>
      <p:ext uri="{BB962C8B-B14F-4D97-AF65-F5344CB8AC3E}">
        <p14:creationId xmlns:p14="http://schemas.microsoft.com/office/powerpoint/2010/main" val="1360850112"/>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66F7A569-83D6-464D-99AB-41BB5F7878B3}"/>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VOLLEDIGE PROEF THUIS</a:t>
            </a:r>
          </a:p>
        </p:txBody>
      </p:sp>
      <p:sp>
        <p:nvSpPr>
          <p:cNvPr id="2" name="title-4">
            <a:extLst xmlns:a="http://schemas.openxmlformats.org/drawingml/2006/main">
              <a:ext uri="{FF2B5EF4-FFF2-40B4-BE49-F238E27FC236}">
                <a16:creationId xmlns:a16="http://schemas.microsoft.com/office/drawing/2014/main" id="{5E6CBAB7-A951-41BA-9C1A-F5D7CFD675F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Voer thuis eerst de volledige proefquiz uit</a:t>
            </a:r>
          </a:p>
        </p:txBody>
      </p:sp>
      <p:sp>
        <p:nvSpPr>
          <p:cNvPr id="3" name="accent-4">
            <a:extLst xmlns:a="http://schemas.openxmlformats.org/drawingml/2006/main">
              <a:ext uri="{FF2B5EF4-FFF2-40B4-BE49-F238E27FC236}">
                <a16:creationId xmlns:a16="http://schemas.microsoft.com/office/drawing/2014/main" id="{4CDE96CC-D1D8-4569-AFF8-BDB253018DE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3ED325D7-FD27-4522-A3FE-9D69BD308A96}"/>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Tijdelijke sessie met 5 vragen</a:t>
            </a:r>
          </a:p>
          <a:p xmlns:a="http://schemas.openxmlformats.org/drawingml/2006/main">
            <a:pPr>
              <a:buNone/>
              <a:defRPr sz="1575">
                <a:solidFill>
                  <a:srgbClr val="17212D"/>
                </a:solidFill>
              </a:defRPr>
            </a:pPr>
            <a:r>
              <a:rPr sz="1575">
                <a:solidFill>
                  <a:srgbClr val="17212D"/>
                </a:solidFill>
              </a:rPr>
              <a:t>• Doorloop vragen, tellers en eindanalyse</a:t>
            </a:r>
          </a:p>
          <a:p xmlns:a="http://schemas.openxmlformats.org/drawingml/2006/main">
            <a:pPr>
              <a:buNone/>
              <a:defRPr sz="1575">
                <a:solidFill>
                  <a:srgbClr val="17212D"/>
                </a:solidFill>
              </a:defRPr>
            </a:pPr>
            <a:r>
              <a:rPr sz="1575">
                <a:solidFill>
                  <a:srgbClr val="17212D"/>
                </a:solidFill>
              </a:rPr>
              <a:t>• Druk voor deze proef nog geen briefjes af</a:t>
            </a:r>
          </a:p>
        </p:txBody>
      </p:sp>
      <p:sp>
        <p:nvSpPr>
          <p:cNvPr id="5" name="takeaway-box-4">
            <a:extLst xmlns:a="http://schemas.openxmlformats.org/drawingml/2006/main">
              <a:ext uri="{FF2B5EF4-FFF2-40B4-BE49-F238E27FC236}">
                <a16:creationId xmlns:a16="http://schemas.microsoft.com/office/drawing/2014/main" id="{DC37A791-E5D8-453B-9D0D-6136EFDA4E2A}"/>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4">
            <a:extLst xmlns:a="http://schemas.openxmlformats.org/drawingml/2006/main">
              <a:ext uri="{FF2B5EF4-FFF2-40B4-BE49-F238E27FC236}">
                <a16:creationId xmlns:a16="http://schemas.microsoft.com/office/drawing/2014/main" id="{251558F6-5988-42AF-B1CE-EC67E4549BC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5AE8F8C3-401D-4046-8E94-D3D7061260A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Eerst volledig oefenen; daarna pas de definitieve sessie maken.</a:t>
            </a:r>
          </a:p>
        </p:txBody>
      </p:sp>
      <p:sp>
        <p:nvSpPr>
          <p:cNvPr id="8" name="frame-quizmaster-voorbereiden.jpg">
            <a:extLst xmlns:a="http://schemas.openxmlformats.org/drawingml/2006/main">
              <a:ext uri="{FF2B5EF4-FFF2-40B4-BE49-F238E27FC236}">
                <a16:creationId xmlns:a16="http://schemas.microsoft.com/office/drawing/2014/main" id="{59D70EFD-A4F9-4E99-8D78-CA6EF9FDEBD2}"/>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08cc798349e45b8"/>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4">
            <a:extLst xmlns:a="http://schemas.openxmlformats.org/drawingml/2006/main">
              <a:ext uri="{FF2B5EF4-FFF2-40B4-BE49-F238E27FC236}">
                <a16:creationId xmlns:a16="http://schemas.microsoft.com/office/drawing/2014/main" id="{EA418586-A797-4659-B4C1-26E0D06E348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4">
            <a:extLst xmlns:a="http://schemas.openxmlformats.org/drawingml/2006/main">
              <a:ext uri="{FF2B5EF4-FFF2-40B4-BE49-F238E27FC236}">
                <a16:creationId xmlns:a16="http://schemas.microsoft.com/office/drawing/2014/main" id="{3069C0A4-AEEA-478A-8E61-340926B37A13}"/>
              </a:ext>
            </a:extLst>
          </p:cNvPr>
          <p:cNvSpPr>
            <a:spLocks xmlns:a="http://schemas.openxmlformats.org/drawingml/2006/main" noGrp="1"/>
          </p:cNvSpPr>
          <p:nvPr/>
        </p:nvSpPr>
        <p:spPr>
          <a:xfrm xmlns:a="http://schemas.openxmlformats.org/drawingml/2006/main">
            <a:off x="0" y="6800850"/>
            <a:ext cx="2868706"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16B52230-40BA-407F-8A4E-355A64799C3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4">
            <a:extLst xmlns:a="http://schemas.openxmlformats.org/drawingml/2006/main">
              <a:ext uri="{FF2B5EF4-FFF2-40B4-BE49-F238E27FC236}">
                <a16:creationId xmlns:a16="http://schemas.microsoft.com/office/drawing/2014/main" id="{C621BCB0-563A-4C7B-A0CD-1AC1A85E0B1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04 / 17</a:t>
            </a:r>
          </a:p>
        </p:txBody>
      </p:sp>
    </p:spTree>
    <p:extLst>
      <p:ext uri="{BB962C8B-B14F-4D97-AF65-F5344CB8AC3E}">
        <p14:creationId xmlns:p14="http://schemas.microsoft.com/office/powerpoint/2010/main" val="1850120454"/>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AA60C79-FF8D-49F5-8700-D3F1FC06C1A9}"/>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NA DE GESLAAGDE PROEF</a:t>
            </a:r>
          </a:p>
        </p:txBody>
      </p:sp>
      <p:sp>
        <p:nvSpPr>
          <p:cNvPr id="2" name="title-5">
            <a:extLst xmlns:a="http://schemas.openxmlformats.org/drawingml/2006/main">
              <a:ext uri="{FF2B5EF4-FFF2-40B4-BE49-F238E27FC236}">
                <a16:creationId xmlns:a16="http://schemas.microsoft.com/office/drawing/2014/main" id="{B2C4765D-9C56-42EB-928B-AE3CEBD25220}"/>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nu de definitieve sessie en code</a:t>
            </a:r>
          </a:p>
        </p:txBody>
      </p:sp>
      <p:sp>
        <p:nvSpPr>
          <p:cNvPr id="3" name="accent-5">
            <a:extLst xmlns:a="http://schemas.openxmlformats.org/drawingml/2006/main">
              <a:ext uri="{FF2B5EF4-FFF2-40B4-BE49-F238E27FC236}">
                <a16:creationId xmlns:a16="http://schemas.microsoft.com/office/drawing/2014/main" id="{326883A0-3368-4CA2-8CB8-86740AB14DC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E04B8F4B-538C-4B7F-9E75-2D19CAB07729}"/>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 laptop en browser die meegaan</a:t>
            </a:r>
          </a:p>
          <a:p xmlns:a="http://schemas.openxmlformats.org/drawingml/2006/main">
            <a:pPr>
              <a:buNone/>
              <a:defRPr sz="1575">
                <a:solidFill>
                  <a:srgbClr val="17212D"/>
                </a:solidFill>
              </a:defRPr>
            </a:pPr>
            <a:r>
              <a:rPr sz="1575">
                <a:solidFill>
                  <a:srgbClr val="17212D"/>
                </a:solidFill>
              </a:rPr>
              <a:t>• Kies het aantal vragen voor de echte quiz</a:t>
            </a:r>
          </a:p>
          <a:p xmlns:a="http://schemas.openxmlformats.org/drawingml/2006/main">
            <a:pPr>
              <a:buNone/>
              <a:defRPr sz="1575">
                <a:solidFill>
                  <a:srgbClr val="17212D"/>
                </a:solidFill>
              </a:defRPr>
            </a:pPr>
            <a:r>
              <a:rPr sz="1575">
                <a:solidFill>
                  <a:srgbClr val="17212D"/>
                </a:solidFill>
              </a:rPr>
              <a:t>• Deze code komt op alle deelnemersbriefjes</a:t>
            </a:r>
          </a:p>
        </p:txBody>
      </p:sp>
      <p:sp>
        <p:nvSpPr>
          <p:cNvPr id="5" name="takeaway-box-5">
            <a:extLst xmlns:a="http://schemas.openxmlformats.org/drawingml/2006/main">
              <a:ext uri="{FF2B5EF4-FFF2-40B4-BE49-F238E27FC236}">
                <a16:creationId xmlns:a16="http://schemas.microsoft.com/office/drawing/2014/main" id="{A92C57FB-3883-44A4-95C9-67A4DBE23B7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5">
            <a:extLst xmlns:a="http://schemas.openxmlformats.org/drawingml/2006/main">
              <a:ext uri="{FF2B5EF4-FFF2-40B4-BE49-F238E27FC236}">
                <a16:creationId xmlns:a16="http://schemas.microsoft.com/office/drawing/2014/main" id="{27305DDD-2B9A-454E-B41D-6FBA956A0558}"/>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FE383B0E-4B62-4818-8936-9E748451370C}"/>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Na het afdrukken geen nieuwe sessie of code meer maken.</a:t>
            </a:r>
          </a:p>
        </p:txBody>
      </p:sp>
      <p:sp>
        <p:nvSpPr>
          <p:cNvPr id="8" name="frame-quizmaster-wachtkamer.jpg">
            <a:extLst xmlns:a="http://schemas.openxmlformats.org/drawingml/2006/main">
              <a:ext uri="{FF2B5EF4-FFF2-40B4-BE49-F238E27FC236}">
                <a16:creationId xmlns:a16="http://schemas.microsoft.com/office/drawing/2014/main" id="{57A760BE-C103-4E4B-9198-45CED7233E2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baedfd4c7a14b15"/>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5">
            <a:extLst xmlns:a="http://schemas.openxmlformats.org/drawingml/2006/main">
              <a:ext uri="{FF2B5EF4-FFF2-40B4-BE49-F238E27FC236}">
                <a16:creationId xmlns:a16="http://schemas.microsoft.com/office/drawing/2014/main" id="{5DC81D44-E3C1-4046-933C-E56B505C140F}"/>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5">
            <a:extLst xmlns:a="http://schemas.openxmlformats.org/drawingml/2006/main">
              <a:ext uri="{FF2B5EF4-FFF2-40B4-BE49-F238E27FC236}">
                <a16:creationId xmlns:a16="http://schemas.microsoft.com/office/drawing/2014/main" id="{A48F74F8-B276-48F3-908D-5AE7F1E88633}"/>
              </a:ext>
            </a:extLst>
          </p:cNvPr>
          <p:cNvSpPr>
            <a:spLocks xmlns:a="http://schemas.openxmlformats.org/drawingml/2006/main" noGrp="1"/>
          </p:cNvSpPr>
          <p:nvPr/>
        </p:nvSpPr>
        <p:spPr>
          <a:xfrm xmlns:a="http://schemas.openxmlformats.org/drawingml/2006/main">
            <a:off x="0" y="6800850"/>
            <a:ext cx="358588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E61A25F7-2B0E-4FCF-A469-03E53F07212F}"/>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5">
            <a:extLst xmlns:a="http://schemas.openxmlformats.org/drawingml/2006/main">
              <a:ext uri="{FF2B5EF4-FFF2-40B4-BE49-F238E27FC236}">
                <a16:creationId xmlns:a16="http://schemas.microsoft.com/office/drawing/2014/main" id="{C3D8B7D0-5597-450C-A4BD-ABEE11F3CB60}"/>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05 / 17</a:t>
            </a:r>
          </a:p>
        </p:txBody>
      </p:sp>
    </p:spTree>
    <p:extLst>
      <p:ext uri="{BB962C8B-B14F-4D97-AF65-F5344CB8AC3E}">
        <p14:creationId xmlns:p14="http://schemas.microsoft.com/office/powerpoint/2010/main" val="709140265"/>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1C9FB540-8E1E-4082-B932-968DC2FABE42}"/>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BRIEFJES INSTELLEN</a:t>
            </a:r>
          </a:p>
        </p:txBody>
      </p:sp>
      <p:sp>
        <p:nvSpPr>
          <p:cNvPr id="2" name="title-6">
            <a:extLst xmlns:a="http://schemas.openxmlformats.org/drawingml/2006/main">
              <a:ext uri="{FF2B5EF4-FFF2-40B4-BE49-F238E27FC236}">
                <a16:creationId xmlns:a16="http://schemas.microsoft.com/office/drawing/2014/main" id="{446F315C-6AAD-4D78-A85B-AE196805075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Toon alleen een verbinding die echt bestaat</a:t>
            </a:r>
          </a:p>
        </p:txBody>
      </p:sp>
      <p:sp>
        <p:nvSpPr>
          <p:cNvPr id="3" name="accent-6">
            <a:extLst xmlns:a="http://schemas.openxmlformats.org/drawingml/2006/main">
              <a:ext uri="{FF2B5EF4-FFF2-40B4-BE49-F238E27FC236}">
                <a16:creationId xmlns:a16="http://schemas.microsoft.com/office/drawing/2014/main" id="{A00B4416-9D12-4076-A2CC-257025BD77C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39778CFF-C336-4C08-A35B-4B066DD30D8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Met wifi: vul de zaalgegevens exact in</a:t>
            </a:r>
          </a:p>
          <a:p xmlns:a="http://schemas.openxmlformats.org/drawingml/2006/main">
            <a:pPr>
              <a:buNone/>
              <a:defRPr sz="1575">
                <a:solidFill>
                  <a:srgbClr val="17212D"/>
                </a:solidFill>
              </a:defRPr>
            </a:pPr>
            <a:r>
              <a:rPr sz="1575">
                <a:solidFill>
                  <a:srgbClr val="17212D"/>
                </a:solidFill>
              </a:rPr>
              <a:t>• Zonder wifi: laat beide velden leeg</a:t>
            </a:r>
          </a:p>
          <a:p xmlns:a="http://schemas.openxmlformats.org/drawingml/2006/main">
            <a:pPr>
              <a:buNone/>
              <a:defRPr sz="1575">
                <a:solidFill>
                  <a:srgbClr val="17212D"/>
                </a:solidFill>
              </a:defRPr>
            </a:pPr>
            <a:r>
              <a:rPr sz="1575">
                <a:solidFill>
                  <a:srgbClr val="17212D"/>
                </a:solidFill>
              </a:rPr>
              <a:t>• De quizcode komt automatisch op elk briefje</a:t>
            </a:r>
          </a:p>
        </p:txBody>
      </p:sp>
      <p:sp>
        <p:nvSpPr>
          <p:cNvPr id="5" name="takeaway-box-6">
            <a:extLst xmlns:a="http://schemas.openxmlformats.org/drawingml/2006/main">
              <a:ext uri="{FF2B5EF4-FFF2-40B4-BE49-F238E27FC236}">
                <a16:creationId xmlns:a16="http://schemas.microsoft.com/office/drawing/2014/main" id="{92EFB1DD-E882-46E9-8BDF-A4BC7F1CCC0D}"/>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6">
            <a:extLst xmlns:a="http://schemas.openxmlformats.org/drawingml/2006/main">
              <a:ext uri="{FF2B5EF4-FFF2-40B4-BE49-F238E27FC236}">
                <a16:creationId xmlns:a16="http://schemas.microsoft.com/office/drawing/2014/main" id="{F6E5738E-C878-41EB-A4FC-AABBC3E8413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06C063D0-7066-4411-8A9D-301D970D14F0}"/>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Zonder zaalwifi vermeldt stap 1 uitsluitend mobiele data.</a:t>
            </a:r>
          </a:p>
        </p:txBody>
      </p:sp>
      <p:sp>
        <p:nvSpPr>
          <p:cNvPr id="8" name="frame-briefjes-voorbereiden.png">
            <a:extLst xmlns:a="http://schemas.openxmlformats.org/drawingml/2006/main">
              <a:ext uri="{FF2B5EF4-FFF2-40B4-BE49-F238E27FC236}">
                <a16:creationId xmlns:a16="http://schemas.microsoft.com/office/drawing/2014/main" id="{267AE320-06A3-40C0-85FC-C2E2EABE336E}"/>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7ad9c35d26b4de4"/>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6">
            <a:extLst xmlns:a="http://schemas.openxmlformats.org/drawingml/2006/main">
              <a:ext uri="{FF2B5EF4-FFF2-40B4-BE49-F238E27FC236}">
                <a16:creationId xmlns:a16="http://schemas.microsoft.com/office/drawing/2014/main" id="{45BF7BD9-C2B5-42C1-B190-6714DD304586}"/>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6">
            <a:extLst xmlns:a="http://schemas.openxmlformats.org/drawingml/2006/main">
              <a:ext uri="{FF2B5EF4-FFF2-40B4-BE49-F238E27FC236}">
                <a16:creationId xmlns:a16="http://schemas.microsoft.com/office/drawing/2014/main" id="{ECF01EEA-126C-4988-8EB7-76469246AE70}"/>
              </a:ext>
            </a:extLst>
          </p:cNvPr>
          <p:cNvSpPr>
            <a:spLocks xmlns:a="http://schemas.openxmlformats.org/drawingml/2006/main" noGrp="1"/>
          </p:cNvSpPr>
          <p:nvPr/>
        </p:nvSpPr>
        <p:spPr>
          <a:xfrm xmlns:a="http://schemas.openxmlformats.org/drawingml/2006/main">
            <a:off x="0" y="6800850"/>
            <a:ext cx="430305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95EAF131-9812-4E5C-AE9A-63D314050E3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6">
            <a:extLst xmlns:a="http://schemas.openxmlformats.org/drawingml/2006/main">
              <a:ext uri="{FF2B5EF4-FFF2-40B4-BE49-F238E27FC236}">
                <a16:creationId xmlns:a16="http://schemas.microsoft.com/office/drawing/2014/main" id="{411BB73F-4433-4587-BC84-CD92E8C0996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06 / 17</a:t>
            </a:r>
          </a:p>
        </p:txBody>
      </p:sp>
    </p:spTree>
    <p:extLst>
      <p:ext uri="{BB962C8B-B14F-4D97-AF65-F5344CB8AC3E}">
        <p14:creationId xmlns:p14="http://schemas.microsoft.com/office/powerpoint/2010/main" val="954468345"/>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71DDA32-370A-4604-B01C-E00711AE6B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AFDRUKKEN</a:t>
            </a:r>
          </a:p>
        </p:txBody>
      </p:sp>
      <p:sp>
        <p:nvSpPr>
          <p:cNvPr id="2" name="title-7">
            <a:extLst xmlns:a="http://schemas.openxmlformats.org/drawingml/2006/main">
              <a:ext uri="{FF2B5EF4-FFF2-40B4-BE49-F238E27FC236}">
                <a16:creationId xmlns:a16="http://schemas.microsoft.com/office/drawing/2014/main" id="{5A6CD683-9485-403C-89E2-A751814A6EEA}"/>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eerst een proefdruk, daarna de oplage</a:t>
            </a:r>
          </a:p>
        </p:txBody>
      </p:sp>
      <p:sp>
        <p:nvSpPr>
          <p:cNvPr id="3" name="accent-7">
            <a:extLst xmlns:a="http://schemas.openxmlformats.org/drawingml/2006/main">
              <a:ext uri="{FF2B5EF4-FFF2-40B4-BE49-F238E27FC236}">
                <a16:creationId xmlns:a16="http://schemas.microsoft.com/office/drawing/2014/main" id="{57B6A6DE-21B1-4295-873A-CAE3714B18F7}"/>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D1C20F1C-8778-46E7-9A1D-F3013A42031B}"/>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A4 staand met twee briefjes per vel</a:t>
            </a:r>
          </a:p>
          <a:p xmlns:a="http://schemas.openxmlformats.org/drawingml/2006/main">
            <a:pPr>
              <a:buNone/>
              <a:defRPr sz="1575">
                <a:solidFill>
                  <a:srgbClr val="17212D"/>
                </a:solidFill>
              </a:defRPr>
            </a:pPr>
            <a:r>
              <a:rPr sz="1575">
                <a:solidFill>
                  <a:srgbClr val="17212D"/>
                </a:solidFill>
              </a:rPr>
              <a:t>• Scan zelf alle aanwezige QR-codes</a:t>
            </a:r>
          </a:p>
          <a:p xmlns:a="http://schemas.openxmlformats.org/drawingml/2006/main">
            <a:pPr>
              <a:buNone/>
              <a:defRPr sz="1575">
                <a:solidFill>
                  <a:srgbClr val="17212D"/>
                </a:solidFill>
              </a:defRPr>
            </a:pPr>
            <a:r>
              <a:rPr sz="1575">
                <a:solidFill>
                  <a:srgbClr val="17212D"/>
                </a:solidFill>
              </a:rPr>
              <a:t>• Druk reserves af en snijd alles vooraf</a:t>
            </a:r>
          </a:p>
        </p:txBody>
      </p:sp>
      <p:sp>
        <p:nvSpPr>
          <p:cNvPr id="5" name="takeaway-box-7">
            <a:extLst xmlns:a="http://schemas.openxmlformats.org/drawingml/2006/main">
              <a:ext uri="{FF2B5EF4-FFF2-40B4-BE49-F238E27FC236}">
                <a16:creationId xmlns:a16="http://schemas.microsoft.com/office/drawing/2014/main" id="{50F6EF65-F4F9-4CD9-8EFD-1AD997FBBBA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7">
            <a:extLst xmlns:a="http://schemas.openxmlformats.org/drawingml/2006/main">
              <a:ext uri="{FF2B5EF4-FFF2-40B4-BE49-F238E27FC236}">
                <a16:creationId xmlns:a16="http://schemas.microsoft.com/office/drawing/2014/main" id="{8E6B6768-F8B2-4691-AD44-FB080F27C6F9}"/>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268AA514-4EC9-4023-AC7E-FC864030EC85}"/>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Controleer dat papiercode en definitieve quizcode gelijk zijn.</a:t>
            </a:r>
          </a:p>
        </p:txBody>
      </p:sp>
      <p:sp>
        <p:nvSpPr>
          <p:cNvPr id="8" name="frame-deelnemersbriefje.jpg">
            <a:extLst xmlns:a="http://schemas.openxmlformats.org/drawingml/2006/main">
              <a:ext uri="{FF2B5EF4-FFF2-40B4-BE49-F238E27FC236}">
                <a16:creationId xmlns:a16="http://schemas.microsoft.com/office/drawing/2014/main" id="{61A268F8-26BE-4C40-B7CE-3F5FFB68D15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b1b32c9ac5a4bb1"/>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7">
            <a:extLst xmlns:a="http://schemas.openxmlformats.org/drawingml/2006/main">
              <a:ext uri="{FF2B5EF4-FFF2-40B4-BE49-F238E27FC236}">
                <a16:creationId xmlns:a16="http://schemas.microsoft.com/office/drawing/2014/main" id="{AD3E420E-F4B9-4030-BDB3-C29B537AB4C8}"/>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7">
            <a:extLst xmlns:a="http://schemas.openxmlformats.org/drawingml/2006/main">
              <a:ext uri="{FF2B5EF4-FFF2-40B4-BE49-F238E27FC236}">
                <a16:creationId xmlns:a16="http://schemas.microsoft.com/office/drawing/2014/main" id="{A820FF00-7B61-4798-94B7-5743D8E64D99}"/>
              </a:ext>
            </a:extLst>
          </p:cNvPr>
          <p:cNvSpPr>
            <a:spLocks xmlns:a="http://schemas.openxmlformats.org/drawingml/2006/main" noGrp="1"/>
          </p:cNvSpPr>
          <p:nvPr/>
        </p:nvSpPr>
        <p:spPr>
          <a:xfrm xmlns:a="http://schemas.openxmlformats.org/drawingml/2006/main">
            <a:off x="0" y="6800850"/>
            <a:ext cx="502023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D4A33F3D-50D8-459E-8457-722835FD46A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7">
            <a:extLst xmlns:a="http://schemas.openxmlformats.org/drawingml/2006/main">
              <a:ext uri="{FF2B5EF4-FFF2-40B4-BE49-F238E27FC236}">
                <a16:creationId xmlns:a16="http://schemas.microsoft.com/office/drawing/2014/main" id="{76EB70F9-023E-49DA-A737-D428EC524DFD}"/>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07 / 17</a:t>
            </a:r>
          </a:p>
        </p:txBody>
      </p:sp>
    </p:spTree>
    <p:extLst>
      <p:ext uri="{BB962C8B-B14F-4D97-AF65-F5344CB8AC3E}">
        <p14:creationId xmlns:p14="http://schemas.microsoft.com/office/powerpoint/2010/main" val="1509680278"/>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9223AF6A-5679-4CAC-AE14-766C06ADCFB1}"/>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INPAKKEN</a:t>
            </a:r>
          </a:p>
        </p:txBody>
      </p:sp>
      <p:sp>
        <p:nvSpPr>
          <p:cNvPr id="2" name="title-8">
            <a:extLst xmlns:a="http://schemas.openxmlformats.org/drawingml/2006/main">
              <a:ext uri="{FF2B5EF4-FFF2-40B4-BE49-F238E27FC236}">
                <a16:creationId xmlns:a16="http://schemas.microsoft.com/office/drawing/2014/main" id="{64C23BFA-AEDE-4847-A5C5-C068A35E8DE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Neem de volledige zaalset mee</a:t>
            </a:r>
          </a:p>
        </p:txBody>
      </p:sp>
      <p:sp>
        <p:nvSpPr>
          <p:cNvPr id="3" name="accent-8">
            <a:extLst xmlns:a="http://schemas.openxmlformats.org/drawingml/2006/main">
              <a:ext uri="{FF2B5EF4-FFF2-40B4-BE49-F238E27FC236}">
                <a16:creationId xmlns:a16="http://schemas.microsoft.com/office/drawing/2014/main" id="{7FE2C5B9-E7C7-4B87-B256-1918496EE469}"/>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A95FEF39-36F6-4C4A-B728-155FCFD849E7}"/>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laptop, oplader en beeldkabels</a:t>
            </a:r>
          </a:p>
          <a:p xmlns:a="http://schemas.openxmlformats.org/drawingml/2006/main">
            <a:pPr>
              <a:buNone/>
              <a:defRPr sz="1575">
                <a:solidFill>
                  <a:srgbClr val="17212D"/>
                </a:solidFill>
              </a:defRPr>
            </a:pPr>
            <a:r>
              <a:rPr sz="1575">
                <a:solidFill>
                  <a:srgbClr val="17212D"/>
                </a:solidFill>
              </a:rPr>
              <a:t>• Gesneden briefjes en voldoende reserves</a:t>
            </a:r>
          </a:p>
          <a:p xmlns:a="http://schemas.openxmlformats.org/drawingml/2006/main">
            <a:pPr>
              <a:buNone/>
              <a:defRPr sz="1575">
                <a:solidFill>
                  <a:srgbClr val="17212D"/>
                </a:solidFill>
              </a:defRPr>
            </a:pPr>
            <a:r>
              <a:rPr sz="1575">
                <a:solidFill>
                  <a:srgbClr val="17212D"/>
                </a:solidFill>
              </a:rPr>
              <a:t>• Zaalgegevens en eventueel een verlengkabel</a:t>
            </a:r>
          </a:p>
        </p:txBody>
      </p:sp>
      <p:sp>
        <p:nvSpPr>
          <p:cNvPr id="5" name="takeaway-box-8">
            <a:extLst xmlns:a="http://schemas.openxmlformats.org/drawingml/2006/main">
              <a:ext uri="{FF2B5EF4-FFF2-40B4-BE49-F238E27FC236}">
                <a16:creationId xmlns:a16="http://schemas.microsoft.com/office/drawing/2014/main" id="{39487D43-B28C-4623-A228-D5B91F8BC620}"/>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8">
            <a:extLst xmlns:a="http://schemas.openxmlformats.org/drawingml/2006/main">
              <a:ext uri="{FF2B5EF4-FFF2-40B4-BE49-F238E27FC236}">
                <a16:creationId xmlns:a16="http://schemas.microsoft.com/office/drawing/2014/main" id="{65D315BC-BD84-475B-B0A4-3513A278C06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5C9A1F9A-60EB-498A-9DC8-F686090DF75A}"/>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voorbereiding thuis is nu volledig afgerond.</a:t>
            </a:r>
          </a:p>
        </p:txBody>
      </p:sp>
      <p:sp>
        <p:nvSpPr>
          <p:cNvPr id="8" name="frame-deelnemersbriefje.jpg">
            <a:extLst xmlns:a="http://schemas.openxmlformats.org/drawingml/2006/main">
              <a:ext uri="{FF2B5EF4-FFF2-40B4-BE49-F238E27FC236}">
                <a16:creationId xmlns:a16="http://schemas.microsoft.com/office/drawing/2014/main" id="{576D1F2E-4C87-4C13-BB21-62405A87F41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bf21794baf74b2d"/>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8">
            <a:extLst xmlns:a="http://schemas.openxmlformats.org/drawingml/2006/main">
              <a:ext uri="{FF2B5EF4-FFF2-40B4-BE49-F238E27FC236}">
                <a16:creationId xmlns:a16="http://schemas.microsoft.com/office/drawing/2014/main" id="{3572E420-5A4F-4038-86DD-473F525ADA6C}"/>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8">
            <a:extLst xmlns:a="http://schemas.openxmlformats.org/drawingml/2006/main">
              <a:ext uri="{FF2B5EF4-FFF2-40B4-BE49-F238E27FC236}">
                <a16:creationId xmlns:a16="http://schemas.microsoft.com/office/drawing/2014/main" id="{1B38A6CA-91C6-41DD-99C8-26A2147914DF}"/>
              </a:ext>
            </a:extLst>
          </p:cNvPr>
          <p:cNvSpPr>
            <a:spLocks xmlns:a="http://schemas.openxmlformats.org/drawingml/2006/main" noGrp="1"/>
          </p:cNvSpPr>
          <p:nvPr/>
        </p:nvSpPr>
        <p:spPr>
          <a:xfrm xmlns:a="http://schemas.openxmlformats.org/drawingml/2006/main">
            <a:off x="0" y="6800850"/>
            <a:ext cx="573741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6ED3711B-99DD-4073-88AC-8A14C4F737F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8">
            <a:extLst xmlns:a="http://schemas.openxmlformats.org/drawingml/2006/main">
              <a:ext uri="{FF2B5EF4-FFF2-40B4-BE49-F238E27FC236}">
                <a16:creationId xmlns:a16="http://schemas.microsoft.com/office/drawing/2014/main" id="{6982B9C0-9882-478B-931E-476495D15B1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08 / 17</a:t>
            </a:r>
          </a:p>
        </p:txBody>
      </p:sp>
    </p:spTree>
    <p:extLst>
      <p:ext uri="{BB962C8B-B14F-4D97-AF65-F5344CB8AC3E}">
        <p14:creationId xmlns:p14="http://schemas.microsoft.com/office/powerpoint/2010/main" val="1823507482"/>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3B2BD7DC-B820-48F9-A39D-797039894D7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IN DE ZAAL</a:t>
            </a:r>
          </a:p>
        </p:txBody>
      </p:sp>
      <p:sp>
        <p:nvSpPr>
          <p:cNvPr id="2" name="title-9">
            <a:extLst xmlns:a="http://schemas.openxmlformats.org/drawingml/2006/main">
              <a:ext uri="{FF2B5EF4-FFF2-40B4-BE49-F238E27FC236}">
                <a16:creationId xmlns:a16="http://schemas.microsoft.com/office/drawing/2014/main" id="{D03287F4-73FD-4A2E-8C75-2568D46EF118}"/>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Begin ongeveer anderhalf uur vooraf</a:t>
            </a:r>
          </a:p>
        </p:txBody>
      </p:sp>
      <p:sp>
        <p:nvSpPr>
          <p:cNvPr id="3" name="accent-9">
            <a:extLst xmlns:a="http://schemas.openxmlformats.org/drawingml/2006/main">
              <a:ext uri="{FF2B5EF4-FFF2-40B4-BE49-F238E27FC236}">
                <a16:creationId xmlns:a16="http://schemas.microsoft.com/office/drawing/2014/main" id="{BD6BC88C-EB12-42F4-825C-0BD616054414}"/>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E40B53BA-3BB4-47AE-93B5-704AA7367868}"/>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Sluit laptop, internet en projector aan</a:t>
            </a:r>
          </a:p>
          <a:p xmlns:a="http://schemas.openxmlformats.org/drawingml/2006/main">
            <a:pPr>
              <a:buNone/>
              <a:defRPr sz="1575">
                <a:solidFill>
                  <a:srgbClr val="17212D"/>
                </a:solidFill>
              </a:defRPr>
            </a:pPr>
            <a:r>
              <a:rPr sz="1575">
                <a:solidFill>
                  <a:srgbClr val="17212D"/>
                </a:solidFill>
              </a:rPr>
              <a:t>• Gebruik een uitgebreid bureaublad</a:t>
            </a:r>
          </a:p>
          <a:p xmlns:a="http://schemas.openxmlformats.org/drawingml/2006/main">
            <a:pPr>
              <a:buNone/>
              <a:defRPr sz="1575">
                <a:solidFill>
                  <a:srgbClr val="17212D"/>
                </a:solidFill>
              </a:defRPr>
            </a:pPr>
            <a:r>
              <a:rPr sz="1575">
                <a:solidFill>
                  <a:srgbClr val="17212D"/>
                </a:solidFill>
              </a:rPr>
              <a:t>• Controleer leesbaarheid vanuit de achterste rij</a:t>
            </a:r>
          </a:p>
        </p:txBody>
      </p:sp>
      <p:sp>
        <p:nvSpPr>
          <p:cNvPr id="5" name="takeaway-box-9">
            <a:extLst xmlns:a="http://schemas.openxmlformats.org/drawingml/2006/main">
              <a:ext uri="{FF2B5EF4-FFF2-40B4-BE49-F238E27FC236}">
                <a16:creationId xmlns:a16="http://schemas.microsoft.com/office/drawing/2014/main" id="{689F49DB-7F97-419E-8213-67FB4E268FB5}"/>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9">
            <a:extLst xmlns:a="http://schemas.openxmlformats.org/drawingml/2006/main">
              <a:ext uri="{FF2B5EF4-FFF2-40B4-BE49-F238E27FC236}">
                <a16:creationId xmlns:a16="http://schemas.microsoft.com/office/drawing/2014/main" id="{91CB088D-9CF3-4F5A-8C23-DE9550884ADB}"/>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C5650956-EC69-48E2-BE1E-A815DB4EF68B}"/>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Bediening op de laptop; alleen het zaalscherm op de projector.</a:t>
            </a:r>
          </a:p>
        </p:txBody>
      </p:sp>
      <p:sp>
        <p:nvSpPr>
          <p:cNvPr id="8" name="frame-deelnemersbriefje.jpg">
            <a:extLst xmlns:a="http://schemas.openxmlformats.org/drawingml/2006/main">
              <a:ext uri="{FF2B5EF4-FFF2-40B4-BE49-F238E27FC236}">
                <a16:creationId xmlns:a16="http://schemas.microsoft.com/office/drawing/2014/main" id="{2BB2FA7E-7B56-4123-80F9-B29980A60B38}"/>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c44c759035240a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9">
            <a:extLst xmlns:a="http://schemas.openxmlformats.org/drawingml/2006/main">
              <a:ext uri="{FF2B5EF4-FFF2-40B4-BE49-F238E27FC236}">
                <a16:creationId xmlns:a16="http://schemas.microsoft.com/office/drawing/2014/main" id="{A754034A-6FBE-4526-A745-D73D34614CC5}"/>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9">
            <a:extLst xmlns:a="http://schemas.openxmlformats.org/drawingml/2006/main">
              <a:ext uri="{FF2B5EF4-FFF2-40B4-BE49-F238E27FC236}">
                <a16:creationId xmlns:a16="http://schemas.microsoft.com/office/drawing/2014/main" id="{F1859262-461C-412E-A8DE-F0457B241D45}"/>
              </a:ext>
            </a:extLst>
          </p:cNvPr>
          <p:cNvSpPr>
            <a:spLocks xmlns:a="http://schemas.openxmlformats.org/drawingml/2006/main" noGrp="1"/>
          </p:cNvSpPr>
          <p:nvPr/>
        </p:nvSpPr>
        <p:spPr>
          <a:xfrm xmlns:a="http://schemas.openxmlformats.org/drawingml/2006/main">
            <a:off x="0" y="6800850"/>
            <a:ext cx="645458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B2D10D02-05F2-4B52-8A31-26244371D99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9">
            <a:extLst xmlns:a="http://schemas.openxmlformats.org/drawingml/2006/main">
              <a:ext uri="{FF2B5EF4-FFF2-40B4-BE49-F238E27FC236}">
                <a16:creationId xmlns:a16="http://schemas.microsoft.com/office/drawing/2014/main" id="{162C3FCE-F9C4-4678-B830-5644B20813D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09 / 17</a:t>
            </a:r>
          </a:p>
        </p:txBody>
      </p:sp>
    </p:spTree>
    <p:extLst>
      <p:ext uri="{BB962C8B-B14F-4D97-AF65-F5344CB8AC3E}">
        <p14:creationId xmlns:p14="http://schemas.microsoft.com/office/powerpoint/2010/main" val="2033140887"/>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29BECF5B-74F5-4094-A103-F480CEBF69E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BESTAANDE SESSIE</a:t>
            </a:r>
          </a:p>
        </p:txBody>
      </p:sp>
      <p:sp>
        <p:nvSpPr>
          <p:cNvPr id="2" name="title-10">
            <a:extLst xmlns:a="http://schemas.openxmlformats.org/drawingml/2006/main">
              <a:ext uri="{FF2B5EF4-FFF2-40B4-BE49-F238E27FC236}">
                <a16:creationId xmlns:a16="http://schemas.microsoft.com/office/drawing/2014/main" id="{D4716DF4-BF84-4523-AC92-457359D473FC}"/>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de definitieve sessie opnieuw</a:t>
            </a:r>
          </a:p>
        </p:txBody>
      </p:sp>
      <p:sp>
        <p:nvSpPr>
          <p:cNvPr id="3" name="accent-10">
            <a:extLst xmlns:a="http://schemas.openxmlformats.org/drawingml/2006/main">
              <a:ext uri="{FF2B5EF4-FFF2-40B4-BE49-F238E27FC236}">
                <a16:creationId xmlns:a16="http://schemas.microsoft.com/office/drawing/2014/main" id="{EAE7DFD1-AC86-4514-A45C-F3B643C8944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57EF0A40-9082-4157-9A60-B08A12429BE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dezelfde laptop en browser</a:t>
            </a:r>
          </a:p>
          <a:p xmlns:a="http://schemas.openxmlformats.org/drawingml/2006/main">
            <a:pPr>
              <a:buNone/>
              <a:defRPr sz="1575">
                <a:solidFill>
                  <a:srgbClr val="17212D"/>
                </a:solidFill>
              </a:defRPr>
            </a:pPr>
            <a:r>
              <a:rPr sz="1575">
                <a:solidFill>
                  <a:srgbClr val="17212D"/>
                </a:solidFill>
              </a:rPr>
              <a:t>• Vergelijk schermcode met een briefje</a:t>
            </a:r>
          </a:p>
          <a:p xmlns:a="http://schemas.openxmlformats.org/drawingml/2006/main">
            <a:pPr>
              <a:buNone/>
              <a:defRPr sz="1575">
                <a:solidFill>
                  <a:srgbClr val="17212D"/>
                </a:solidFill>
              </a:defRPr>
            </a:pPr>
            <a:r>
              <a:rPr sz="1575">
                <a:solidFill>
                  <a:srgbClr val="17212D"/>
                </a:solidFill>
              </a:rPr>
              <a:t>• Open daarna het grote zaalscherm</a:t>
            </a:r>
          </a:p>
        </p:txBody>
      </p:sp>
      <p:sp>
        <p:nvSpPr>
          <p:cNvPr id="5" name="takeaway-box-10">
            <a:extLst xmlns:a="http://schemas.openxmlformats.org/drawingml/2006/main">
              <a:ext uri="{FF2B5EF4-FFF2-40B4-BE49-F238E27FC236}">
                <a16:creationId xmlns:a16="http://schemas.microsoft.com/office/drawing/2014/main" id="{E5B79C8B-6748-4FA5-805E-0FD56E969BB2}"/>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0">
            <a:extLst xmlns:a="http://schemas.openxmlformats.org/drawingml/2006/main">
              <a:ext uri="{FF2B5EF4-FFF2-40B4-BE49-F238E27FC236}">
                <a16:creationId xmlns:a16="http://schemas.microsoft.com/office/drawing/2014/main" id="{7F3ED053-2D86-423F-B564-C9621296CE5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BE4871B7-7CDA-4F7B-B853-CD62CB63E67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Maak in de zaal geen nieuwe sessie meer.</a:t>
            </a:r>
          </a:p>
        </p:txBody>
      </p:sp>
      <p:sp>
        <p:nvSpPr>
          <p:cNvPr id="8" name="frame-deelnemersbriefje.jpg">
            <a:extLst xmlns:a="http://schemas.openxmlformats.org/drawingml/2006/main">
              <a:ext uri="{FF2B5EF4-FFF2-40B4-BE49-F238E27FC236}">
                <a16:creationId xmlns:a16="http://schemas.microsoft.com/office/drawing/2014/main" id="{792FBAEF-15D3-4538-B911-1757AE9106A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2d036dd05584c59"/>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0">
            <a:extLst xmlns:a="http://schemas.openxmlformats.org/drawingml/2006/main">
              <a:ext uri="{FF2B5EF4-FFF2-40B4-BE49-F238E27FC236}">
                <a16:creationId xmlns:a16="http://schemas.microsoft.com/office/drawing/2014/main" id="{2726A321-5669-49C0-B9A0-07987E85811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0">
            <a:extLst xmlns:a="http://schemas.openxmlformats.org/drawingml/2006/main">
              <a:ext uri="{FF2B5EF4-FFF2-40B4-BE49-F238E27FC236}">
                <a16:creationId xmlns:a16="http://schemas.microsoft.com/office/drawing/2014/main" id="{DD43CC97-DBAE-48E0-9A01-FAC006910142}"/>
              </a:ext>
            </a:extLst>
          </p:cNvPr>
          <p:cNvSpPr>
            <a:spLocks xmlns:a="http://schemas.openxmlformats.org/drawingml/2006/main" noGrp="1"/>
          </p:cNvSpPr>
          <p:nvPr/>
        </p:nvSpPr>
        <p:spPr>
          <a:xfrm xmlns:a="http://schemas.openxmlformats.org/drawingml/2006/main">
            <a:off x="0" y="6800850"/>
            <a:ext cx="717176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B1680E84-7502-4ECB-884E-472E9040C68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0">
            <a:extLst xmlns:a="http://schemas.openxmlformats.org/drawingml/2006/main">
              <a:ext uri="{FF2B5EF4-FFF2-40B4-BE49-F238E27FC236}">
                <a16:creationId xmlns:a16="http://schemas.microsoft.com/office/drawing/2014/main" id="{D14893B3-DF83-492B-B3A5-EAC406C2228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10 / 17</a:t>
            </a:r>
          </a:p>
        </p:txBody>
      </p:sp>
    </p:spTree>
    <p:extLst>
      <p:ext uri="{BB962C8B-B14F-4D97-AF65-F5344CB8AC3E}">
        <p14:creationId xmlns:p14="http://schemas.microsoft.com/office/powerpoint/2010/main" val="285941513"/>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C79B078A-AEA1-40B5-B712-23D937700540}"/>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TECHNISCHE ZAALCONTROLE</a:t>
            </a:r>
          </a:p>
        </p:txBody>
      </p:sp>
      <p:sp>
        <p:nvSpPr>
          <p:cNvPr id="2" name="title-11">
            <a:extLst xmlns:a="http://schemas.openxmlformats.org/drawingml/2006/main">
              <a:ext uri="{FF2B5EF4-FFF2-40B4-BE49-F238E27FC236}">
                <a16:creationId xmlns:a16="http://schemas.microsoft.com/office/drawing/2014/main" id="{A65532BC-4297-43DB-B704-51C2E0C3FAF1}"/>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Controleer de wachtkamer, maar start geen vragen</a:t>
            </a:r>
          </a:p>
        </p:txBody>
      </p:sp>
      <p:sp>
        <p:nvSpPr>
          <p:cNvPr id="3" name="accent-11">
            <a:extLst xmlns:a="http://schemas.openxmlformats.org/drawingml/2006/main">
              <a:ext uri="{FF2B5EF4-FFF2-40B4-BE49-F238E27FC236}">
                <a16:creationId xmlns:a16="http://schemas.microsoft.com/office/drawing/2014/main" id="{6B8918EE-AAA5-460F-87FD-C22D5DE8F6BC}"/>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8B73E38A-D09A-46CC-BEAF-BABBA31FB69C}"/>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één definitief reservebriefje</a:t>
            </a:r>
          </a:p>
          <a:p xmlns:a="http://schemas.openxmlformats.org/drawingml/2006/main">
            <a:pPr>
              <a:buNone/>
              <a:defRPr sz="1575">
                <a:solidFill>
                  <a:srgbClr val="17212D"/>
                </a:solidFill>
              </a:defRPr>
            </a:pPr>
            <a:r>
              <a:rPr sz="1575">
                <a:solidFill>
                  <a:srgbClr val="17212D"/>
                </a:solidFill>
              </a:rPr>
              <a:t>• Controleer wachtkamer, teller en projectie</a:t>
            </a:r>
          </a:p>
          <a:p xmlns:a="http://schemas.openxmlformats.org/drawingml/2006/main">
            <a:pPr>
              <a:buNone/>
              <a:defRPr sz="1575">
                <a:solidFill>
                  <a:srgbClr val="17212D"/>
                </a:solidFill>
              </a:defRPr>
            </a:pPr>
            <a:r>
              <a:rPr sz="1575">
                <a:solidFill>
                  <a:srgbClr val="17212D"/>
                </a:solidFill>
              </a:rPr>
              <a:t>• Stop vóór de eerste quizvraag</a:t>
            </a:r>
          </a:p>
        </p:txBody>
      </p:sp>
      <p:sp>
        <p:nvSpPr>
          <p:cNvPr id="5" name="takeaway-box-11">
            <a:extLst xmlns:a="http://schemas.openxmlformats.org/drawingml/2006/main">
              <a:ext uri="{FF2B5EF4-FFF2-40B4-BE49-F238E27FC236}">
                <a16:creationId xmlns:a16="http://schemas.microsoft.com/office/drawing/2014/main" id="{AA0E309B-344C-49E0-8903-FC6E33F6424E}"/>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1">
            <a:extLst xmlns:a="http://schemas.openxmlformats.org/drawingml/2006/main">
              <a:ext uri="{FF2B5EF4-FFF2-40B4-BE49-F238E27FC236}">
                <a16:creationId xmlns:a16="http://schemas.microsoft.com/office/drawing/2014/main" id="{3A965EA7-332F-434F-AEC2-8E6F7025F8F3}"/>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B8DD7F59-733F-4ABA-BF02-4E67246E1B2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definitieve zaalquiz start pas wanneer het publiek klaarzit.</a:t>
            </a:r>
          </a:p>
        </p:txBody>
      </p:sp>
      <p:sp>
        <p:nvSpPr>
          <p:cNvPr id="8" name="frame-deelnemersbriefje.jpg">
            <a:extLst xmlns:a="http://schemas.openxmlformats.org/drawingml/2006/main">
              <a:ext uri="{FF2B5EF4-FFF2-40B4-BE49-F238E27FC236}">
                <a16:creationId xmlns:a16="http://schemas.microsoft.com/office/drawing/2014/main" id="{B4812442-3494-4A17-899A-DA75149C9AE6}"/>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3b524e3239b48be"/>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1">
            <a:extLst xmlns:a="http://schemas.openxmlformats.org/drawingml/2006/main">
              <a:ext uri="{FF2B5EF4-FFF2-40B4-BE49-F238E27FC236}">
                <a16:creationId xmlns:a16="http://schemas.microsoft.com/office/drawing/2014/main" id="{4A4303DB-8F6A-4259-A092-8F30B6572237}"/>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1">
            <a:extLst xmlns:a="http://schemas.openxmlformats.org/drawingml/2006/main">
              <a:ext uri="{FF2B5EF4-FFF2-40B4-BE49-F238E27FC236}">
                <a16:creationId xmlns:a16="http://schemas.microsoft.com/office/drawing/2014/main" id="{530F4811-4190-45C5-A599-FFE660DA6312}"/>
              </a:ext>
            </a:extLst>
          </p:cNvPr>
          <p:cNvSpPr>
            <a:spLocks xmlns:a="http://schemas.openxmlformats.org/drawingml/2006/main" noGrp="1"/>
          </p:cNvSpPr>
          <p:nvPr/>
        </p:nvSpPr>
        <p:spPr>
          <a:xfrm xmlns:a="http://schemas.openxmlformats.org/drawingml/2006/main">
            <a:off x="0" y="6800850"/>
            <a:ext cx="788894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AC6D6222-07FF-4575-BE3A-CE18A3F4CEF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1">
            <a:extLst xmlns:a="http://schemas.openxmlformats.org/drawingml/2006/main">
              <a:ext uri="{FF2B5EF4-FFF2-40B4-BE49-F238E27FC236}">
                <a16:creationId xmlns:a16="http://schemas.microsoft.com/office/drawing/2014/main" id="{99F924E9-E861-4CF6-A316-3F51E4EAD611}"/>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11 / 17</a:t>
            </a:r>
          </a:p>
        </p:txBody>
      </p:sp>
    </p:spTree>
    <p:extLst>
      <p:ext uri="{BB962C8B-B14F-4D97-AF65-F5344CB8AC3E}">
        <p14:creationId xmlns:p14="http://schemas.microsoft.com/office/powerpoint/2010/main" val="137092465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BECA77A0-233D-443D-9028-C5FF54F3C17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ONTHAAL KLAARZETTEN</a:t>
            </a:r>
          </a:p>
        </p:txBody>
      </p:sp>
      <p:sp>
        <p:nvSpPr>
          <p:cNvPr id="2" name="title-12">
            <a:extLst xmlns:a="http://schemas.openxmlformats.org/drawingml/2006/main">
              <a:ext uri="{FF2B5EF4-FFF2-40B4-BE49-F238E27FC236}">
                <a16:creationId xmlns:a16="http://schemas.microsoft.com/office/drawing/2014/main" id="{DFD17651-CF35-46D2-9676-51F8DAA8C7F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Bereid de ingang en de helpers voor</a:t>
            </a:r>
          </a:p>
        </p:txBody>
      </p:sp>
      <p:sp>
        <p:nvSpPr>
          <p:cNvPr id="3" name="accent-12">
            <a:extLst xmlns:a="http://schemas.openxmlformats.org/drawingml/2006/main">
              <a:ext uri="{FF2B5EF4-FFF2-40B4-BE49-F238E27FC236}">
                <a16:creationId xmlns:a16="http://schemas.microsoft.com/office/drawing/2014/main" id="{57EB5E54-1314-4B8B-A945-2E971E7E8DC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5D2DE0AF-31F9-421F-B6DF-5694FFA87D5F}"/>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Leg briefjes en reserves bij de ingang</a:t>
            </a:r>
          </a:p>
          <a:p xmlns:a="http://schemas.openxmlformats.org/drawingml/2006/main">
            <a:pPr>
              <a:buNone/>
              <a:defRPr sz="1575">
                <a:solidFill>
                  <a:srgbClr val="17212D"/>
                </a:solidFill>
              </a:defRPr>
            </a:pPr>
            <a:r>
              <a:rPr sz="1575">
                <a:solidFill>
                  <a:srgbClr val="17212D"/>
                </a:solidFill>
              </a:rPr>
              <a:t>• Spreek één vaste korte uitleg af</a:t>
            </a:r>
          </a:p>
          <a:p xmlns:a="http://schemas.openxmlformats.org/drawingml/2006/main">
            <a:pPr>
              <a:buNone/>
              <a:defRPr sz="1575">
                <a:solidFill>
                  <a:srgbClr val="17212D"/>
                </a:solidFill>
              </a:defRPr>
            </a:pPr>
            <a:r>
              <a:rPr sz="1575">
                <a:solidFill>
                  <a:srgbClr val="17212D"/>
                </a:solidFill>
              </a:rPr>
              <a:t>• Voorzie 15–20 minuten om te verbinden</a:t>
            </a:r>
          </a:p>
        </p:txBody>
      </p:sp>
      <p:sp>
        <p:nvSpPr>
          <p:cNvPr id="5" name="takeaway-box-12">
            <a:extLst xmlns:a="http://schemas.openxmlformats.org/drawingml/2006/main">
              <a:ext uri="{FF2B5EF4-FFF2-40B4-BE49-F238E27FC236}">
                <a16:creationId xmlns:a16="http://schemas.microsoft.com/office/drawing/2014/main" id="{E6643E83-EBA8-4EA4-A92D-69E72F5E9097}"/>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2">
            <a:extLst xmlns:a="http://schemas.openxmlformats.org/drawingml/2006/main">
              <a:ext uri="{FF2B5EF4-FFF2-40B4-BE49-F238E27FC236}">
                <a16:creationId xmlns:a16="http://schemas.microsoft.com/office/drawing/2014/main" id="{8B6F1E87-8467-40E1-A142-74149A54411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66CDF569-B948-47BA-B8B4-B2A7E82D0343}"/>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Eén helper deelt uit; één helper ondersteunt in de zaal.</a:t>
            </a:r>
          </a:p>
        </p:txBody>
      </p:sp>
      <p:sp>
        <p:nvSpPr>
          <p:cNvPr id="8" name="frame-deelnemer-wachtkamer.jpg">
            <a:extLst xmlns:a="http://schemas.openxmlformats.org/drawingml/2006/main">
              <a:ext uri="{FF2B5EF4-FFF2-40B4-BE49-F238E27FC236}">
                <a16:creationId xmlns:a16="http://schemas.microsoft.com/office/drawing/2014/main" id="{5EBF0143-C646-42FD-BF04-C79A3A7FF84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29eefec3d724baf"/>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12">
            <a:extLst xmlns:a="http://schemas.openxmlformats.org/drawingml/2006/main">
              <a:ext uri="{FF2B5EF4-FFF2-40B4-BE49-F238E27FC236}">
                <a16:creationId xmlns:a16="http://schemas.microsoft.com/office/drawing/2014/main" id="{043FF0AB-D62C-418A-83B6-6DA68FB2DACB}"/>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2">
            <a:extLst xmlns:a="http://schemas.openxmlformats.org/drawingml/2006/main">
              <a:ext uri="{FF2B5EF4-FFF2-40B4-BE49-F238E27FC236}">
                <a16:creationId xmlns:a16="http://schemas.microsoft.com/office/drawing/2014/main" id="{29F8A7CC-5893-48D6-8036-6BBE8F14EFE4}"/>
              </a:ext>
            </a:extLst>
          </p:cNvPr>
          <p:cNvSpPr>
            <a:spLocks xmlns:a="http://schemas.openxmlformats.org/drawingml/2006/main" noGrp="1"/>
          </p:cNvSpPr>
          <p:nvPr/>
        </p:nvSpPr>
        <p:spPr>
          <a:xfrm xmlns:a="http://schemas.openxmlformats.org/drawingml/2006/main">
            <a:off x="0" y="6800850"/>
            <a:ext cx="860611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724D803A-40B6-465D-B1F1-7D63745B57C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2">
            <a:extLst xmlns:a="http://schemas.openxmlformats.org/drawingml/2006/main">
              <a:ext uri="{FF2B5EF4-FFF2-40B4-BE49-F238E27FC236}">
                <a16:creationId xmlns:a16="http://schemas.microsoft.com/office/drawing/2014/main" id="{299B5752-536D-465C-B1D2-DA9A3FD602E9}"/>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12 / 17</a:t>
            </a:r>
          </a:p>
        </p:txBody>
      </p:sp>
    </p:spTree>
    <p:extLst>
      <p:ext uri="{BB962C8B-B14F-4D97-AF65-F5344CB8AC3E}">
        <p14:creationId xmlns:p14="http://schemas.microsoft.com/office/powerpoint/2010/main" val="2108177785"/>
      </p:ext>
    </p:extLst>
  </p:cSld>
</p:sld>
</file>

<file path=ppt/slides/slide1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3">
            <a:extLst xmlns:a="http://schemas.openxmlformats.org/drawingml/2006/main">
              <a:ext uri="{FF2B5EF4-FFF2-40B4-BE49-F238E27FC236}">
                <a16:creationId xmlns:a16="http://schemas.microsoft.com/office/drawing/2014/main" id="{375B572B-1C31-4BF7-9375-C0171F824F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DEELNEMERS KOMEN BINNEN</a:t>
            </a:r>
          </a:p>
        </p:txBody>
      </p:sp>
      <p:sp>
        <p:nvSpPr>
          <p:cNvPr id="2" name="title-13">
            <a:extLst xmlns:a="http://schemas.openxmlformats.org/drawingml/2006/main">
              <a:ext uri="{FF2B5EF4-FFF2-40B4-BE49-F238E27FC236}">
                <a16:creationId xmlns:a16="http://schemas.microsoft.com/office/drawing/2014/main" id="{F19D807D-00FE-436A-9427-414A77A13273}"/>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Geef bij ontvangst één briefje per persoon</a:t>
            </a:r>
          </a:p>
        </p:txBody>
      </p:sp>
      <p:sp>
        <p:nvSpPr>
          <p:cNvPr id="3" name="accent-13">
            <a:extLst xmlns:a="http://schemas.openxmlformats.org/drawingml/2006/main">
              <a:ext uri="{FF2B5EF4-FFF2-40B4-BE49-F238E27FC236}">
                <a16:creationId xmlns:a16="http://schemas.microsoft.com/office/drawing/2014/main" id="{5381EB81-12ED-4536-928B-BF58BC1DAAF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3">
            <a:extLst xmlns:a="http://schemas.openxmlformats.org/drawingml/2006/main">
              <a:ext uri="{FF2B5EF4-FFF2-40B4-BE49-F238E27FC236}">
                <a16:creationId xmlns:a16="http://schemas.microsoft.com/office/drawing/2014/main" id="{81CAF9CB-04FE-437D-B055-9FF228EA7362}"/>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Deel uit vóór de deelnemer plaatsneemt</a:t>
            </a:r>
          </a:p>
          <a:p xmlns:a="http://schemas.openxmlformats.org/drawingml/2006/main">
            <a:pPr>
              <a:buNone/>
              <a:defRPr sz="1575">
                <a:solidFill>
                  <a:srgbClr val="17212D"/>
                </a:solidFill>
              </a:defRPr>
            </a:pPr>
            <a:r>
              <a:rPr sz="1575">
                <a:solidFill>
                  <a:srgbClr val="17212D"/>
                </a:solidFill>
              </a:rPr>
              <a:t>• Eerst internet: mobiele data of zaalwifi</a:t>
            </a:r>
          </a:p>
          <a:p xmlns:a="http://schemas.openxmlformats.org/drawingml/2006/main">
            <a:pPr>
              <a:buNone/>
              <a:defRPr sz="1575">
                <a:solidFill>
                  <a:srgbClr val="17212D"/>
                </a:solidFill>
              </a:defRPr>
            </a:pPr>
            <a:r>
              <a:rPr sz="1575">
                <a:solidFill>
                  <a:srgbClr val="17212D"/>
                </a:solidFill>
              </a:rPr>
              <a:t>• Help meteen als verbinding maken niet lukt</a:t>
            </a:r>
          </a:p>
        </p:txBody>
      </p:sp>
      <p:sp>
        <p:nvSpPr>
          <p:cNvPr id="5" name="takeaway-box-13">
            <a:extLst xmlns:a="http://schemas.openxmlformats.org/drawingml/2006/main">
              <a:ext uri="{FF2B5EF4-FFF2-40B4-BE49-F238E27FC236}">
                <a16:creationId xmlns:a16="http://schemas.microsoft.com/office/drawing/2014/main" id="{E5DCD467-B536-4464-8D82-C0442725C2F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3">
            <a:extLst xmlns:a="http://schemas.openxmlformats.org/drawingml/2006/main">
              <a:ext uri="{FF2B5EF4-FFF2-40B4-BE49-F238E27FC236}">
                <a16:creationId xmlns:a16="http://schemas.microsoft.com/office/drawing/2014/main" id="{59077E87-5104-46C4-886F-A0D98CB5E63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3">
            <a:extLst xmlns:a="http://schemas.openxmlformats.org/drawingml/2006/main">
              <a:ext uri="{FF2B5EF4-FFF2-40B4-BE49-F238E27FC236}">
                <a16:creationId xmlns:a16="http://schemas.microsoft.com/office/drawing/2014/main" id="{137EC3BD-2E7F-4123-8FC7-A8FBA7CACC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Het briefje leidt iedere deelnemer stap voor stap.</a:t>
            </a:r>
          </a:p>
        </p:txBody>
      </p:sp>
      <p:sp>
        <p:nvSpPr>
          <p:cNvPr id="8" name="frame-deelnemer-vraag.jpg">
            <a:extLst xmlns:a="http://schemas.openxmlformats.org/drawingml/2006/main">
              <a:ext uri="{FF2B5EF4-FFF2-40B4-BE49-F238E27FC236}">
                <a16:creationId xmlns:a16="http://schemas.microsoft.com/office/drawing/2014/main" id="{FA4648FA-FA6F-46D3-AEF4-C65DD99626BA}"/>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7154d8d3ccc4000"/>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3">
            <a:extLst xmlns:a="http://schemas.openxmlformats.org/drawingml/2006/main">
              <a:ext uri="{FF2B5EF4-FFF2-40B4-BE49-F238E27FC236}">
                <a16:creationId xmlns:a16="http://schemas.microsoft.com/office/drawing/2014/main" id="{AE2A39D5-F8B4-41FD-8352-CBADF5728DED}"/>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3">
            <a:extLst xmlns:a="http://schemas.openxmlformats.org/drawingml/2006/main">
              <a:ext uri="{FF2B5EF4-FFF2-40B4-BE49-F238E27FC236}">
                <a16:creationId xmlns:a16="http://schemas.microsoft.com/office/drawing/2014/main" id="{AFD9DAB6-28F5-4F22-8335-2C881FC03088}"/>
              </a:ext>
            </a:extLst>
          </p:cNvPr>
          <p:cNvSpPr>
            <a:spLocks xmlns:a="http://schemas.openxmlformats.org/drawingml/2006/main" noGrp="1"/>
          </p:cNvSpPr>
          <p:nvPr/>
        </p:nvSpPr>
        <p:spPr>
          <a:xfrm xmlns:a="http://schemas.openxmlformats.org/drawingml/2006/main">
            <a:off x="0" y="6800850"/>
            <a:ext cx="932329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3">
            <a:extLst xmlns:a="http://schemas.openxmlformats.org/drawingml/2006/main">
              <a:ext uri="{FF2B5EF4-FFF2-40B4-BE49-F238E27FC236}">
                <a16:creationId xmlns:a16="http://schemas.microsoft.com/office/drawing/2014/main" id="{7EFD98B5-B07E-4B9C-BA98-69E6017CAB34}"/>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3">
            <a:extLst xmlns:a="http://schemas.openxmlformats.org/drawingml/2006/main">
              <a:ext uri="{FF2B5EF4-FFF2-40B4-BE49-F238E27FC236}">
                <a16:creationId xmlns:a16="http://schemas.microsoft.com/office/drawing/2014/main" id="{CE569AFA-9B76-42A1-A4D2-D53F1E5E60A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13 / 17</a:t>
            </a:r>
          </a:p>
        </p:txBody>
      </p:sp>
    </p:spTree>
    <p:extLst>
      <p:ext uri="{BB962C8B-B14F-4D97-AF65-F5344CB8AC3E}">
        <p14:creationId xmlns:p14="http://schemas.microsoft.com/office/powerpoint/2010/main" val="209551680"/>
      </p:ext>
    </p:extLst>
  </p:cSld>
</p:sld>
</file>

<file path=ppt/slides/slide1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4">
            <a:extLst xmlns:a="http://schemas.openxmlformats.org/drawingml/2006/main">
              <a:ext uri="{FF2B5EF4-FFF2-40B4-BE49-F238E27FC236}">
                <a16:creationId xmlns:a16="http://schemas.microsoft.com/office/drawing/2014/main" id="{24A1CAEA-DEEE-43B3-A1FA-3DE5EDDA7BF5}"/>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VERBINDEN</a:t>
            </a:r>
          </a:p>
        </p:txBody>
      </p:sp>
      <p:sp>
        <p:nvSpPr>
          <p:cNvPr id="2" name="title-14">
            <a:extLst xmlns:a="http://schemas.openxmlformats.org/drawingml/2006/main">
              <a:ext uri="{FF2B5EF4-FFF2-40B4-BE49-F238E27FC236}">
                <a16:creationId xmlns:a16="http://schemas.microsoft.com/office/drawing/2014/main" id="{CCE79F61-49B2-4E0F-98B3-FFCEF0169EB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daarna de quiz en laat de pagina open</a:t>
            </a:r>
          </a:p>
        </p:txBody>
      </p:sp>
      <p:sp>
        <p:nvSpPr>
          <p:cNvPr id="3" name="accent-14">
            <a:extLst xmlns:a="http://schemas.openxmlformats.org/drawingml/2006/main">
              <a:ext uri="{FF2B5EF4-FFF2-40B4-BE49-F238E27FC236}">
                <a16:creationId xmlns:a16="http://schemas.microsoft.com/office/drawing/2014/main" id="{D5741CD3-BBAE-4F0F-8202-707EF0217CA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4">
            <a:extLst xmlns:a="http://schemas.openxmlformats.org/drawingml/2006/main">
              <a:ext uri="{FF2B5EF4-FFF2-40B4-BE49-F238E27FC236}">
                <a16:creationId xmlns:a16="http://schemas.microsoft.com/office/drawing/2014/main" id="{823CF731-E3AB-46EF-A474-E22FB554296E}"/>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de quiz-QR-code of typ de link</a:t>
            </a:r>
          </a:p>
          <a:p xmlns:a="http://schemas.openxmlformats.org/drawingml/2006/main">
            <a:pPr>
              <a:buNone/>
              <a:defRPr sz="1575">
                <a:solidFill>
                  <a:srgbClr val="17212D"/>
                </a:solidFill>
              </a:defRPr>
            </a:pPr>
            <a:r>
              <a:rPr sz="1575">
                <a:solidFill>
                  <a:srgbClr val="17212D"/>
                </a:solidFill>
              </a:rPr>
              <a:t>• Vul indien gevraagd de drie cijfers in</a:t>
            </a:r>
          </a:p>
          <a:p xmlns:a="http://schemas.openxmlformats.org/drawingml/2006/main">
            <a:pPr>
              <a:buNone/>
              <a:defRPr sz="1575">
                <a:solidFill>
                  <a:srgbClr val="17212D"/>
                </a:solidFill>
              </a:defRPr>
            </a:pPr>
            <a:r>
              <a:rPr sz="1575">
                <a:solidFill>
                  <a:srgbClr val="17212D"/>
                </a:solidFill>
              </a:rPr>
              <a:t>• Wacht bij de melding “U bent verbonden”</a:t>
            </a:r>
          </a:p>
        </p:txBody>
      </p:sp>
      <p:sp>
        <p:nvSpPr>
          <p:cNvPr id="5" name="takeaway-box-14">
            <a:extLst xmlns:a="http://schemas.openxmlformats.org/drawingml/2006/main">
              <a:ext uri="{FF2B5EF4-FFF2-40B4-BE49-F238E27FC236}">
                <a16:creationId xmlns:a16="http://schemas.microsoft.com/office/drawing/2014/main" id="{6DF81ABA-775D-45B3-822F-BED0F6B444BC}"/>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4">
            <a:extLst xmlns:a="http://schemas.openxmlformats.org/drawingml/2006/main">
              <a:ext uri="{FF2B5EF4-FFF2-40B4-BE49-F238E27FC236}">
                <a16:creationId xmlns:a16="http://schemas.microsoft.com/office/drawing/2014/main" id="{15138135-1872-420A-B056-F3E27C9F22B2}"/>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4">
            <a:extLst xmlns:a="http://schemas.openxmlformats.org/drawingml/2006/main">
              <a:ext uri="{FF2B5EF4-FFF2-40B4-BE49-F238E27FC236}">
                <a16:creationId xmlns:a16="http://schemas.microsoft.com/office/drawing/2014/main" id="{550170E0-A245-4016-A290-BDEF8AC2E05C}"/>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pas wanneer de verbindingsteller klopt.</a:t>
            </a:r>
          </a:p>
        </p:txBody>
      </p:sp>
      <p:sp>
        <p:nvSpPr>
          <p:cNvPr id="8" name="frame-quizmaster-vraag-open.jpg">
            <a:extLst xmlns:a="http://schemas.openxmlformats.org/drawingml/2006/main">
              <a:ext uri="{FF2B5EF4-FFF2-40B4-BE49-F238E27FC236}">
                <a16:creationId xmlns:a16="http://schemas.microsoft.com/office/drawing/2014/main" id="{16CE8178-1417-4EF6-9C98-E394784915AC}"/>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2fc31fb03a747f4"/>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4">
            <a:extLst xmlns:a="http://schemas.openxmlformats.org/drawingml/2006/main">
              <a:ext uri="{FF2B5EF4-FFF2-40B4-BE49-F238E27FC236}">
                <a16:creationId xmlns:a16="http://schemas.microsoft.com/office/drawing/2014/main" id="{C87CE85F-E5BD-457A-904A-D0E27FAB0755}"/>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4">
            <a:extLst xmlns:a="http://schemas.openxmlformats.org/drawingml/2006/main">
              <a:ext uri="{FF2B5EF4-FFF2-40B4-BE49-F238E27FC236}">
                <a16:creationId xmlns:a16="http://schemas.microsoft.com/office/drawing/2014/main" id="{25A2845D-AC07-463E-8D84-66180A39FBFF}"/>
              </a:ext>
            </a:extLst>
          </p:cNvPr>
          <p:cNvSpPr>
            <a:spLocks xmlns:a="http://schemas.openxmlformats.org/drawingml/2006/main" noGrp="1"/>
          </p:cNvSpPr>
          <p:nvPr/>
        </p:nvSpPr>
        <p:spPr>
          <a:xfrm xmlns:a="http://schemas.openxmlformats.org/drawingml/2006/main">
            <a:off x="0" y="6800850"/>
            <a:ext cx="1004047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4">
            <a:extLst xmlns:a="http://schemas.openxmlformats.org/drawingml/2006/main">
              <a:ext uri="{FF2B5EF4-FFF2-40B4-BE49-F238E27FC236}">
                <a16:creationId xmlns:a16="http://schemas.microsoft.com/office/drawing/2014/main" id="{FDF1CE1B-E4F8-4A53-B83D-5BF4C5159DB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4">
            <a:extLst xmlns:a="http://schemas.openxmlformats.org/drawingml/2006/main">
              <a:ext uri="{FF2B5EF4-FFF2-40B4-BE49-F238E27FC236}">
                <a16:creationId xmlns:a16="http://schemas.microsoft.com/office/drawing/2014/main" id="{3BB987A5-92AE-4F09-AE7B-342334BA3BB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14 / 17</a:t>
            </a:r>
          </a:p>
        </p:txBody>
      </p:sp>
    </p:spTree>
    <p:extLst>
      <p:ext uri="{BB962C8B-B14F-4D97-AF65-F5344CB8AC3E}">
        <p14:creationId xmlns:p14="http://schemas.microsoft.com/office/powerpoint/2010/main" val="1677453347"/>
      </p:ext>
    </p:extLst>
  </p:cSld>
</p:sld>
</file>

<file path=ppt/slides/slide1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5">
            <a:extLst xmlns:a="http://schemas.openxmlformats.org/drawingml/2006/main">
              <a:ext uri="{FF2B5EF4-FFF2-40B4-BE49-F238E27FC236}">
                <a16:creationId xmlns:a16="http://schemas.microsoft.com/office/drawing/2014/main" id="{9A1066FF-174D-489F-9B4D-02AE28C629B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DE QUIZ SPELEN</a:t>
            </a:r>
          </a:p>
        </p:txBody>
      </p:sp>
      <p:sp>
        <p:nvSpPr>
          <p:cNvPr id="2" name="title-15">
            <a:extLst xmlns:a="http://schemas.openxmlformats.org/drawingml/2006/main">
              <a:ext uri="{FF2B5EF4-FFF2-40B4-BE49-F238E27FC236}">
                <a16:creationId xmlns:a16="http://schemas.microsoft.com/office/drawing/2014/main" id="{EDA08153-8941-44A7-9675-0ADDFDC7A95F}"/>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de tellers om samen verder te gaan</a:t>
            </a:r>
          </a:p>
        </p:txBody>
      </p:sp>
      <p:sp>
        <p:nvSpPr>
          <p:cNvPr id="3" name="accent-15">
            <a:extLst xmlns:a="http://schemas.openxmlformats.org/drawingml/2006/main">
              <a:ext uri="{FF2B5EF4-FFF2-40B4-BE49-F238E27FC236}">
                <a16:creationId xmlns:a16="http://schemas.microsoft.com/office/drawing/2014/main" id="{6B4B6C29-3263-455B-8A61-56D1627635B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5">
            <a:extLst xmlns:a="http://schemas.openxmlformats.org/drawingml/2006/main">
              <a:ext uri="{FF2B5EF4-FFF2-40B4-BE49-F238E27FC236}">
                <a16:creationId xmlns:a16="http://schemas.microsoft.com/office/drawing/2014/main" id="{7D574107-63BF-4BF7-9A93-295DC0DC3627}"/>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Eén anoniem antwoord per deelnemer</a:t>
            </a:r>
          </a:p>
          <a:p xmlns:a="http://schemas.openxmlformats.org/drawingml/2006/main">
            <a:pPr>
              <a:buNone/>
              <a:defRPr sz="1575">
                <a:solidFill>
                  <a:srgbClr val="17212D"/>
                </a:solidFill>
              </a:defRPr>
            </a:pPr>
            <a:r>
              <a:rPr sz="1575">
                <a:solidFill>
                  <a:srgbClr val="17212D"/>
                </a:solidFill>
              </a:rPr>
              <a:t>• 30 verbonden en 28 antwoorden: nog wachten</a:t>
            </a:r>
          </a:p>
          <a:p xmlns:a="http://schemas.openxmlformats.org/drawingml/2006/main">
            <a:pPr>
              <a:buNone/>
              <a:defRPr sz="1575">
                <a:solidFill>
                  <a:srgbClr val="17212D"/>
                </a:solidFill>
              </a:defRPr>
            </a:pPr>
            <a:r>
              <a:rPr sz="1575">
                <a:solidFill>
                  <a:srgbClr val="17212D"/>
                </a:solidFill>
              </a:rPr>
              <a:t>• 30 van 30: sluiten, oplossing tonen, verdergaan</a:t>
            </a:r>
          </a:p>
        </p:txBody>
      </p:sp>
      <p:sp>
        <p:nvSpPr>
          <p:cNvPr id="5" name="takeaway-box-15">
            <a:extLst xmlns:a="http://schemas.openxmlformats.org/drawingml/2006/main">
              <a:ext uri="{FF2B5EF4-FFF2-40B4-BE49-F238E27FC236}">
                <a16:creationId xmlns:a16="http://schemas.microsoft.com/office/drawing/2014/main" id="{14E3EE02-B2A6-4F70-9881-589DB8D5C336}"/>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5">
            <a:extLst xmlns:a="http://schemas.openxmlformats.org/drawingml/2006/main">
              <a:ext uri="{FF2B5EF4-FFF2-40B4-BE49-F238E27FC236}">
                <a16:creationId xmlns:a16="http://schemas.microsoft.com/office/drawing/2014/main" id="{FBEA5EBE-D017-4A36-B1F8-821E02831EA0}"/>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5">
            <a:extLst xmlns:a="http://schemas.openxmlformats.org/drawingml/2006/main">
              <a:ext uri="{FF2B5EF4-FFF2-40B4-BE49-F238E27FC236}">
                <a16:creationId xmlns:a16="http://schemas.microsoft.com/office/drawing/2014/main" id="{E1A825EA-66BC-400E-99E7-7275E957A51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tellers voorkomen dat deelnemers worden achtergelaten.</a:t>
            </a:r>
          </a:p>
        </p:txBody>
      </p:sp>
      <p:sp>
        <p:nvSpPr>
          <p:cNvPr id="8" name="frame-quizmaster-oplossing.jpg">
            <a:extLst xmlns:a="http://schemas.openxmlformats.org/drawingml/2006/main">
              <a:ext uri="{FF2B5EF4-FFF2-40B4-BE49-F238E27FC236}">
                <a16:creationId xmlns:a16="http://schemas.microsoft.com/office/drawing/2014/main" id="{80CD226A-848C-4A3C-8AF8-1D2FB384AF8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e92e69a383a4448"/>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5">
            <a:extLst xmlns:a="http://schemas.openxmlformats.org/drawingml/2006/main">
              <a:ext uri="{FF2B5EF4-FFF2-40B4-BE49-F238E27FC236}">
                <a16:creationId xmlns:a16="http://schemas.microsoft.com/office/drawing/2014/main" id="{F41CB939-103C-4112-A1B0-784992FAE91C}"/>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5">
            <a:extLst xmlns:a="http://schemas.openxmlformats.org/drawingml/2006/main">
              <a:ext uri="{FF2B5EF4-FFF2-40B4-BE49-F238E27FC236}">
                <a16:creationId xmlns:a16="http://schemas.microsoft.com/office/drawing/2014/main" id="{38480DCD-169F-4B76-ADB0-605B0313DE4B}"/>
              </a:ext>
            </a:extLst>
          </p:cNvPr>
          <p:cNvSpPr>
            <a:spLocks xmlns:a="http://schemas.openxmlformats.org/drawingml/2006/main" noGrp="1"/>
          </p:cNvSpPr>
          <p:nvPr/>
        </p:nvSpPr>
        <p:spPr>
          <a:xfrm xmlns:a="http://schemas.openxmlformats.org/drawingml/2006/main">
            <a:off x="0" y="6800850"/>
            <a:ext cx="10757647"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5">
            <a:extLst xmlns:a="http://schemas.openxmlformats.org/drawingml/2006/main">
              <a:ext uri="{FF2B5EF4-FFF2-40B4-BE49-F238E27FC236}">
                <a16:creationId xmlns:a16="http://schemas.microsoft.com/office/drawing/2014/main" id="{395FF6AA-95B2-4EEA-89DD-32E6B90478D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5">
            <a:extLst xmlns:a="http://schemas.openxmlformats.org/drawingml/2006/main">
              <a:ext uri="{FF2B5EF4-FFF2-40B4-BE49-F238E27FC236}">
                <a16:creationId xmlns:a16="http://schemas.microsoft.com/office/drawing/2014/main" id="{001041EE-2C57-48D3-B62E-BC529827AE2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15 / 17</a:t>
            </a:r>
          </a:p>
        </p:txBody>
      </p:sp>
    </p:spTree>
    <p:extLst>
      <p:ext uri="{BB962C8B-B14F-4D97-AF65-F5344CB8AC3E}">
        <p14:creationId xmlns:p14="http://schemas.microsoft.com/office/powerpoint/2010/main" val="206490823"/>
      </p:ext>
    </p:extLst>
  </p:cSld>
</p:sld>
</file>

<file path=ppt/slides/slide1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6" name="kicker-16">
            <a:extLst xmlns:a="http://schemas.openxmlformats.org/drawingml/2006/main">
              <a:ext uri="{FF2B5EF4-FFF2-40B4-BE49-F238E27FC236}">
                <a16:creationId xmlns:a16="http://schemas.microsoft.com/office/drawing/2014/main" id="{B3B2EBD8-4C4B-44D4-B225-65C752CAC148}"/>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NA DE LAATSTE VRAAG</a:t>
            </a:r>
          </a:p>
        </p:txBody>
      </p:sp>
      <p:sp>
        <p:nvSpPr>
          <p:cNvPr id="2" name="title-16">
            <a:extLst xmlns:a="http://schemas.openxmlformats.org/drawingml/2006/main">
              <a:ext uri="{FF2B5EF4-FFF2-40B4-BE49-F238E27FC236}">
                <a16:creationId xmlns:a16="http://schemas.microsoft.com/office/drawing/2014/main" id="{B3A69891-227F-4FF3-9E3F-6A0DEBC61BEA}"/>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Privé resultaat en gezamenlijke eindanalyse</a:t>
            </a:r>
          </a:p>
        </p:txBody>
      </p:sp>
      <p:sp>
        <p:nvSpPr>
          <p:cNvPr id="3" name="accent-16">
            <a:extLst xmlns:a="http://schemas.openxmlformats.org/drawingml/2006/main">
              <a:ext uri="{FF2B5EF4-FFF2-40B4-BE49-F238E27FC236}">
                <a16:creationId xmlns:a16="http://schemas.microsoft.com/office/drawing/2014/main" id="{1E9F8B2F-6D49-4F2E-A6F7-3574BFF21BA4}"/>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6">
            <a:extLst xmlns:a="http://schemas.openxmlformats.org/drawingml/2006/main">
              <a:ext uri="{FF2B5EF4-FFF2-40B4-BE49-F238E27FC236}">
                <a16:creationId xmlns:a16="http://schemas.microsoft.com/office/drawing/2014/main" id="{A5B18D01-497D-431D-840E-18133B0DA399}"/>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Persoonlijke score alleen op de eigen gsm</a:t>
            </a:r>
          </a:p>
          <a:p xmlns:a="http://schemas.openxmlformats.org/drawingml/2006/main">
            <a:pPr>
              <a:buNone/>
              <a:defRPr sz="1575">
                <a:solidFill>
                  <a:srgbClr val="17212D"/>
                </a:solidFill>
              </a:defRPr>
            </a:pPr>
            <a:r>
              <a:rPr sz="1575">
                <a:solidFill>
                  <a:srgbClr val="17212D"/>
                </a:solidFill>
              </a:rPr>
              <a:t>• Eindanalyse toont de top 3 aan de zaal</a:t>
            </a:r>
          </a:p>
          <a:p xmlns:a="http://schemas.openxmlformats.org/drawingml/2006/main">
            <a:pPr>
              <a:buNone/>
              <a:defRPr sz="1575">
                <a:solidFill>
                  <a:srgbClr val="17212D"/>
                </a:solidFill>
              </a:defRPr>
            </a:pPr>
            <a:r>
              <a:rPr sz="1575">
                <a:solidFill>
                  <a:srgbClr val="17212D"/>
                </a:solidFill>
              </a:rPr>
              <a:t>• Geen namen of openbare rangschikking</a:t>
            </a:r>
          </a:p>
        </p:txBody>
      </p:sp>
      <p:sp>
        <p:nvSpPr>
          <p:cNvPr id="5" name="takeaway-box-16">
            <a:extLst xmlns:a="http://schemas.openxmlformats.org/drawingml/2006/main">
              <a:ext uri="{FF2B5EF4-FFF2-40B4-BE49-F238E27FC236}">
                <a16:creationId xmlns:a16="http://schemas.microsoft.com/office/drawing/2014/main" id="{810ABBE7-8059-46BF-A36C-EDB06930F283}"/>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6">
            <a:extLst xmlns:a="http://schemas.openxmlformats.org/drawingml/2006/main">
              <a:ext uri="{FF2B5EF4-FFF2-40B4-BE49-F238E27FC236}">
                <a16:creationId xmlns:a16="http://schemas.microsoft.com/office/drawing/2014/main" id="{F3C1FF5A-37B9-42A7-ADB9-78A0104C910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6">
            <a:extLst xmlns:a="http://schemas.openxmlformats.org/drawingml/2006/main">
              <a:ext uri="{FF2B5EF4-FFF2-40B4-BE49-F238E27FC236}">
                <a16:creationId xmlns:a16="http://schemas.microsoft.com/office/drawing/2014/main" id="{48EA17AD-40B9-4E84-B89E-B29DCF03A8DD}"/>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Bespreek de vaakst fout beantwoorde vragen samen.</a:t>
            </a:r>
          </a:p>
        </p:txBody>
      </p:sp>
      <p:sp>
        <p:nvSpPr>
          <p:cNvPr id="8" name="frame-deelnemer-resultaat.jpg">
            <a:extLst xmlns:a="http://schemas.openxmlformats.org/drawingml/2006/main">
              <a:ext uri="{FF2B5EF4-FFF2-40B4-BE49-F238E27FC236}">
                <a16:creationId xmlns:a16="http://schemas.microsoft.com/office/drawing/2014/main" id="{2CFD8051-4936-4C99-8E51-A6E90F35B8F9}"/>
              </a:ext>
            </a:extLst>
          </p:cNvPr>
          <p:cNvSpPr>
            <a:spLocks xmlns:a="http://schemas.openxmlformats.org/drawingml/2006/main" noGrp="1"/>
          </p:cNvSpPr>
          <p:nvPr/>
        </p:nvSpPr>
        <p:spPr>
          <a:xfrm xmlns:a="http://schemas.openxmlformats.org/drawingml/2006/main">
            <a:off x="59055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6ff9459d3d64ac1"/>
          <a:stretch xmlns:a="http://schemas.openxmlformats.org/drawingml/2006/main"/>
        </p:blipFill>
        <p:spPr>
          <a:xfrm xmlns:a="http://schemas.openxmlformats.org/drawingml/2006/main">
            <a:off x="685800" y="2550403"/>
            <a:ext cx="2952750" cy="1661943"/>
          </a:xfrm>
          <a:prstGeom xmlns:a="http://schemas.openxmlformats.org/drawingml/2006/main" prst="roundRect">
            <a:avLst>
              <a:gd name="adj" fmla="val 2581"/>
            </a:avLst>
          </a:prstGeom>
        </p:spPr>
      </p:pic>
      <p:sp>
        <p:nvSpPr>
          <p:cNvPr id="10" name="frame-zaalscherm-eindanalyse.jpg">
            <a:extLst xmlns:a="http://schemas.openxmlformats.org/drawingml/2006/main">
              <a:ext uri="{FF2B5EF4-FFF2-40B4-BE49-F238E27FC236}">
                <a16:creationId xmlns:a16="http://schemas.microsoft.com/office/drawing/2014/main" id="{65E6F116-C173-49BA-B835-B134F26B2F89}"/>
              </a:ext>
            </a:extLst>
          </p:cNvPr>
          <p:cNvSpPr>
            <a:spLocks xmlns:a="http://schemas.openxmlformats.org/drawingml/2006/main" noGrp="1"/>
          </p:cNvSpPr>
          <p:nvPr/>
        </p:nvSpPr>
        <p:spPr>
          <a:xfrm xmlns:a="http://schemas.openxmlformats.org/drawingml/2006/main">
            <a:off x="392430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f2802bd387b4d61"/>
          <a:stretch xmlns:a="http://schemas.openxmlformats.org/drawingml/2006/main"/>
        </p:blipFill>
        <p:spPr>
          <a:xfrm xmlns:a="http://schemas.openxmlformats.org/drawingml/2006/main">
            <a:off x="4019550" y="2550403"/>
            <a:ext cx="2952750" cy="1661943"/>
          </a:xfrm>
          <a:prstGeom xmlns:a="http://schemas.openxmlformats.org/drawingml/2006/main" prst="roundRect">
            <a:avLst>
              <a:gd name="adj" fmla="val 2581"/>
            </a:avLst>
          </a:prstGeom>
        </p:spPr>
      </p:pic>
      <p:sp>
        <p:nvSpPr>
          <p:cNvPr id="12" name="image-caption-16">
            <a:extLst xmlns:a="http://schemas.openxmlformats.org/drawingml/2006/main">
              <a:ext uri="{FF2B5EF4-FFF2-40B4-BE49-F238E27FC236}">
                <a16:creationId xmlns:a16="http://schemas.microsoft.com/office/drawing/2014/main" id="{DBED1283-8778-41AD-9D35-1E6CF0015580}"/>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3" name="progress-16">
            <a:extLst xmlns:a="http://schemas.openxmlformats.org/drawingml/2006/main">
              <a:ext uri="{FF2B5EF4-FFF2-40B4-BE49-F238E27FC236}">
                <a16:creationId xmlns:a16="http://schemas.microsoft.com/office/drawing/2014/main" id="{BBFC30DD-6E36-4462-8FC3-381B3A727366}"/>
              </a:ext>
            </a:extLst>
          </p:cNvPr>
          <p:cNvSpPr>
            <a:spLocks xmlns:a="http://schemas.openxmlformats.org/drawingml/2006/main" noGrp="1"/>
          </p:cNvSpPr>
          <p:nvPr/>
        </p:nvSpPr>
        <p:spPr>
          <a:xfrm xmlns:a="http://schemas.openxmlformats.org/drawingml/2006/main">
            <a:off x="0" y="6800850"/>
            <a:ext cx="1147482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4" name="footer-label-16">
            <a:extLst xmlns:a="http://schemas.openxmlformats.org/drawingml/2006/main">
              <a:ext uri="{FF2B5EF4-FFF2-40B4-BE49-F238E27FC236}">
                <a16:creationId xmlns:a16="http://schemas.microsoft.com/office/drawing/2014/main" id="{59FA2736-D95F-42B2-A6A9-B2D61FAD466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5" name="footer-number-16">
            <a:extLst xmlns:a="http://schemas.openxmlformats.org/drawingml/2006/main">
              <a:ext uri="{FF2B5EF4-FFF2-40B4-BE49-F238E27FC236}">
                <a16:creationId xmlns:a16="http://schemas.microsoft.com/office/drawing/2014/main" id="{F1B24C60-A0E2-44E2-9296-7880C723FF2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16 / 17</a:t>
            </a:r>
          </a:p>
        </p:txBody>
      </p:sp>
    </p:spTree>
    <p:extLst>
      <p:ext uri="{BB962C8B-B14F-4D97-AF65-F5344CB8AC3E}">
        <p14:creationId xmlns:p14="http://schemas.microsoft.com/office/powerpoint/2010/main" val="1905879219"/>
      </p:ext>
    </p:extLst>
  </p:cSld>
</p:sld>
</file>

<file path=ppt/slides/slide1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7">
            <a:extLst xmlns:a="http://schemas.openxmlformats.org/drawingml/2006/main">
              <a:ext uri="{FF2B5EF4-FFF2-40B4-BE49-F238E27FC236}">
                <a16:creationId xmlns:a16="http://schemas.microsoft.com/office/drawing/2014/main" id="{DE587EF6-DFCA-4321-AB73-44978C4183D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NA AFLOOP · OOK ONLINE</a:t>
            </a:r>
          </a:p>
        </p:txBody>
      </p:sp>
      <p:sp>
        <p:nvSpPr>
          <p:cNvPr id="2" name="title-17">
            <a:extLst xmlns:a="http://schemas.openxmlformats.org/drawingml/2006/main">
              <a:ext uri="{FF2B5EF4-FFF2-40B4-BE49-F238E27FC236}">
                <a16:creationId xmlns:a16="http://schemas.microsoft.com/office/drawing/2014/main" id="{824CEB68-7E49-4FA1-8995-329DF118D89C}"/>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Ook online volgers kunnen tegelijk deelnemen</a:t>
            </a:r>
          </a:p>
        </p:txBody>
      </p:sp>
      <p:sp>
        <p:nvSpPr>
          <p:cNvPr id="3" name="accent-17">
            <a:extLst xmlns:a="http://schemas.openxmlformats.org/drawingml/2006/main">
              <a:ext uri="{FF2B5EF4-FFF2-40B4-BE49-F238E27FC236}">
                <a16:creationId xmlns:a16="http://schemas.microsoft.com/office/drawing/2014/main" id="{287DFA7E-F016-47D6-B32E-42471044EF32}"/>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7">
            <a:extLst xmlns:a="http://schemas.openxmlformats.org/drawingml/2006/main">
              <a:ext uri="{FF2B5EF4-FFF2-40B4-BE49-F238E27FC236}">
                <a16:creationId xmlns:a16="http://schemas.microsoft.com/office/drawing/2014/main" id="{15AFF21B-620E-412C-90C2-141C0601F4FE}"/>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groep: gsm’s blijven verbonden</a:t>
            </a:r>
          </a:p>
          <a:p xmlns:a="http://schemas.openxmlformats.org/drawingml/2006/main">
            <a:pPr>
              <a:buNone/>
              <a:defRPr sz="1575">
                <a:solidFill>
                  <a:srgbClr val="17212D"/>
                </a:solidFill>
              </a:defRPr>
            </a:pPr>
            <a:r>
              <a:rPr sz="1575">
                <a:solidFill>
                  <a:srgbClr val="17212D"/>
                </a:solidFill>
              </a:rPr>
              <a:t>• Online volgers: deel link en code via de chat</a:t>
            </a:r>
          </a:p>
          <a:p xmlns:a="http://schemas.openxmlformats.org/drawingml/2006/main">
            <a:pPr>
              <a:buNone/>
              <a:defRPr sz="1575">
                <a:solidFill>
                  <a:srgbClr val="17212D"/>
                </a:solidFill>
              </a:defRPr>
            </a:pPr>
            <a:r>
              <a:rPr sz="1575">
                <a:solidFill>
                  <a:srgbClr val="17212D"/>
                </a:solidFill>
              </a:rPr>
              <a:t>• Nieuwe dag: nieuwe sessie en nieuwe briefjes</a:t>
            </a:r>
          </a:p>
        </p:txBody>
      </p:sp>
      <p:sp>
        <p:nvSpPr>
          <p:cNvPr id="5" name="takeaway-box-17">
            <a:extLst xmlns:a="http://schemas.openxmlformats.org/drawingml/2006/main">
              <a:ext uri="{FF2B5EF4-FFF2-40B4-BE49-F238E27FC236}">
                <a16:creationId xmlns:a16="http://schemas.microsoft.com/office/drawing/2014/main" id="{7FE8CC2C-E013-4393-8F77-1BE2D877712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7">
            <a:extLst xmlns:a="http://schemas.openxmlformats.org/drawingml/2006/main">
              <a:ext uri="{FF2B5EF4-FFF2-40B4-BE49-F238E27FC236}">
                <a16:creationId xmlns:a16="http://schemas.microsoft.com/office/drawing/2014/main" id="{A8B1AD5A-5781-4F13-A972-16E031B1D9F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7">
            <a:extLst xmlns:a="http://schemas.openxmlformats.org/drawingml/2006/main">
              <a:ext uri="{FF2B5EF4-FFF2-40B4-BE49-F238E27FC236}">
                <a16:creationId xmlns:a16="http://schemas.microsoft.com/office/drawing/2014/main" id="{ABB0C22F-D600-40EC-8504-10B9C92CE7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Zaal- en online deelnemers spelen mee in dezelfde quiz en tellers.</a:t>
            </a:r>
          </a:p>
        </p:txBody>
      </p:sp>
      <p:sp>
        <p:nvSpPr>
          <p:cNvPr id="8" name="frame-quizmaster-eindanalyse.jpg">
            <a:extLst xmlns:a="http://schemas.openxmlformats.org/drawingml/2006/main">
              <a:ext uri="{FF2B5EF4-FFF2-40B4-BE49-F238E27FC236}">
                <a16:creationId xmlns:a16="http://schemas.microsoft.com/office/drawing/2014/main" id="{4574129E-C72F-4A00-908A-29A5A671094E}"/>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e91d34e3ec643c5"/>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7">
            <a:extLst xmlns:a="http://schemas.openxmlformats.org/drawingml/2006/main">
              <a:ext uri="{FF2B5EF4-FFF2-40B4-BE49-F238E27FC236}">
                <a16:creationId xmlns:a16="http://schemas.microsoft.com/office/drawing/2014/main" id="{8BEFE7E8-E7D7-4CB1-9C5D-2891758F5A54}"/>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7">
            <a:extLst xmlns:a="http://schemas.openxmlformats.org/drawingml/2006/main">
              <a:ext uri="{FF2B5EF4-FFF2-40B4-BE49-F238E27FC236}">
                <a16:creationId xmlns:a16="http://schemas.microsoft.com/office/drawing/2014/main" id="{F4D68439-3757-447E-8A44-36C64613D13B}"/>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7">
            <a:extLst xmlns:a="http://schemas.openxmlformats.org/drawingml/2006/main">
              <a:ext uri="{FF2B5EF4-FFF2-40B4-BE49-F238E27FC236}">
                <a16:creationId xmlns:a16="http://schemas.microsoft.com/office/drawing/2014/main" id="{FFC6A82E-8F6D-497A-8D7D-29AD0E68780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7">
            <a:extLst xmlns:a="http://schemas.openxmlformats.org/drawingml/2006/main">
              <a:ext uri="{FF2B5EF4-FFF2-40B4-BE49-F238E27FC236}">
                <a16:creationId xmlns:a16="http://schemas.microsoft.com/office/drawing/2014/main" id="{4B1F2F83-A568-4A0C-865A-F5D7F7EC3C7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17 / 17</a:t>
            </a:r>
          </a:p>
        </p:txBody>
      </p:sp>
    </p:spTree>
    <p:extLst>
      <p:ext uri="{BB962C8B-B14F-4D97-AF65-F5344CB8AC3E}">
        <p14:creationId xmlns:p14="http://schemas.microsoft.com/office/powerpoint/2010/main" val="852248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2026-08-10T09:24:46.3640000Z</dcterms:created>
  <dcterms:modified xsi:type="dcterms:W3CDTF">2026-08-10T09:24:46.3640000Z</dcterms:modified>
</coreProperties>
</file>