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ad4c55c386b40bc" /><Relationship Type="http://schemas.openxmlformats.org/officeDocument/2006/relationships/extended-properties" Target="/docProps/app.xml" Id="R9be5d8affebe47bb" /><Relationship Type="http://schemas.openxmlformats.org/officeDocument/2006/relationships/officeDocument" Target="/ppt/presentation.xml" Id="Rf07d075c02694e75" /></Relationships>
</file>

<file path=ppt/presentation.xml><?xml version="1.0" encoding="utf-8"?>
<p:presentation xmlns:p="http://schemas.openxmlformats.org/presentationml/2006/main">
  <p:sldMasterIdLst>
    <p:sldMasterId xmlns:r="http://schemas.openxmlformats.org/officeDocument/2006/relationships" id="2147483648" r:id="Rfe37beedebc1477e"/>
  </p:sldMasterIdLst>
  <p:notesMasterIdLst>
    <p:notesMasterId xmlns:r="http://schemas.openxmlformats.org/officeDocument/2006/relationships" r:id="R10e1aa8e8b1341a2"/>
  </p:notesMasterIdLst>
  <p:sldIdLst>
    <p:sldId xmlns:r="http://schemas.openxmlformats.org/officeDocument/2006/relationships" id="256" r:id="Rea4f0e6cf3454102"/>
    <p:sldId xmlns:r="http://schemas.openxmlformats.org/officeDocument/2006/relationships" id="257" r:id="Rc2db5ee26ddf4f4e"/>
    <p:sldId xmlns:r="http://schemas.openxmlformats.org/officeDocument/2006/relationships" id="258" r:id="Rb3b49cca6c044439"/>
    <p:sldId xmlns:r="http://schemas.openxmlformats.org/officeDocument/2006/relationships" id="259" r:id="R47225dbc65fd4f30"/>
    <p:sldId xmlns:r="http://schemas.openxmlformats.org/officeDocument/2006/relationships" id="260" r:id="R2b7f1a6daa2d4d74"/>
    <p:sldId xmlns:r="http://schemas.openxmlformats.org/officeDocument/2006/relationships" id="261" r:id="Rad5cf1f6904e41ee"/>
    <p:sldId xmlns:r="http://schemas.openxmlformats.org/officeDocument/2006/relationships" id="262" r:id="Rea2cfbe7c0d742ed"/>
    <p:sldId xmlns:r="http://schemas.openxmlformats.org/officeDocument/2006/relationships" id="263" r:id="Rf6d2e44bb9ed4f58"/>
    <p:sldId xmlns:r="http://schemas.openxmlformats.org/officeDocument/2006/relationships" id="264" r:id="Rd0df45bbd3e74836"/>
    <p:sldId xmlns:r="http://schemas.openxmlformats.org/officeDocument/2006/relationships" id="265" r:id="Ra25b368239ba4c8b"/>
    <p:sldId xmlns:r="http://schemas.openxmlformats.org/officeDocument/2006/relationships" id="266" r:id="Ra90de54ab60148eb"/>
    <p:sldId xmlns:r="http://schemas.openxmlformats.org/officeDocument/2006/relationships" id="267" r:id="R9eac2c164da0458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00b9c67eddb4e21" /><Relationship Type="http://schemas.openxmlformats.org/officeDocument/2006/relationships/slideMaster" Target="/ppt/slideMasters/slideMaster1.xml" Id="Rfe37beedebc1477e" /><Relationship Type="http://schemas.openxmlformats.org/officeDocument/2006/relationships/notesMaster" Target="/ppt/notesMasters/notesMaster1.xml" Id="R10e1aa8e8b1341a2" /><Relationship Type="http://schemas.openxmlformats.org/officeDocument/2006/relationships/presProps" Target="/ppt/presProps.xml" Id="R4dee21e053444a80" /><Relationship Type="http://schemas.openxmlformats.org/officeDocument/2006/relationships/tableStyles" Target="/ppt/tableStyles.xml" Id="Rf4a0493cdb9e47f7" /><Relationship Type="http://schemas.openxmlformats.org/officeDocument/2006/relationships/slide" Target="/ppt/slides/slide1.xml" Id="Rea4f0e6cf3454102" /><Relationship Type="http://schemas.openxmlformats.org/officeDocument/2006/relationships/slide" Target="/ppt/slides/slide2.xml" Id="Rc2db5ee26ddf4f4e" /><Relationship Type="http://schemas.openxmlformats.org/officeDocument/2006/relationships/slide" Target="/ppt/slides/slide3.xml" Id="Rb3b49cca6c044439" /><Relationship Type="http://schemas.openxmlformats.org/officeDocument/2006/relationships/slide" Target="/ppt/slides/slide4.xml" Id="R47225dbc65fd4f30" /><Relationship Type="http://schemas.openxmlformats.org/officeDocument/2006/relationships/slide" Target="/ppt/slides/slide5.xml" Id="R2b7f1a6daa2d4d74" /><Relationship Type="http://schemas.openxmlformats.org/officeDocument/2006/relationships/slide" Target="/ppt/slides/slide6.xml" Id="Rad5cf1f6904e41ee" /><Relationship Type="http://schemas.openxmlformats.org/officeDocument/2006/relationships/slide" Target="/ppt/slides/slide7.xml" Id="Rea2cfbe7c0d742ed" /><Relationship Type="http://schemas.openxmlformats.org/officeDocument/2006/relationships/slide" Target="/ppt/slides/slide8.xml" Id="Rf6d2e44bb9ed4f58" /><Relationship Type="http://schemas.openxmlformats.org/officeDocument/2006/relationships/slide" Target="/ppt/slides/slide9.xml" Id="Rd0df45bbd3e74836" /><Relationship Type="http://schemas.openxmlformats.org/officeDocument/2006/relationships/slide" Target="/ppt/slides/slide10.xml" Id="Ra25b368239ba4c8b" /><Relationship Type="http://schemas.openxmlformats.org/officeDocument/2006/relationships/slide" Target="/ppt/slides/slide11.xml" Id="Ra90de54ab60148eb" /><Relationship Type="http://schemas.openxmlformats.org/officeDocument/2006/relationships/slide" Target="/ppt/slides/slide12.xml" Id="R9eac2c164da0458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f6de15f54049c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feb6aee71af4f02" /><Relationship Type="http://schemas.openxmlformats.org/officeDocument/2006/relationships/notesMaster" Target="/ppt/notesMasters/notesMaster1.xml" Id="Reb0cdff006454f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9080741538490b" /><Relationship Type="http://schemas.openxmlformats.org/officeDocument/2006/relationships/notesMaster" Target="/ppt/notesMasters/notesMaster1.xml" Id="Ra2c7c094606e4af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539236033c94ced" /><Relationship Type="http://schemas.openxmlformats.org/officeDocument/2006/relationships/notesMaster" Target="/ppt/notesMasters/notesMaster1.xml" Id="R6ed8486e5a304965" /></Relationships>
</file>

<file path=ppt/notesSlides/_rels/notesSlide4.xml.rels>&#65279;<?xml version="1.0" encoding="utf-8"?><Relationships xmlns="http://schemas.openxmlformats.org/package/2006/relationships"><Relationship Type="http://schemas.openxmlformats.org/officeDocument/2006/relationships/slide" Target="/ppt/slides/slide4.xml" Id="R3733faaa908d49d4" /><Relationship Type="http://schemas.openxmlformats.org/officeDocument/2006/relationships/notesMaster" Target="/ppt/notesMasters/notesMaster1.xml" Id="R95396b3496e0428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907c0bd13a24b37" /><Relationship Type="http://schemas.openxmlformats.org/officeDocument/2006/relationships/notesMaster" Target="/ppt/notesMasters/notesMaster1.xml" Id="R21269b6a300c40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d9a558d6bc4507" /><Relationship Type="http://schemas.openxmlformats.org/officeDocument/2006/relationships/notesMaster" Target="/ppt/notesMasters/notesMaster1.xml" Id="R1cd46099b4f747b3"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cc195cfde24a1a" /><Relationship Type="http://schemas.openxmlformats.org/officeDocument/2006/relationships/notesMaster" Target="/ppt/notesMasters/notesMaster1.xml" Id="R9474fb01f4a249bd" /></Relationships>
</file>

<file path=ppt/notesSlides/_rels/notesSlide8.xml.rels>&#65279;<?xml version="1.0" encoding="utf-8"?><Relationships xmlns="http://schemas.openxmlformats.org/package/2006/relationships"><Relationship Type="http://schemas.openxmlformats.org/officeDocument/2006/relationships/slide" Target="/ppt/slides/slide8.xml" Id="R4c92337479f44f25" /><Relationship Type="http://schemas.openxmlformats.org/officeDocument/2006/relationships/notesMaster" Target="/ppt/notesMasters/notesMaster1.xml" Id="R7e435b1c9de54cce" /></Relationships>
</file>

<file path=ppt/notesSlides/_rels/notesSlide9.xml.rels>&#65279;<?xml version="1.0" encoding="utf-8"?><Relationships xmlns="http://schemas.openxmlformats.org/package/2006/relationships"><Relationship Type="http://schemas.openxmlformats.org/officeDocument/2006/relationships/slide" Target="/ppt/slides/slide9.xml" Id="Rf48840daab3a48ed" /><Relationship Type="http://schemas.openxmlformats.org/officeDocument/2006/relationships/notesMaster" Target="/ppt/notesMasters/notesMaster1.xml" Id="R496298d04d614c4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22842de05964089" /><Relationship Type="http://schemas.openxmlformats.org/officeDocument/2006/relationships/notesMaster" Target="/ppt/notesMasters/notesMaster1.xml" Id="R823391072494431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2746546cc1246b3" /><Relationship Type="http://schemas.openxmlformats.org/officeDocument/2006/relationships/notesMaster" Target="/ppt/notesMasters/notesMaster1.xml" Id="R16415b0a24fd42f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2c9b312d73340ee" /><Relationship Type="http://schemas.openxmlformats.org/officeDocument/2006/relationships/notesMaster" Target="/ppt/notesMasters/notesMaster1.xml" Id="Rd83818e0792c40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 — Live Diabetes Quiz</a:t>
            </a:r>
          </a:p>
          <a:p xmlns:a="http://schemas.openxmlformats.org/drawingml/2006/main">
            <a:r>
              <a:t/>
            </a:r>
          </a:p>
          <a:p xmlns:a="http://schemas.openxmlformats.org/drawingml/2006/main">
            <a:r>
              <a:t>GESCHATTE DUUR: 18 seconden</a:t>
            </a:r>
          </a:p>
          <a:p xmlns:a="http://schemas.openxmlformats.org/drawingml/2006/main">
            <a:r>
              <a:t/>
            </a:r>
          </a:p>
          <a:p xmlns:a="http://schemas.openxmlformats.org/drawingml/2006/main">
            <a:r>
              <a:t>VOICE-OVER:</a:t>
            </a:r>
          </a:p>
          <a:p xmlns:a="http://schemas.openxmlformats.org/drawingml/2006/main">
            <a:r>
              <a:t>Welkom bij de Live Diabetes Quiz. In ongeveer vijf minuten ziet u rustig hoe u een quiz voorbereidt, hoe deelnemers antwoorden en hoe u afsluit met de eindanalyse. We gebruiken daarbij dezelfde schermen en knoppen als tijdens een echte quiz.</a:t>
            </a:r>
          </a:p>
          <a:p xmlns:a="http://schemas.openxmlformats.org/drawingml/2006/main">
            <a:r>
              <a:t/>
            </a:r>
          </a:p>
          <a:p xmlns:a="http://schemas.openxmlformats.org/drawingml/2006/main">
            <a:r>
              <a:t>CANVA-AANWIJZING:</a:t>
            </a:r>
          </a:p>
          <a:p xmlns:a="http://schemas.openxmlformats.org/drawingml/2006/main">
            <a:r>
              <a:t>Laat eerst het logo verschijnen. Daarna komen titel en ondertitel rustig in beeld.</a:t>
            </a:r>
          </a:p>
          <a:p xmlns:a="http://schemas.openxmlformats.org/drawingml/2006/main">
            <a:r>
              <a:t/>
            </a:r>
          </a:p>
          <a:p xmlns:a="http://schemas.openxmlformats.org/drawingml/2006/main">
            <a:r>
              <a:t>[Sources]</a:t>
            </a:r>
          </a:p>
          <a:p xmlns:a="http://schemas.openxmlformats.org/drawingml/2006/main">
            <a:r>
              <a:t>- Eigen projectafbeelding: C:/Users/fredd/Documents/Live quiz/docs/assets/logo-diabetes-liga-midden-limburg.png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2 — Drie schermen vormen samen één quiz</a:t>
            </a:r>
          </a:p>
          <a:p xmlns:a="http://schemas.openxmlformats.org/drawingml/2006/main">
            <a:r>
              <a:t/>
            </a:r>
          </a:p>
          <a:p xmlns:a="http://schemas.openxmlformats.org/drawingml/2006/main">
            <a:r>
              <a:t>GESCHATTE DUUR: 30 seconden</a:t>
            </a:r>
          </a:p>
          <a:p xmlns:a="http://schemas.openxmlformats.org/drawingml/2006/main">
            <a:r>
              <a:t/>
            </a:r>
          </a:p>
          <a:p xmlns:a="http://schemas.openxmlformats.org/drawingml/2006/main">
            <a:r>
              <a:t>VOICE-OVER:</a:t>
            </a:r>
          </a:p>
          <a:p xmlns:a="http://schemas.openxmlformats.org/drawingml/2006/main">
            <a:r>
              <a:t>De quiz gebruikt drie schermen: de laptop van de quizmaster, de gsm van iedere deelnemer en het grote zaalscherm. Onderaan het zaalscherm staan twee tellers. Zijn er bijvoorbeeld dertig deelnemers verbonden en zijn ook dertig antwoorden ontvangen, dan weet de quizmaster dat iedereen heeft geantwoord en kan de quiz verdergaan.</a:t>
            </a:r>
          </a:p>
          <a:p xmlns:a="http://schemas.openxmlformats.org/drawingml/2006/main">
            <a:r>
              <a:t/>
            </a:r>
          </a:p>
          <a:p xmlns:a="http://schemas.openxmlformats.org/drawingml/2006/main">
            <a:r>
              <a:t>CANVA-AANWIJZING:</a:t>
            </a:r>
          </a:p>
          <a:p xmlns:a="http://schemas.openxmlformats.org/drawingml/2006/main">
            <a:r>
              <a:t>Toon achtereenvolgens de drie regels links. Zoom daarna kort in op de twee aantallen onderaan het zaalscherm.</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quiz/docs/assets/handleiding/zaalscherm-vraag.jpg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3 — Begin met een passend aantal vragen</a:t>
            </a:r>
          </a:p>
          <a:p xmlns:a="http://schemas.openxmlformats.org/drawingml/2006/main">
            <a:r>
              <a:t/>
            </a:r>
          </a:p>
          <a:p xmlns:a="http://schemas.openxmlformats.org/drawingml/2006/main">
            <a:r>
              <a:t>GESCHATTE DUUR: 25 seconden</a:t>
            </a:r>
          </a:p>
          <a:p xmlns:a="http://schemas.openxmlformats.org/drawingml/2006/main">
            <a:r>
              <a:t/>
            </a:r>
          </a:p>
          <a:p xmlns:a="http://schemas.openxmlformats.org/drawingml/2006/main">
            <a:r>
              <a:t>VOICE-OVER:</a:t>
            </a:r>
          </a:p>
          <a:p xmlns:a="http://schemas.openxmlformats.org/drawingml/2006/main">
            <a:r>
              <a:t>Kies op de startpagina Nieuwe quiz starten en bepaal het aantal vragen. Vijf vragen is bijvoorbeeld geschikt voor een korte demonstratie met bestuursleden. Tien vragen is aanbevolen voor een gewone activiteit en twintig is het aanbevolen maximum. Klik daarna op Nieuwe quizsessie maken.</a:t>
            </a:r>
          </a:p>
          <a:p xmlns:a="http://schemas.openxmlformats.org/drawingml/2006/main">
            <a:r>
              <a:t/>
            </a:r>
          </a:p>
          <a:p xmlns:a="http://schemas.openxmlformats.org/drawingml/2006/main">
            <a:r>
              <a:t>CANVA-AANWIJZING:</a:t>
            </a:r>
          </a:p>
          <a:p xmlns:a="http://schemas.openxmlformats.org/drawingml/2006/main">
            <a:r>
              <a:t>Markeer eerst de keuzelijst en daarna de knop Nieuwe quizsessie maken.</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quiz/docs/assets/handleiding/quizmaster-voorbereiden.jpg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4 — Eén sessie maakt de zaal klaar</a:t>
            </a:r>
          </a:p>
          <a:p xmlns:a="http://schemas.openxmlformats.org/drawingml/2006/main">
            <a:r>
              <a:t/>
            </a:r>
          </a:p>
          <a:p xmlns:a="http://schemas.openxmlformats.org/drawingml/2006/main">
            <a:r>
              <a:t>GESCHATTE DUUR: 25 seconden</a:t>
            </a:r>
          </a:p>
          <a:p xmlns:a="http://schemas.openxmlformats.org/drawingml/2006/main">
            <a:r>
              <a:t/>
            </a:r>
          </a:p>
          <a:p xmlns:a="http://schemas.openxmlformats.org/drawingml/2006/main">
            <a:r>
              <a:t>VOICE-OVER:</a:t>
            </a:r>
          </a:p>
          <a:p xmlns:a="http://schemas.openxmlformats.org/drawingml/2006/main">
            <a:r>
              <a:t>Daarna verschijnt de driecijferige quizcode. Met Open groot zaalscherm opent u het beeld voor de beamer of grote televisie. Met Deelnemersbriefjes afdrukken maakt u twee briefjes per A4. De QR-code op de laptop is alleen ter controle; deelnemers gebruiken hun afgedrukte briefje.</a:t>
            </a:r>
          </a:p>
          <a:p xmlns:a="http://schemas.openxmlformats.org/drawingml/2006/main">
            <a:r>
              <a:t/>
            </a:r>
          </a:p>
          <a:p xmlns:a="http://schemas.openxmlformats.org/drawingml/2006/main">
            <a:r>
              <a:t>CANVA-AANWIJZING:</a:t>
            </a:r>
          </a:p>
          <a:p xmlns:a="http://schemas.openxmlformats.org/drawingml/2006/main">
            <a:r>
              <a:t>Laat eerst de code oplichten, daarna de knop voor het zaalscherm en ten slotte de afdrukknop.</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quiz/docs/assets/handleiding/quizmaster-wachtkamer.jpg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5 — Het briefje wijst iedere deelnemer de weg</a:t>
            </a:r>
          </a:p>
          <a:p xmlns:a="http://schemas.openxmlformats.org/drawingml/2006/main">
            <a:r>
              <a:t/>
            </a:r>
          </a:p>
          <a:p xmlns:a="http://schemas.openxmlformats.org/drawingml/2006/main">
            <a:r>
              <a:t>GESCHATTE DUUR: 30 seconden</a:t>
            </a:r>
          </a:p>
          <a:p xmlns:a="http://schemas.openxmlformats.org/drawingml/2006/main">
            <a:r>
              <a:t/>
            </a:r>
          </a:p>
          <a:p xmlns:a="http://schemas.openxmlformats.org/drawingml/2006/main">
            <a:r>
              <a:t>VOICE-OVER:</a:t>
            </a:r>
          </a:p>
          <a:p xmlns:a="http://schemas.openxmlformats.org/drawingml/2006/main">
            <a:r>
              <a:t>Geef iedere deelnemer bij het binnenkomen een briefje. Mobiele data is meestal het eenvoudigst. Wie de zaalwifi wil gebruiken, scant eerst de wifi-QR-code en daarna de quiz-QR-code. Lukt scannen bijvoorbeeld op een oudere gsm niet, dan typt men de vermelde link in de browser en vult men de quizcode van het briefje in.</a:t>
            </a:r>
          </a:p>
          <a:p xmlns:a="http://schemas.openxmlformats.org/drawingml/2006/main">
            <a:r>
              <a:t/>
            </a:r>
          </a:p>
          <a:p xmlns:a="http://schemas.openxmlformats.org/drawingml/2006/main">
            <a:r>
              <a:t>CANVA-AANWIJZING:</a:t>
            </a:r>
          </a:p>
          <a:p xmlns:a="http://schemas.openxmlformats.org/drawingml/2006/main">
            <a:r>
              <a:t>Volg het briefje van boven naar beneden: internet, wifi, quiz-QR, link en quizcode.</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quiz/docs/assets/handleiding/deelnemersbriefje.jpg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6 — Na het verbinden hoeft men alleen te wachten</a:t>
            </a:r>
          </a:p>
          <a:p xmlns:a="http://schemas.openxmlformats.org/drawingml/2006/main">
            <a:r>
              <a:t/>
            </a:r>
          </a:p>
          <a:p xmlns:a="http://schemas.openxmlformats.org/drawingml/2006/main">
            <a:r>
              <a:t>GESCHATTE DUUR: 20 seconden</a:t>
            </a:r>
          </a:p>
          <a:p xmlns:a="http://schemas.openxmlformats.org/drawingml/2006/main">
            <a:r>
              <a:t/>
            </a:r>
          </a:p>
          <a:p xmlns:a="http://schemas.openxmlformats.org/drawingml/2006/main">
            <a:r>
              <a:t>VOICE-OVER:</a:t>
            </a:r>
          </a:p>
          <a:p xmlns:a="http://schemas.openxmlformats.org/drawingml/2006/main">
            <a:r>
              <a:t>Na het verbinden ziet de deelnemer de Wachtkamer en de melding U bent verbonden. Laat deze pagina gewoon openstaan. Zodra de quizmaster start, verschijnt de eerste vraag automatisch. Vernieuwen of een naam invullen is niet nodig.</a:t>
            </a:r>
          </a:p>
          <a:p xmlns:a="http://schemas.openxmlformats.org/drawingml/2006/main">
            <a:r>
              <a:t/>
            </a:r>
          </a:p>
          <a:p xmlns:a="http://schemas.openxmlformats.org/drawingml/2006/main">
            <a:r>
              <a:t>CANVA-AANWIJZING:</a:t>
            </a:r>
          </a:p>
          <a:p xmlns:a="http://schemas.openxmlformats.org/drawingml/2006/main">
            <a:r>
              <a:t>Zoom rustig in op U bent verbonden en daarna op Laat deze pagina open.</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quiz/docs/assets/handleiding/deelnemer-wachtkamer.jpg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7 — Iedere deelnemer kiest één antwoord</a:t>
            </a:r>
          </a:p>
          <a:p xmlns:a="http://schemas.openxmlformats.org/drawingml/2006/main">
            <a:r>
              <a:t/>
            </a:r>
          </a:p>
          <a:p xmlns:a="http://schemas.openxmlformats.org/drawingml/2006/main">
            <a:r>
              <a:t>GESCHATTE DUUR: 25 seconden</a:t>
            </a:r>
          </a:p>
          <a:p xmlns:a="http://schemas.openxmlformats.org/drawingml/2006/main">
            <a:r>
              <a:t/>
            </a:r>
          </a:p>
          <a:p xmlns:a="http://schemas.openxmlformats.org/drawingml/2006/main">
            <a:r>
              <a:t>VOICE-OVER:</a:t>
            </a:r>
          </a:p>
          <a:p xmlns:a="http://schemas.openxmlformats.org/drawingml/2006/main">
            <a:r>
              <a:t>De deelnemer ziet één vraag met vier grote knoppen. Denkt iemand bijvoorbeeld dat B juist is, dan tikt die persoon één keer op B. Het antwoord wordt anoniem bewaard en er verschijnt een bevestiging. Per vraag telt maar één antwoord; daarna wacht de deelnemer rustig.</a:t>
            </a:r>
          </a:p>
          <a:p xmlns:a="http://schemas.openxmlformats.org/drawingml/2006/main">
            <a:r>
              <a:t/>
            </a:r>
          </a:p>
          <a:p xmlns:a="http://schemas.openxmlformats.org/drawingml/2006/main">
            <a:r>
              <a:t>CANVA-AANWIJZING:</a:t>
            </a:r>
          </a:p>
          <a:p xmlns:a="http://schemas.openxmlformats.org/drawingml/2006/main">
            <a:r>
              <a:t>Laat de vraag verschijnen en markeer daarna één antwoordknop als voorbeeld, zonder een echte keuze voor te schrijven.</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quiz/docs/assets/handleiding/deelnemer-vraag.jpg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8 — De quizmaster houdt het overzicht</a:t>
            </a:r>
          </a:p>
          <a:p xmlns:a="http://schemas.openxmlformats.org/drawingml/2006/main">
            <a:r>
              <a:t/>
            </a:r>
          </a:p>
          <a:p xmlns:a="http://schemas.openxmlformats.org/drawingml/2006/main">
            <a:r>
              <a:t>GESCHATTE DUUR: 30 seconden</a:t>
            </a:r>
          </a:p>
          <a:p xmlns:a="http://schemas.openxmlformats.org/drawingml/2006/main">
            <a:r>
              <a:t/>
            </a:r>
          </a:p>
          <a:p xmlns:a="http://schemas.openxmlformats.org/drawingml/2006/main">
            <a:r>
              <a:t>VOICE-OVER:</a:t>
            </a:r>
          </a:p>
          <a:p xmlns:a="http://schemas.openxmlformats.org/drawingml/2006/main">
            <a:r>
              <a:t>De quizmaster ziet dezelfde vraag met extra bediening en de twee tellers. Zijn er dertig deelnemers verbonden maar pas achtentwintig antwoorden ontvangen, wacht dan nog even. Bij dertig antwoorden is iedereen klaar en kunt u de antwoorden sluiten. De juiste oplossing verschijnt pas in de zaal wanneer u daarvoor kiest.</a:t>
            </a:r>
          </a:p>
          <a:p xmlns:a="http://schemas.openxmlformats.org/drawingml/2006/main">
            <a:r>
              <a:t/>
            </a:r>
          </a:p>
          <a:p xmlns:a="http://schemas.openxmlformats.org/drawingml/2006/main">
            <a:r>
              <a:t>CANVA-AANWIJZING:</a:t>
            </a:r>
          </a:p>
          <a:p xmlns:a="http://schemas.openxmlformats.org/drawingml/2006/main">
            <a:r>
              <a:t>Markeer eerst de twee aantallen, daarna Sluit antwoorden en ten slotte de aanduiding van het juiste antwoord.</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quiz/docs/assets/handleiding/quizmaster-vraag-open.jpg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9 — Toon de oplossing en bespreek ze kort</a:t>
            </a:r>
          </a:p>
          <a:p xmlns:a="http://schemas.openxmlformats.org/drawingml/2006/main">
            <a:r>
              <a:t/>
            </a:r>
          </a:p>
          <a:p xmlns:a="http://schemas.openxmlformats.org/drawingml/2006/main">
            <a:r>
              <a:t>GESCHATTE DUUR: 30 seconden</a:t>
            </a:r>
          </a:p>
          <a:p xmlns:a="http://schemas.openxmlformats.org/drawingml/2006/main">
            <a:r>
              <a:t/>
            </a:r>
          </a:p>
          <a:p xmlns:a="http://schemas.openxmlformats.org/drawingml/2006/main">
            <a:r>
              <a:t>VOICE-OVER:</a:t>
            </a:r>
          </a:p>
          <a:p xmlns:a="http://schemas.openxmlformats.org/drawingml/2006/main">
            <a:r>
              <a:t>Klik op Toon juiste antwoord. De oplossing en de verdeling verschijnen op alle schermen. Bij dertig deelnemers kan bijvoorbeeld tweeëntwintig bij B, vijf bij A, twee bij C en één bij D staan: samen dertig. Licht het antwoord kort toe en kies daarna Volgende vraag.</a:t>
            </a:r>
          </a:p>
          <a:p xmlns:a="http://schemas.openxmlformats.org/drawingml/2006/main">
            <a:r>
              <a:t/>
            </a:r>
          </a:p>
          <a:p xmlns:a="http://schemas.openxmlformats.org/drawingml/2006/main">
            <a:r>
              <a:t>CANVA-AANWIJZING:</a:t>
            </a:r>
          </a:p>
          <a:p xmlns:a="http://schemas.openxmlformats.org/drawingml/2006/main">
            <a:r>
              <a:t>Laat de groene oplossing oplichten, toon kort de antwoordverdeling en eindig bij Volgende vraag.</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quiz/docs/assets/handleiding/quizmaster-oplossing.jpg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10 — Iedere deelnemer krijgt een persoonlijk resultaat</a:t>
            </a:r>
          </a:p>
          <a:p xmlns:a="http://schemas.openxmlformats.org/drawingml/2006/main">
            <a:r>
              <a:t/>
            </a:r>
          </a:p>
          <a:p xmlns:a="http://schemas.openxmlformats.org/drawingml/2006/main">
            <a:r>
              <a:t>GESCHATTE DUUR: 22 seconden</a:t>
            </a:r>
          </a:p>
          <a:p xmlns:a="http://schemas.openxmlformats.org/drawingml/2006/main">
            <a:r>
              <a:t/>
            </a:r>
          </a:p>
          <a:p xmlns:a="http://schemas.openxmlformats.org/drawingml/2006/main">
            <a:r>
              <a:t>VOICE-OVER:</a:t>
            </a:r>
          </a:p>
          <a:p xmlns:a="http://schemas.openxmlformats.org/drawingml/2006/main">
            <a:r>
              <a:t>Na de laatste vraag ziet iedere deelnemer alleen op de eigen gsm het persoonlijke resultaat. Acht op tien betekent bijvoorbeeld acht juiste en twee foute antwoorden. Er is geen publieke rangschikking en niemand anders ziet deze score. Daarna mag het scherm worden gesloten.</a:t>
            </a:r>
          </a:p>
          <a:p xmlns:a="http://schemas.openxmlformats.org/drawingml/2006/main">
            <a:r>
              <a:t/>
            </a:r>
          </a:p>
          <a:p xmlns:a="http://schemas.openxmlformats.org/drawingml/2006/main">
            <a:r>
              <a:t>CANVA-AANWIJZING:</a:t>
            </a:r>
          </a:p>
          <a:p xmlns:a="http://schemas.openxmlformats.org/drawingml/2006/main">
            <a:r>
              <a:t>Zoom eerst in op de score en daarna langzaam op één voorbeeld van een fout antwoord.</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quiz/docs/assets/handleiding/deelnemer-resultaat.jpg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11 — De zaal sluit af met drie leerpunten</a:t>
            </a:r>
          </a:p>
          <a:p xmlns:a="http://schemas.openxmlformats.org/drawingml/2006/main">
            <a:r>
              <a:t/>
            </a:r>
          </a:p>
          <a:p xmlns:a="http://schemas.openxmlformats.org/drawingml/2006/main">
            <a:r>
              <a:t>GESCHATTE DUUR: 25 seconden</a:t>
            </a:r>
          </a:p>
          <a:p xmlns:a="http://schemas.openxmlformats.org/drawingml/2006/main">
            <a:r>
              <a:t/>
            </a:r>
          </a:p>
          <a:p xmlns:a="http://schemas.openxmlformats.org/drawingml/2006/main">
            <a:r>
              <a:t>VOICE-OVER:</a:t>
            </a:r>
          </a:p>
          <a:p xmlns:a="http://schemas.openxmlformats.org/drawingml/2006/main">
            <a:r>
              <a:t>De gezamenlijke eindanalyse toont de drie vaakst fout beantwoorde vragen met hun juiste antwoord. Was een vraag bijvoorbeeld fout bij achttien van de dertig deelnemers, dan komt die waarschijnlijk in de top drie. Herhaal deze leerpunten kort. Persoonlijke scores verschijnen nooit op het zaalscherm.</a:t>
            </a:r>
          </a:p>
          <a:p xmlns:a="http://schemas.openxmlformats.org/drawingml/2006/main">
            <a:r>
              <a:t/>
            </a:r>
          </a:p>
          <a:p xmlns:a="http://schemas.openxmlformats.org/drawingml/2006/main">
            <a:r>
              <a:t>CANVA-AANWIJZING:</a:t>
            </a:r>
          </a:p>
          <a:p xmlns:a="http://schemas.openxmlformats.org/drawingml/2006/main">
            <a:r>
              <a:t>Laat de titel Eindanalyse verschijnen en toon daarna de nummers één, twee en drie na elkaar.</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quiz/docs/assets/handleiding/zaalscherm-eindanalyse.jpg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12 — Afronden of opnieuw beginnen</a:t>
            </a:r>
          </a:p>
          <a:p xmlns:a="http://schemas.openxmlformats.org/drawingml/2006/main">
            <a:r>
              <a:t/>
            </a:r>
          </a:p>
          <a:p xmlns:a="http://schemas.openxmlformats.org/drawingml/2006/main">
            <a:r>
              <a:t>GESCHATTE DUUR: 25 seconden</a:t>
            </a:r>
          </a:p>
          <a:p xmlns:a="http://schemas.openxmlformats.org/drawingml/2006/main">
            <a:r>
              <a:t/>
            </a:r>
          </a:p>
          <a:p xmlns:a="http://schemas.openxmlformats.org/drawingml/2006/main">
            <a:r>
              <a:t>VOICE-OVER:</a:t>
            </a:r>
          </a:p>
          <a:p xmlns:a="http://schemas.openxmlformats.org/drawingml/2006/main">
            <a:r>
              <a:t>De quizmaster ziet op de laptop de groepsanalyse. Voor een nieuwe quiz kiest u Nieuwe sessie voorbereiden en opnieuw het aantal vragen. De gsm’s en het zaalscherm volgen automatisch. Oefen vooraf bijvoorbeeld met vijf vragen en enkele bestuursleden. De volledige handleiding blijft altijd beschikbaar.</a:t>
            </a:r>
          </a:p>
          <a:p xmlns:a="http://schemas.openxmlformats.org/drawingml/2006/main">
            <a:r>
              <a:t/>
            </a:r>
          </a:p>
          <a:p xmlns:a="http://schemas.openxmlformats.org/drawingml/2006/main">
            <a:r>
              <a:t>CANVA-AANWIJZING:</a:t>
            </a:r>
          </a:p>
          <a:p xmlns:a="http://schemas.openxmlformats.org/drawingml/2006/main">
            <a:r>
              <a:t>Toon kort de analyse en eindig met een rustige markering rond Nieuwe sessie voorbereiden.</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quiz/docs/assets/handleiding/quizmaster-eindanalyse.jpg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6b7e203a96c4e0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cdf5df52802404e" /><Relationship Type="http://schemas.openxmlformats.org/officeDocument/2006/relationships/slideLayout" Target="/ppt/slideLayouts/slideLayout1.xml" Id="R5283625a462b48d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83625a462b48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1bf8e49ad964688" /><Relationship Type="http://schemas.openxmlformats.org/officeDocument/2006/relationships/image" Target="/ppt/media/image.png" Id="R49c14c1bfbb64014" /><Relationship Type="http://schemas.openxmlformats.org/officeDocument/2006/relationships/notesSlide" Target="/ppt/notesSlides/notesSlide1.xml" Id="Re1573a161fc0497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733142977b84a01" /><Relationship Type="http://schemas.openxmlformats.org/officeDocument/2006/relationships/image" Target="/ppt/media/image.jpeg" Id="R03ad837264a54bc4" /><Relationship Type="http://schemas.openxmlformats.org/officeDocument/2006/relationships/notesSlide" Target="/ppt/notesSlides/notesSlide2.xml" Id="R4a862ddb1f404d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e193a0c54a64b15" /><Relationship Type="http://schemas.openxmlformats.org/officeDocument/2006/relationships/image" Target="/ppt/media/image2.jpeg" Id="Rd7de51a221024523" /><Relationship Type="http://schemas.openxmlformats.org/officeDocument/2006/relationships/notesSlide" Target="/ppt/notesSlides/notesSlide3.xml" Id="Ref9c846ad821433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0085a10872c4a62" /><Relationship Type="http://schemas.openxmlformats.org/officeDocument/2006/relationships/image" Target="/ppt/media/image3.jpeg" Id="R0ed5989493f64a96" /><Relationship Type="http://schemas.openxmlformats.org/officeDocument/2006/relationships/notesSlide" Target="/ppt/notesSlides/notesSlide4.xml" Id="Rfc5f6cf5cef94b9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912fdb3176e40f8" /><Relationship Type="http://schemas.openxmlformats.org/officeDocument/2006/relationships/image" Target="/ppt/media/image4.jpeg" Id="R4534e4a325bc41fc" /><Relationship Type="http://schemas.openxmlformats.org/officeDocument/2006/relationships/notesSlide" Target="/ppt/notesSlides/notesSlide5.xml" Id="R8bc4fdd3a946411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6386454a7584084" /><Relationship Type="http://schemas.openxmlformats.org/officeDocument/2006/relationships/image" Target="/ppt/media/image5.jpeg" Id="R88c643d6d03c4a28" /><Relationship Type="http://schemas.openxmlformats.org/officeDocument/2006/relationships/notesSlide" Target="/ppt/notesSlides/notesSlide6.xml" Id="Re0274d5a436d4bb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7c348f12119490a" /><Relationship Type="http://schemas.openxmlformats.org/officeDocument/2006/relationships/image" Target="/ppt/media/image6.jpeg" Id="R3abc63ad042a48cf" /><Relationship Type="http://schemas.openxmlformats.org/officeDocument/2006/relationships/notesSlide" Target="/ppt/notesSlides/notesSlide7.xml" Id="Rbb3ce703c51340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8107b6fac784a7e" /><Relationship Type="http://schemas.openxmlformats.org/officeDocument/2006/relationships/image" Target="/ppt/media/image7.jpeg" Id="Rf6b9606eb8414066" /><Relationship Type="http://schemas.openxmlformats.org/officeDocument/2006/relationships/notesSlide" Target="/ppt/notesSlides/notesSlide8.xml" Id="Rae1203642556446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836ad1c777d44d7" /><Relationship Type="http://schemas.openxmlformats.org/officeDocument/2006/relationships/image" Target="/ppt/media/image8.jpeg" Id="R055831e8c7c44c5a" /><Relationship Type="http://schemas.openxmlformats.org/officeDocument/2006/relationships/notesSlide" Target="/ppt/notesSlides/notesSlide9.xml" Id="Rdea2419820a842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e5c6daf909f4f3c" /><Relationship Type="http://schemas.openxmlformats.org/officeDocument/2006/relationships/image" Target="/ppt/media/image9.jpeg" Id="Re91756e5c5f44942" /><Relationship Type="http://schemas.openxmlformats.org/officeDocument/2006/relationships/notesSlide" Target="/ppt/notesSlides/notesSlide10.xml" Id="R29cf592991704e7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722b1c1aa954a61" /><Relationship Type="http://schemas.openxmlformats.org/officeDocument/2006/relationships/image" Target="/ppt/media/image10.jpeg" Id="Reb03f6525feb4ad5" /><Relationship Type="http://schemas.openxmlformats.org/officeDocument/2006/relationships/notesSlide" Target="/ppt/notesSlides/notesSlide11.xml" Id="R6976ad16411641e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9bb82ae58e047ec" /><Relationship Type="http://schemas.openxmlformats.org/officeDocument/2006/relationships/image" Target="/ppt/media/image11.jpeg" Id="Rc7634f51851c4016" /><Relationship Type="http://schemas.openxmlformats.org/officeDocument/2006/relationships/notesSlide" Target="/ppt/notesSlides/notesSlide12.xml" Id="R8082169b97f041da" /></Relationships>
</file>

<file path=ppt/slides/slide1.xml><?xml version="1.0" encoding="utf-8"?>
<p:sld xmlns:p="http://schemas.openxmlformats.org/presentationml/2006/main">
  <p:cSld>
    <p:bg>
      <p:bgPr>
        <a:solidFill xmlns:a="http://schemas.openxmlformats.org/drawingml/2006/main">
          <a:srgbClr val="064B70"/>
        </a:solidFill>
      </p:bgPr>
    </p:bg>
    <p:spTree>
      <p:nvGrpSpPr>
        <p:cNvPr id="1" name=""/>
        <p:cNvGrpSpPr/>
        <p:nvPr/>
      </p:nvGrpSpPr>
      <p:grpSpPr>
        <a:xfrm xmlns:a="http://schemas.openxmlformats.org/drawingml/2006/main"/>
      </p:grpSpPr>
      <p:sp>
        <p:nvSpPr>
          <p:cNvPr id="10" name="logo-surface">
            <a:extLst xmlns:a="http://schemas.openxmlformats.org/drawingml/2006/main">
              <a:ext uri="{FF2B5EF4-FFF2-40B4-BE49-F238E27FC236}">
                <a16:creationId xmlns:a16="http://schemas.microsoft.com/office/drawing/2014/main" id="{D535F499-995C-4DC9-8C04-9C1B85AD1F40}"/>
              </a:ext>
            </a:extLst>
          </p:cNvPr>
          <p:cNvSpPr>
            <a:spLocks xmlns:a="http://schemas.openxmlformats.org/drawingml/2006/main" noGrp="1"/>
          </p:cNvSpPr>
          <p:nvPr/>
        </p:nvSpPr>
        <p:spPr>
          <a:xfrm xmlns:a="http://schemas.openxmlformats.org/drawingml/2006/main">
            <a:off x="685800" y="609600"/>
            <a:ext cx="1066800" cy="10668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49c14c1bfbb64014"/>
          <a:stretch xmlns:a="http://schemas.openxmlformats.org/drawingml/2006/main"/>
        </p:blipFill>
        <p:spPr>
          <a:xfrm xmlns:a="http://schemas.openxmlformats.org/drawingml/2006/main">
            <a:off x="819150" y="742950"/>
            <a:ext cx="800100" cy="800100"/>
          </a:xfrm>
          <a:prstGeom xmlns:a="http://schemas.openxmlformats.org/drawingml/2006/main" prst="rect">
            <a:avLst/>
          </a:prstGeom>
        </p:spPr>
      </p:pic>
      <p:sp>
        <p:nvSpPr>
          <p:cNvPr id="3" name="title-kicker">
            <a:extLst xmlns:a="http://schemas.openxmlformats.org/drawingml/2006/main">
              <a:ext uri="{FF2B5EF4-FFF2-40B4-BE49-F238E27FC236}">
                <a16:creationId xmlns:a16="http://schemas.microsoft.com/office/drawing/2014/main" id="{1294EDF1-D2B2-4668-A885-E2754F05F627}"/>
              </a:ext>
            </a:extLst>
          </p:cNvPr>
          <p:cNvSpPr>
            <a:spLocks xmlns:a="http://schemas.openxmlformats.org/drawingml/2006/main" noGrp="1"/>
          </p:cNvSpPr>
          <p:nvPr/>
        </p:nvSpPr>
        <p:spPr>
          <a:xfrm xmlns:a="http://schemas.openxmlformats.org/drawingml/2006/main">
            <a:off x="685800" y="21907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BDEFFF"/>
                </a:solidFill>
              </a:defRPr>
            </a:pPr>
            <a:r>
              <a:rPr sz="1200" b="1">
                <a:solidFill>
                  <a:srgbClr val="BDEFFF"/>
                </a:solidFill>
              </a:rPr>
              <a:t>VIDEOHANDLEIDING</a:t>
            </a:r>
          </a:p>
        </p:txBody>
      </p:sp>
      <p:sp>
        <p:nvSpPr>
          <p:cNvPr id="4" name="deck-title">
            <a:extLst xmlns:a="http://schemas.openxmlformats.org/drawingml/2006/main">
              <a:ext uri="{FF2B5EF4-FFF2-40B4-BE49-F238E27FC236}">
                <a16:creationId xmlns:a16="http://schemas.microsoft.com/office/drawing/2014/main" id="{EFDB4DC2-2942-46E2-9A3E-9A697168081C}"/>
              </a:ext>
            </a:extLst>
          </p:cNvPr>
          <p:cNvSpPr>
            <a:spLocks xmlns:a="http://schemas.openxmlformats.org/drawingml/2006/main" noGrp="1"/>
          </p:cNvSpPr>
          <p:nvPr/>
        </p:nvSpPr>
        <p:spPr>
          <a:xfrm xmlns:a="http://schemas.openxmlformats.org/drawingml/2006/main">
            <a:off x="685800" y="2647950"/>
            <a:ext cx="8382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800" b="1">
                <a:solidFill>
                  <a:srgbClr val="FFFFFF"/>
                </a:solidFill>
              </a:defRPr>
            </a:pPr>
            <a:r>
              <a:rPr sz="4800" b="1">
                <a:solidFill>
                  <a:srgbClr val="FFFFFF"/>
                </a:solidFill>
              </a:rPr>
              <a:t>Live Diabetes Quiz</a:t>
            </a:r>
          </a:p>
        </p:txBody>
      </p:sp>
      <p:sp>
        <p:nvSpPr>
          <p:cNvPr id="5" name="deck-subtitle">
            <a:extLst xmlns:a="http://schemas.openxmlformats.org/drawingml/2006/main">
              <a:ext uri="{FF2B5EF4-FFF2-40B4-BE49-F238E27FC236}">
                <a16:creationId xmlns:a16="http://schemas.microsoft.com/office/drawing/2014/main" id="{E40F9FF5-C31F-466C-BC70-56FE1AADD946}"/>
              </a:ext>
            </a:extLst>
          </p:cNvPr>
          <p:cNvSpPr>
            <a:spLocks xmlns:a="http://schemas.openxmlformats.org/drawingml/2006/main" noGrp="1"/>
          </p:cNvSpPr>
          <p:nvPr/>
        </p:nvSpPr>
        <p:spPr>
          <a:xfrm xmlns:a="http://schemas.openxmlformats.org/drawingml/2006/main">
            <a:off x="685800" y="3638550"/>
            <a:ext cx="857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a:solidFill>
                  <a:srgbClr val="E5F8FF"/>
                </a:solidFill>
              </a:defRPr>
            </a:pPr>
            <a:r>
              <a:rPr sz="2100">
                <a:solidFill>
                  <a:srgbClr val="E5F8FF"/>
                </a:solidFill>
              </a:rPr>
              <a:t>Rustig stap voor stap door een volledige zaalquiz</a:t>
            </a:r>
          </a:p>
        </p:txBody>
      </p:sp>
      <p:sp>
        <p:nvSpPr>
          <p:cNvPr id="6" name="title-takeaway">
            <a:extLst xmlns:a="http://schemas.openxmlformats.org/drawingml/2006/main">
              <a:ext uri="{FF2B5EF4-FFF2-40B4-BE49-F238E27FC236}">
                <a16:creationId xmlns:a16="http://schemas.microsoft.com/office/drawing/2014/main" id="{97B2B7D3-60D4-4635-9784-AFE334586FC5}"/>
              </a:ext>
            </a:extLst>
          </p:cNvPr>
          <p:cNvSpPr>
            <a:spLocks xmlns:a="http://schemas.openxmlformats.org/drawingml/2006/main" noGrp="1"/>
          </p:cNvSpPr>
          <p:nvPr/>
        </p:nvSpPr>
        <p:spPr>
          <a:xfrm xmlns:a="http://schemas.openxmlformats.org/drawingml/2006/main">
            <a:off x="685800" y="4953000"/>
            <a:ext cx="8572500" cy="838200"/>
          </a:xfrm>
          <a:prstGeom xmlns:a="http://schemas.openxmlformats.org/drawingml/2006/main" prst="roundRect">
            <a:avLst>
              <a:gd name="adj" fmla="val 13636"/>
            </a:avLst>
          </a:prstGeom>
          <a:solidFill xmlns:a="http://schemas.openxmlformats.org/drawingml/2006/main">
            <a:srgbClr val="0B5C7A"/>
          </a:solidFill>
          <a:ln xmlns:a="http://schemas.openxmlformats.org/drawingml/2006/main" w="9525">
            <a:solidFill>
              <a:srgbClr val="2AA9CF"/>
            </a:solidFill>
            <a:prstDash val="solid"/>
          </a:ln>
        </p:spPr>
      </p:sp>
      <p:sp>
        <p:nvSpPr>
          <p:cNvPr id="7" name="title-takeaway-text">
            <a:extLst xmlns:a="http://schemas.openxmlformats.org/drawingml/2006/main">
              <a:ext uri="{FF2B5EF4-FFF2-40B4-BE49-F238E27FC236}">
                <a16:creationId xmlns:a16="http://schemas.microsoft.com/office/drawing/2014/main" id="{AC3728CC-348D-40A7-A79E-546C240B9F31}"/>
              </a:ext>
            </a:extLst>
          </p:cNvPr>
          <p:cNvSpPr>
            <a:spLocks xmlns:a="http://schemas.openxmlformats.org/drawingml/2006/main" noGrp="1"/>
          </p:cNvSpPr>
          <p:nvPr/>
        </p:nvSpPr>
        <p:spPr>
          <a:xfrm xmlns:a="http://schemas.openxmlformats.org/drawingml/2006/main">
            <a:off x="971550" y="5191125"/>
            <a:ext cx="800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650" b="1">
                <a:solidFill>
                  <a:srgbClr val="FFFFFF"/>
                </a:solidFill>
              </a:defRPr>
            </a:pPr>
            <a:r>
              <a:rPr sz="1650" b="1">
                <a:solidFill>
                  <a:srgbClr val="FFFFFF"/>
                </a:solidFill>
              </a:rPr>
              <a:t>Kijken, herkennen en daarna met vertrouwen zelf starten.</a:t>
            </a:r>
          </a:p>
        </p:txBody>
      </p:sp>
      <p:sp>
        <p:nvSpPr>
          <p:cNvPr id="8" name="organization">
            <a:extLst xmlns:a="http://schemas.openxmlformats.org/drawingml/2006/main">
              <a:ext uri="{FF2B5EF4-FFF2-40B4-BE49-F238E27FC236}">
                <a16:creationId xmlns:a16="http://schemas.microsoft.com/office/drawing/2014/main" id="{7256DA3E-7E5B-4A89-B0BD-90E7CC4B81BE}"/>
              </a:ext>
            </a:extLst>
          </p:cNvPr>
          <p:cNvSpPr>
            <a:spLocks xmlns:a="http://schemas.openxmlformats.org/drawingml/2006/main" noGrp="1"/>
          </p:cNvSpPr>
          <p:nvPr/>
        </p:nvSpPr>
        <p:spPr>
          <a:xfrm xmlns:a="http://schemas.openxmlformats.org/drawingml/2006/main">
            <a:off x="685800" y="628650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a:solidFill>
                  <a:srgbClr val="BDEFFF"/>
                </a:solidFill>
              </a:defRPr>
            </a:pPr>
            <a:r>
              <a:rPr sz="1200">
                <a:solidFill>
                  <a:srgbClr val="BDEFFF"/>
                </a:solidFill>
              </a:rPr>
              <a:t>Diabetes Liga Midden-Limburg</a:t>
            </a:r>
          </a:p>
        </p:txBody>
      </p:sp>
      <p:sp>
        <p:nvSpPr>
          <p:cNvPr id="9" name="title-accent">
            <a:extLst xmlns:a="http://schemas.openxmlformats.org/drawingml/2006/main">
              <a:ext uri="{FF2B5EF4-FFF2-40B4-BE49-F238E27FC236}">
                <a16:creationId xmlns:a16="http://schemas.microsoft.com/office/drawing/2014/main" id="{DB0D6827-57B0-4ABE-8807-FFA7E63DE067}"/>
              </a:ext>
            </a:extLst>
          </p:cNvPr>
          <p:cNvSpPr>
            <a:spLocks xmlns:a="http://schemas.openxmlformats.org/drawingml/2006/main" noGrp="1"/>
          </p:cNvSpPr>
          <p:nvPr/>
        </p:nvSpPr>
        <p:spPr>
          <a:xfrm xmlns:a="http://schemas.openxmlformats.org/drawingml/2006/main">
            <a:off x="10572750" y="0"/>
            <a:ext cx="1619250" cy="685800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Tree>
    <p:extLst>
      <p:ext uri="{BB962C8B-B14F-4D97-AF65-F5344CB8AC3E}">
        <p14:creationId xmlns:p14="http://schemas.microsoft.com/office/powerpoint/2010/main" val="1546614108"/>
      </p:ext>
    </p:extLst>
  </p:cSld>
</p:sld>
</file>

<file path=ppt/slides/slide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2">
            <a:extLst xmlns:a="http://schemas.openxmlformats.org/drawingml/2006/main">
              <a:ext uri="{FF2B5EF4-FFF2-40B4-BE49-F238E27FC236}">
                <a16:creationId xmlns:a16="http://schemas.microsoft.com/office/drawing/2014/main" id="{16902A6D-533E-4B65-94E3-F1B9855BB819}"/>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86B9C"/>
                </a:solidFill>
              </a:defRPr>
            </a:pPr>
            <a:r>
              <a:rPr sz="1125" b="1">
                <a:solidFill>
                  <a:srgbClr val="086B9C"/>
                </a:solidFill>
              </a:rPr>
              <a:t>EERST HET TOTAALBEELD</a:t>
            </a:r>
          </a:p>
        </p:txBody>
      </p:sp>
      <p:sp>
        <p:nvSpPr>
          <p:cNvPr id="2" name="title-2">
            <a:extLst xmlns:a="http://schemas.openxmlformats.org/drawingml/2006/main">
              <a:ext uri="{FF2B5EF4-FFF2-40B4-BE49-F238E27FC236}">
                <a16:creationId xmlns:a16="http://schemas.microsoft.com/office/drawing/2014/main" id="{9A7309BA-DECF-400A-AF24-0F35F3BEF033}"/>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925" b="1">
                <a:solidFill>
                  <a:srgbClr val="17212B"/>
                </a:solidFill>
              </a:defRPr>
            </a:pPr>
            <a:r>
              <a:rPr sz="2925" b="1">
                <a:solidFill>
                  <a:srgbClr val="17212B"/>
                </a:solidFill>
              </a:rPr>
              <a:t>Drie schermen vormen samen één quiz</a:t>
            </a:r>
          </a:p>
        </p:txBody>
      </p:sp>
      <p:sp>
        <p:nvSpPr>
          <p:cNvPr id="3" name="accent-2">
            <a:extLst xmlns:a="http://schemas.openxmlformats.org/drawingml/2006/main">
              <a:ext uri="{FF2B5EF4-FFF2-40B4-BE49-F238E27FC236}">
                <a16:creationId xmlns:a16="http://schemas.microsoft.com/office/drawing/2014/main" id="{C718D8B7-433D-4202-B9D0-AFEB975A8513}"/>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2">
            <a:extLst xmlns:a="http://schemas.openxmlformats.org/drawingml/2006/main">
              <a:ext uri="{FF2B5EF4-FFF2-40B4-BE49-F238E27FC236}">
                <a16:creationId xmlns:a16="http://schemas.microsoft.com/office/drawing/2014/main" id="{5C8DFD90-F658-4C2E-A783-28F18A88A871}"/>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7212B"/>
                </a:solidFill>
              </a:defRPr>
            </a:pPr>
            <a:r>
              <a:rPr sz="1725">
                <a:solidFill>
                  <a:srgbClr val="17212B"/>
                </a:solidFill>
              </a:rPr>
              <a:t>• De quizmaster bedient</a:t>
            </a:r>
          </a:p>
          <a:p xmlns:a="http://schemas.openxmlformats.org/drawingml/2006/main">
            <a:pPr>
              <a:buNone/>
              <a:defRPr sz="1725">
                <a:solidFill>
                  <a:srgbClr val="17212B"/>
                </a:solidFill>
              </a:defRPr>
            </a:pPr>
            <a:r>
              <a:rPr sz="1725">
                <a:solidFill>
                  <a:srgbClr val="17212B"/>
                </a:solidFill>
              </a:rPr>
              <a:t>• De deelnemer antwoordt op de gsm</a:t>
            </a:r>
          </a:p>
          <a:p xmlns:a="http://schemas.openxmlformats.org/drawingml/2006/main">
            <a:pPr>
              <a:buNone/>
              <a:defRPr sz="1725">
                <a:solidFill>
                  <a:srgbClr val="17212B"/>
                </a:solidFill>
              </a:defRPr>
            </a:pPr>
            <a:r>
              <a:rPr sz="1725">
                <a:solidFill>
                  <a:srgbClr val="17212B"/>
                </a:solidFill>
              </a:rPr>
              <a:t>• De hele zaal volgt mee</a:t>
            </a:r>
          </a:p>
        </p:txBody>
      </p:sp>
      <p:sp>
        <p:nvSpPr>
          <p:cNvPr id="5" name="takeaway-box-2">
            <a:extLst xmlns:a="http://schemas.openxmlformats.org/drawingml/2006/main">
              <a:ext uri="{FF2B5EF4-FFF2-40B4-BE49-F238E27FC236}">
                <a16:creationId xmlns:a16="http://schemas.microsoft.com/office/drawing/2014/main" id="{6F3D12EC-5E00-45DE-9B47-9357BD87D652}"/>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2">
            <a:extLst xmlns:a="http://schemas.openxmlformats.org/drawingml/2006/main">
              <a:ext uri="{FF2B5EF4-FFF2-40B4-BE49-F238E27FC236}">
                <a16:creationId xmlns:a16="http://schemas.microsoft.com/office/drawing/2014/main" id="{76FF5E44-809E-4E73-828E-4DB12E5C744D}"/>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2">
            <a:extLst xmlns:a="http://schemas.openxmlformats.org/drawingml/2006/main">
              <a:ext uri="{FF2B5EF4-FFF2-40B4-BE49-F238E27FC236}">
                <a16:creationId xmlns:a16="http://schemas.microsoft.com/office/drawing/2014/main" id="{90D6F3B7-FA36-41EA-AAB0-394838943466}"/>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76B3A"/>
                </a:solidFill>
              </a:defRPr>
            </a:pPr>
            <a:r>
              <a:rPr sz="1500" b="1">
                <a:solidFill>
                  <a:srgbClr val="176B3A"/>
                </a:solidFill>
              </a:rPr>
              <a:t>Iedereen ziet dezelfde vraag, maar ieder scherm heeft een eigen taak.</a:t>
            </a:r>
          </a:p>
        </p:txBody>
      </p:sp>
      <p:sp>
        <p:nvSpPr>
          <p:cNvPr id="8" name="image-frame-zaalscherm-vraag.jpg">
            <a:extLst xmlns:a="http://schemas.openxmlformats.org/drawingml/2006/main">
              <a:ext uri="{FF2B5EF4-FFF2-40B4-BE49-F238E27FC236}">
                <a16:creationId xmlns:a16="http://schemas.microsoft.com/office/drawing/2014/main" id="{A045B5A2-4E8B-4A39-863F-8E997A5B4C8B}"/>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03ad837264a54bc4"/>
          <a:stretch xmlns:a="http://schemas.openxmlformats.org/drawingml/2006/main"/>
        </p:blipFill>
        <p:spPr>
          <a:xfrm xmlns:a="http://schemas.openxmlformats.org/drawingml/2006/main">
            <a:off x="687917" y="1600200"/>
            <a:ext cx="6282267" cy="3533775"/>
          </a:xfrm>
          <a:prstGeom xmlns:a="http://schemas.openxmlformats.org/drawingml/2006/main" prst="roundRect">
            <a:avLst>
              <a:gd name="adj" fmla="val 3235"/>
            </a:avLst>
          </a:prstGeom>
        </p:spPr>
      </p:pic>
      <p:sp>
        <p:nvSpPr>
          <p:cNvPr id="10" name="image-caption-2">
            <a:extLst xmlns:a="http://schemas.openxmlformats.org/drawingml/2006/main">
              <a:ext uri="{FF2B5EF4-FFF2-40B4-BE49-F238E27FC236}">
                <a16:creationId xmlns:a16="http://schemas.microsoft.com/office/drawing/2014/main" id="{DB1A61CA-3FAA-47E8-BE8F-7B9F3B918E21}"/>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526273"/>
                </a:solidFill>
              </a:defRPr>
            </a:pPr>
            <a:r>
              <a:rPr sz="1050" b="1">
                <a:solidFill>
                  <a:srgbClr val="526273"/>
                </a:solidFill>
              </a:rPr>
              <a:t>Echt scherm uit de quiz</a:t>
            </a:r>
          </a:p>
        </p:txBody>
      </p:sp>
      <p:sp>
        <p:nvSpPr>
          <p:cNvPr id="11" name="progress-2">
            <a:extLst xmlns:a="http://schemas.openxmlformats.org/drawingml/2006/main">
              <a:ext uri="{FF2B5EF4-FFF2-40B4-BE49-F238E27FC236}">
                <a16:creationId xmlns:a16="http://schemas.microsoft.com/office/drawing/2014/main" id="{CBEB0818-D3B6-421F-AB06-95FE8B14E71F}"/>
              </a:ext>
            </a:extLst>
          </p:cNvPr>
          <p:cNvSpPr>
            <a:spLocks xmlns:a="http://schemas.openxmlformats.org/drawingml/2006/main" noGrp="1"/>
          </p:cNvSpPr>
          <p:nvPr/>
        </p:nvSpPr>
        <p:spPr>
          <a:xfrm xmlns:a="http://schemas.openxmlformats.org/drawingml/2006/main">
            <a:off x="0" y="6800850"/>
            <a:ext cx="2032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2">
            <a:extLst xmlns:a="http://schemas.openxmlformats.org/drawingml/2006/main">
              <a:ext uri="{FF2B5EF4-FFF2-40B4-BE49-F238E27FC236}">
                <a16:creationId xmlns:a16="http://schemas.microsoft.com/office/drawing/2014/main" id="{CDAE4929-41BF-4604-A8D5-158F774C0965}"/>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526273"/>
                </a:solidFill>
              </a:defRPr>
            </a:pPr>
            <a:r>
              <a:rPr sz="1050">
                <a:solidFill>
                  <a:srgbClr val="526273"/>
                </a:solidFill>
              </a:rPr>
              <a:t>Live Diabetes Quiz</a:t>
            </a:r>
          </a:p>
        </p:txBody>
      </p:sp>
      <p:sp>
        <p:nvSpPr>
          <p:cNvPr id="13" name="footer-number-2">
            <a:extLst xmlns:a="http://schemas.openxmlformats.org/drawingml/2006/main">
              <a:ext uri="{FF2B5EF4-FFF2-40B4-BE49-F238E27FC236}">
                <a16:creationId xmlns:a16="http://schemas.microsoft.com/office/drawing/2014/main" id="{77B85690-69CD-4A23-8DA4-75DF2F167FA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a:solidFill>
                  <a:srgbClr val="526273"/>
                </a:solidFill>
              </a:defRPr>
            </a:pPr>
            <a:r>
              <a:rPr sz="1050">
                <a:solidFill>
                  <a:srgbClr val="526273"/>
                </a:solidFill>
              </a:rPr>
              <a:t>02 / 12</a:t>
            </a:r>
          </a:p>
        </p:txBody>
      </p:sp>
    </p:spTree>
    <p:extLst>
      <p:ext uri="{BB962C8B-B14F-4D97-AF65-F5344CB8AC3E}">
        <p14:creationId xmlns:p14="http://schemas.microsoft.com/office/powerpoint/2010/main" val="1046555428"/>
      </p:ext>
    </p:extLst>
  </p:cSld>
</p:sld>
</file>

<file path=ppt/slides/slide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3">
            <a:extLst xmlns:a="http://schemas.openxmlformats.org/drawingml/2006/main">
              <a:ext uri="{FF2B5EF4-FFF2-40B4-BE49-F238E27FC236}">
                <a16:creationId xmlns:a16="http://schemas.microsoft.com/office/drawing/2014/main" id="{B3EB7A98-80D8-4A50-B904-B8EAE273A74C}"/>
              </a:ext>
            </a:extLst>
          </p:cNvPr>
          <p:cNvSpPr>
            <a:spLocks xmlns:a="http://schemas.openxmlformats.org/drawingml/2006/main" noGrp="1"/>
          </p:cNvSpPr>
          <p:nvPr/>
        </p:nvSpPr>
        <p:spPr>
          <a:xfrm xmlns:a="http://schemas.openxmlformats.org/drawingml/2006/main">
            <a:off x="6858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86B9C"/>
                </a:solidFill>
              </a:defRPr>
            </a:pPr>
            <a:r>
              <a:rPr sz="1125" b="1">
                <a:solidFill>
                  <a:srgbClr val="086B9C"/>
                </a:solidFill>
              </a:rPr>
              <a:t>STAP 1 · QUIZ VOORBEREIDEN</a:t>
            </a:r>
          </a:p>
        </p:txBody>
      </p:sp>
      <p:sp>
        <p:nvSpPr>
          <p:cNvPr id="2" name="title-3">
            <a:extLst xmlns:a="http://schemas.openxmlformats.org/drawingml/2006/main">
              <a:ext uri="{FF2B5EF4-FFF2-40B4-BE49-F238E27FC236}">
                <a16:creationId xmlns:a16="http://schemas.microsoft.com/office/drawing/2014/main" id="{85576C65-0D11-41C7-B3C7-203639C7F585}"/>
              </a:ext>
            </a:extLst>
          </p:cNvPr>
          <p:cNvSpPr>
            <a:spLocks xmlns:a="http://schemas.openxmlformats.org/drawingml/2006/main" noGrp="1"/>
          </p:cNvSpPr>
          <p:nvPr/>
        </p:nvSpPr>
        <p:spPr>
          <a:xfrm xmlns:a="http://schemas.openxmlformats.org/drawingml/2006/main">
            <a:off x="6858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925" b="1">
                <a:solidFill>
                  <a:srgbClr val="17212B"/>
                </a:solidFill>
              </a:defRPr>
            </a:pPr>
            <a:r>
              <a:rPr sz="2925" b="1">
                <a:solidFill>
                  <a:srgbClr val="17212B"/>
                </a:solidFill>
              </a:rPr>
              <a:t>Begin met een passend aantal vragen</a:t>
            </a:r>
          </a:p>
        </p:txBody>
      </p:sp>
      <p:sp>
        <p:nvSpPr>
          <p:cNvPr id="3" name="accent-3">
            <a:extLst xmlns:a="http://schemas.openxmlformats.org/drawingml/2006/main">
              <a:ext uri="{FF2B5EF4-FFF2-40B4-BE49-F238E27FC236}">
                <a16:creationId xmlns:a16="http://schemas.microsoft.com/office/drawing/2014/main" id="{0BAD7015-A19D-49BD-89E4-32800E52AE19}"/>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3">
            <a:extLst xmlns:a="http://schemas.openxmlformats.org/drawingml/2006/main">
              <a:ext uri="{FF2B5EF4-FFF2-40B4-BE49-F238E27FC236}">
                <a16:creationId xmlns:a16="http://schemas.microsoft.com/office/drawing/2014/main" id="{5BC30FB1-1C24-4AC3-993D-F804DD32C07B}"/>
              </a:ext>
            </a:extLst>
          </p:cNvPr>
          <p:cNvSpPr>
            <a:spLocks xmlns:a="http://schemas.openxmlformats.org/drawingml/2006/main" noGrp="1"/>
          </p:cNvSpPr>
          <p:nvPr/>
        </p:nvSpPr>
        <p:spPr>
          <a:xfrm xmlns:a="http://schemas.openxmlformats.org/drawingml/2006/main">
            <a:off x="6858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7212B"/>
                </a:solidFill>
              </a:defRPr>
            </a:pPr>
            <a:r>
              <a:rPr sz="1725">
                <a:solidFill>
                  <a:srgbClr val="17212B"/>
                </a:solidFill>
              </a:rPr>
              <a:t>• 5 vragen voor een demonstratie</a:t>
            </a:r>
          </a:p>
          <a:p xmlns:a="http://schemas.openxmlformats.org/drawingml/2006/main">
            <a:pPr>
              <a:buNone/>
              <a:defRPr sz="1725">
                <a:solidFill>
                  <a:srgbClr val="17212B"/>
                </a:solidFill>
              </a:defRPr>
            </a:pPr>
            <a:r>
              <a:rPr sz="1725">
                <a:solidFill>
                  <a:srgbClr val="17212B"/>
                </a:solidFill>
              </a:rPr>
              <a:t>• 10 vragen is aanbevolen</a:t>
            </a:r>
          </a:p>
          <a:p xmlns:a="http://schemas.openxmlformats.org/drawingml/2006/main">
            <a:pPr>
              <a:buNone/>
              <a:defRPr sz="1725">
                <a:solidFill>
                  <a:srgbClr val="17212B"/>
                </a:solidFill>
              </a:defRPr>
            </a:pPr>
            <a:r>
              <a:rPr sz="1725">
                <a:solidFill>
                  <a:srgbClr val="17212B"/>
                </a:solidFill>
              </a:rPr>
              <a:t>• 20 vragen is het aanbevolen maximum</a:t>
            </a:r>
          </a:p>
        </p:txBody>
      </p:sp>
      <p:sp>
        <p:nvSpPr>
          <p:cNvPr id="5" name="takeaway-box-3">
            <a:extLst xmlns:a="http://schemas.openxmlformats.org/drawingml/2006/main">
              <a:ext uri="{FF2B5EF4-FFF2-40B4-BE49-F238E27FC236}">
                <a16:creationId xmlns:a16="http://schemas.microsoft.com/office/drawing/2014/main" id="{BAC9AF22-B809-406A-90EF-801080F2DCB8}"/>
              </a:ext>
            </a:extLst>
          </p:cNvPr>
          <p:cNvSpPr>
            <a:spLocks xmlns:a="http://schemas.openxmlformats.org/drawingml/2006/main" noGrp="1"/>
          </p:cNvSpPr>
          <p:nvPr/>
        </p:nvSpPr>
        <p:spPr>
          <a:xfrm xmlns:a="http://schemas.openxmlformats.org/drawingml/2006/main">
            <a:off x="6858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3">
            <a:extLst xmlns:a="http://schemas.openxmlformats.org/drawingml/2006/main">
              <a:ext uri="{FF2B5EF4-FFF2-40B4-BE49-F238E27FC236}">
                <a16:creationId xmlns:a16="http://schemas.microsoft.com/office/drawing/2014/main" id="{5AF6AC80-933D-4ADB-B08A-C07144767441}"/>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3">
            <a:extLst xmlns:a="http://schemas.openxmlformats.org/drawingml/2006/main">
              <a:ext uri="{FF2B5EF4-FFF2-40B4-BE49-F238E27FC236}">
                <a16:creationId xmlns:a16="http://schemas.microsoft.com/office/drawing/2014/main" id="{ABA04E8D-AFD2-49C9-B857-90000DDA9495}"/>
              </a:ext>
            </a:extLst>
          </p:cNvPr>
          <p:cNvSpPr>
            <a:spLocks xmlns:a="http://schemas.openxmlformats.org/drawingml/2006/main" noGrp="1"/>
          </p:cNvSpPr>
          <p:nvPr/>
        </p:nvSpPr>
        <p:spPr>
          <a:xfrm xmlns:a="http://schemas.openxmlformats.org/drawingml/2006/main">
            <a:off x="9525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76B3A"/>
                </a:solidFill>
              </a:defRPr>
            </a:pPr>
            <a:r>
              <a:rPr sz="1500" b="1">
                <a:solidFill>
                  <a:srgbClr val="176B3A"/>
                </a:solidFill>
              </a:rPr>
              <a:t>Een korte quiz is vaak prettiger dan een te lange quiz.</a:t>
            </a:r>
          </a:p>
        </p:txBody>
      </p:sp>
      <p:sp>
        <p:nvSpPr>
          <p:cNvPr id="8" name="image-frame-quizmaster-voorbereiden.jpg">
            <a:extLst xmlns:a="http://schemas.openxmlformats.org/drawingml/2006/main">
              <a:ext uri="{FF2B5EF4-FFF2-40B4-BE49-F238E27FC236}">
                <a16:creationId xmlns:a16="http://schemas.microsoft.com/office/drawing/2014/main" id="{0957E3C5-216E-46D1-ACD1-EAC67F479612}"/>
              </a:ext>
            </a:extLst>
          </p:cNvPr>
          <p:cNvSpPr>
            <a:spLocks xmlns:a="http://schemas.openxmlformats.org/drawingml/2006/main" noGrp="1"/>
          </p:cNvSpPr>
          <p:nvPr/>
        </p:nvSpPr>
        <p:spPr>
          <a:xfrm xmlns:a="http://schemas.openxmlformats.org/drawingml/2006/main">
            <a:off x="51244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7de51a221024523"/>
          <a:stretch xmlns:a="http://schemas.openxmlformats.org/drawingml/2006/main"/>
        </p:blipFill>
        <p:spPr>
          <a:xfrm xmlns:a="http://schemas.openxmlformats.org/drawingml/2006/main">
            <a:off x="5221817" y="1600200"/>
            <a:ext cx="6282267" cy="3533775"/>
          </a:xfrm>
          <a:prstGeom xmlns:a="http://schemas.openxmlformats.org/drawingml/2006/main" prst="roundRect">
            <a:avLst>
              <a:gd name="adj" fmla="val 3235"/>
            </a:avLst>
          </a:prstGeom>
        </p:spPr>
      </p:pic>
      <p:sp>
        <p:nvSpPr>
          <p:cNvPr id="10" name="image-caption-3">
            <a:extLst xmlns:a="http://schemas.openxmlformats.org/drawingml/2006/main">
              <a:ext uri="{FF2B5EF4-FFF2-40B4-BE49-F238E27FC236}">
                <a16:creationId xmlns:a16="http://schemas.microsoft.com/office/drawing/2014/main" id="{F94CD837-A2CD-4280-92CF-C0F72A717F06}"/>
              </a:ext>
            </a:extLst>
          </p:cNvPr>
          <p:cNvSpPr>
            <a:spLocks xmlns:a="http://schemas.openxmlformats.org/drawingml/2006/main" noGrp="1"/>
          </p:cNvSpPr>
          <p:nvPr/>
        </p:nvSpPr>
        <p:spPr>
          <a:xfrm xmlns:a="http://schemas.openxmlformats.org/drawingml/2006/main">
            <a:off x="52197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526273"/>
                </a:solidFill>
              </a:defRPr>
            </a:pPr>
            <a:r>
              <a:rPr sz="1050" b="1">
                <a:solidFill>
                  <a:srgbClr val="526273"/>
                </a:solidFill>
              </a:rPr>
              <a:t>Echt scherm uit de quiz</a:t>
            </a:r>
          </a:p>
        </p:txBody>
      </p:sp>
      <p:sp>
        <p:nvSpPr>
          <p:cNvPr id="11" name="progress-3">
            <a:extLst xmlns:a="http://schemas.openxmlformats.org/drawingml/2006/main">
              <a:ext uri="{FF2B5EF4-FFF2-40B4-BE49-F238E27FC236}">
                <a16:creationId xmlns:a16="http://schemas.microsoft.com/office/drawing/2014/main" id="{527E67A0-7C2C-4353-A487-D44C60C0B117}"/>
              </a:ext>
            </a:extLst>
          </p:cNvPr>
          <p:cNvSpPr>
            <a:spLocks xmlns:a="http://schemas.openxmlformats.org/drawingml/2006/main" noGrp="1"/>
          </p:cNvSpPr>
          <p:nvPr/>
        </p:nvSpPr>
        <p:spPr>
          <a:xfrm xmlns:a="http://schemas.openxmlformats.org/drawingml/2006/main">
            <a:off x="0" y="6800850"/>
            <a:ext cx="3048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3">
            <a:extLst xmlns:a="http://schemas.openxmlformats.org/drawingml/2006/main">
              <a:ext uri="{FF2B5EF4-FFF2-40B4-BE49-F238E27FC236}">
                <a16:creationId xmlns:a16="http://schemas.microsoft.com/office/drawing/2014/main" id="{086E759D-E5DD-4900-8C09-C22517FED3DB}"/>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526273"/>
                </a:solidFill>
              </a:defRPr>
            </a:pPr>
            <a:r>
              <a:rPr sz="1050">
                <a:solidFill>
                  <a:srgbClr val="526273"/>
                </a:solidFill>
              </a:rPr>
              <a:t>Live Diabetes Quiz</a:t>
            </a:r>
          </a:p>
        </p:txBody>
      </p:sp>
      <p:sp>
        <p:nvSpPr>
          <p:cNvPr id="13" name="footer-number-3">
            <a:extLst xmlns:a="http://schemas.openxmlformats.org/drawingml/2006/main">
              <a:ext uri="{FF2B5EF4-FFF2-40B4-BE49-F238E27FC236}">
                <a16:creationId xmlns:a16="http://schemas.microsoft.com/office/drawing/2014/main" id="{F46A182F-FD59-4C51-940D-1498D77A53B6}"/>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a:solidFill>
                  <a:srgbClr val="526273"/>
                </a:solidFill>
              </a:defRPr>
            </a:pPr>
            <a:r>
              <a:rPr sz="1050">
                <a:solidFill>
                  <a:srgbClr val="526273"/>
                </a:solidFill>
              </a:rPr>
              <a:t>03 / 12</a:t>
            </a:r>
          </a:p>
        </p:txBody>
      </p:sp>
    </p:spTree>
    <p:extLst>
      <p:ext uri="{BB962C8B-B14F-4D97-AF65-F5344CB8AC3E}">
        <p14:creationId xmlns:p14="http://schemas.microsoft.com/office/powerpoint/2010/main" val="704348823"/>
      </p:ext>
    </p:extLst>
  </p:cSld>
</p:sld>
</file>

<file path=ppt/slides/slide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4">
            <a:extLst xmlns:a="http://schemas.openxmlformats.org/drawingml/2006/main">
              <a:ext uri="{FF2B5EF4-FFF2-40B4-BE49-F238E27FC236}">
                <a16:creationId xmlns:a16="http://schemas.microsoft.com/office/drawing/2014/main" id="{BCE78DD0-1EF4-4D57-9842-3B128539C561}"/>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86B9C"/>
                </a:solidFill>
              </a:defRPr>
            </a:pPr>
            <a:r>
              <a:rPr sz="1125" b="1">
                <a:solidFill>
                  <a:srgbClr val="086B9C"/>
                </a:solidFill>
              </a:rPr>
              <a:t>STAP 2 · WACHTKAMER</a:t>
            </a:r>
          </a:p>
        </p:txBody>
      </p:sp>
      <p:sp>
        <p:nvSpPr>
          <p:cNvPr id="2" name="title-4">
            <a:extLst xmlns:a="http://schemas.openxmlformats.org/drawingml/2006/main">
              <a:ext uri="{FF2B5EF4-FFF2-40B4-BE49-F238E27FC236}">
                <a16:creationId xmlns:a16="http://schemas.microsoft.com/office/drawing/2014/main" id="{8AE1106A-9C82-4AC8-A846-AC1EDF4DD74D}"/>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925" b="1">
                <a:solidFill>
                  <a:srgbClr val="17212B"/>
                </a:solidFill>
              </a:defRPr>
            </a:pPr>
            <a:r>
              <a:rPr sz="2925" b="1">
                <a:solidFill>
                  <a:srgbClr val="17212B"/>
                </a:solidFill>
              </a:rPr>
              <a:t>Eén sessie maakt de zaal klaar</a:t>
            </a:r>
          </a:p>
        </p:txBody>
      </p:sp>
      <p:sp>
        <p:nvSpPr>
          <p:cNvPr id="3" name="accent-4">
            <a:extLst xmlns:a="http://schemas.openxmlformats.org/drawingml/2006/main">
              <a:ext uri="{FF2B5EF4-FFF2-40B4-BE49-F238E27FC236}">
                <a16:creationId xmlns:a16="http://schemas.microsoft.com/office/drawing/2014/main" id="{55182810-9D99-43C6-BA6A-E60421731F90}"/>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4">
            <a:extLst xmlns:a="http://schemas.openxmlformats.org/drawingml/2006/main">
              <a:ext uri="{FF2B5EF4-FFF2-40B4-BE49-F238E27FC236}">
                <a16:creationId xmlns:a16="http://schemas.microsoft.com/office/drawing/2014/main" id="{85951985-CEE5-4C04-AFB8-FECB970B5AE5}"/>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7212B"/>
                </a:solidFill>
              </a:defRPr>
            </a:pPr>
            <a:r>
              <a:rPr sz="1725">
                <a:solidFill>
                  <a:srgbClr val="17212B"/>
                </a:solidFill>
              </a:rPr>
              <a:t>• Quizcode voor de deelnemers</a:t>
            </a:r>
          </a:p>
          <a:p xmlns:a="http://schemas.openxmlformats.org/drawingml/2006/main">
            <a:pPr>
              <a:buNone/>
              <a:defRPr sz="1725">
                <a:solidFill>
                  <a:srgbClr val="17212B"/>
                </a:solidFill>
              </a:defRPr>
            </a:pPr>
            <a:r>
              <a:rPr sz="1725">
                <a:solidFill>
                  <a:srgbClr val="17212B"/>
                </a:solidFill>
              </a:rPr>
              <a:t>• Knop voor het grote zaalscherm</a:t>
            </a:r>
          </a:p>
          <a:p xmlns:a="http://schemas.openxmlformats.org/drawingml/2006/main">
            <a:pPr>
              <a:buNone/>
              <a:defRPr sz="1725">
                <a:solidFill>
                  <a:srgbClr val="17212B"/>
                </a:solidFill>
              </a:defRPr>
            </a:pPr>
            <a:r>
              <a:rPr sz="1725">
                <a:solidFill>
                  <a:srgbClr val="17212B"/>
                </a:solidFill>
              </a:rPr>
              <a:t>• Knop voor de deelnemersbriefjes</a:t>
            </a:r>
          </a:p>
        </p:txBody>
      </p:sp>
      <p:sp>
        <p:nvSpPr>
          <p:cNvPr id="5" name="takeaway-box-4">
            <a:extLst xmlns:a="http://schemas.openxmlformats.org/drawingml/2006/main">
              <a:ext uri="{FF2B5EF4-FFF2-40B4-BE49-F238E27FC236}">
                <a16:creationId xmlns:a16="http://schemas.microsoft.com/office/drawing/2014/main" id="{B7206DAE-85E4-4FFA-9DAF-45F22D7D1DAE}"/>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4">
            <a:extLst xmlns:a="http://schemas.openxmlformats.org/drawingml/2006/main">
              <a:ext uri="{FF2B5EF4-FFF2-40B4-BE49-F238E27FC236}">
                <a16:creationId xmlns:a16="http://schemas.microsoft.com/office/drawing/2014/main" id="{32E6ECB8-D1DA-41C1-A423-C48EFB9D8F2B}"/>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4">
            <a:extLst xmlns:a="http://schemas.openxmlformats.org/drawingml/2006/main">
              <a:ext uri="{FF2B5EF4-FFF2-40B4-BE49-F238E27FC236}">
                <a16:creationId xmlns:a16="http://schemas.microsoft.com/office/drawing/2014/main" id="{163D79CD-D7B1-4D43-A65E-33A986A597B1}"/>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76B3A"/>
                </a:solidFill>
              </a:defRPr>
            </a:pPr>
            <a:r>
              <a:rPr sz="1500" b="1">
                <a:solidFill>
                  <a:srgbClr val="176B3A"/>
                </a:solidFill>
              </a:rPr>
              <a:t>Open het zaalscherm en druk de briefjes af vóór het publiek begint.</a:t>
            </a:r>
          </a:p>
        </p:txBody>
      </p:sp>
      <p:sp>
        <p:nvSpPr>
          <p:cNvPr id="8" name="image-frame-quizmaster-wachtkamer.jpg">
            <a:extLst xmlns:a="http://schemas.openxmlformats.org/drawingml/2006/main">
              <a:ext uri="{FF2B5EF4-FFF2-40B4-BE49-F238E27FC236}">
                <a16:creationId xmlns:a16="http://schemas.microsoft.com/office/drawing/2014/main" id="{4D54C57E-9A4B-4FC8-A532-486620A0692E}"/>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0ed5989493f64a96"/>
          <a:stretch xmlns:a="http://schemas.openxmlformats.org/drawingml/2006/main"/>
        </p:blipFill>
        <p:spPr>
          <a:xfrm xmlns:a="http://schemas.openxmlformats.org/drawingml/2006/main">
            <a:off x="689847" y="1600200"/>
            <a:ext cx="6278406" cy="3533775"/>
          </a:xfrm>
          <a:prstGeom xmlns:a="http://schemas.openxmlformats.org/drawingml/2006/main" prst="roundRect">
            <a:avLst>
              <a:gd name="adj" fmla="val 3235"/>
            </a:avLst>
          </a:prstGeom>
        </p:spPr>
      </p:pic>
      <p:sp>
        <p:nvSpPr>
          <p:cNvPr id="10" name="image-caption-4">
            <a:extLst xmlns:a="http://schemas.openxmlformats.org/drawingml/2006/main">
              <a:ext uri="{FF2B5EF4-FFF2-40B4-BE49-F238E27FC236}">
                <a16:creationId xmlns:a16="http://schemas.microsoft.com/office/drawing/2014/main" id="{A068F3CC-8748-4F67-ADDA-16C53DACDDCB}"/>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526273"/>
                </a:solidFill>
              </a:defRPr>
            </a:pPr>
            <a:r>
              <a:rPr sz="1050" b="1">
                <a:solidFill>
                  <a:srgbClr val="526273"/>
                </a:solidFill>
              </a:rPr>
              <a:t>Echt scherm uit de quiz</a:t>
            </a:r>
          </a:p>
        </p:txBody>
      </p:sp>
      <p:sp>
        <p:nvSpPr>
          <p:cNvPr id="11" name="progress-4">
            <a:extLst xmlns:a="http://schemas.openxmlformats.org/drawingml/2006/main">
              <a:ext uri="{FF2B5EF4-FFF2-40B4-BE49-F238E27FC236}">
                <a16:creationId xmlns:a16="http://schemas.microsoft.com/office/drawing/2014/main" id="{1C53F632-803B-431A-9660-CF4E960B2678}"/>
              </a:ext>
            </a:extLst>
          </p:cNvPr>
          <p:cNvSpPr>
            <a:spLocks xmlns:a="http://schemas.openxmlformats.org/drawingml/2006/main" noGrp="1"/>
          </p:cNvSpPr>
          <p:nvPr/>
        </p:nvSpPr>
        <p:spPr>
          <a:xfrm xmlns:a="http://schemas.openxmlformats.org/drawingml/2006/main">
            <a:off x="0" y="6800850"/>
            <a:ext cx="4064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4">
            <a:extLst xmlns:a="http://schemas.openxmlformats.org/drawingml/2006/main">
              <a:ext uri="{FF2B5EF4-FFF2-40B4-BE49-F238E27FC236}">
                <a16:creationId xmlns:a16="http://schemas.microsoft.com/office/drawing/2014/main" id="{8FC46BF2-AE5F-4D33-8647-439D5A96E4D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526273"/>
                </a:solidFill>
              </a:defRPr>
            </a:pPr>
            <a:r>
              <a:rPr sz="1050">
                <a:solidFill>
                  <a:srgbClr val="526273"/>
                </a:solidFill>
              </a:rPr>
              <a:t>Live Diabetes Quiz</a:t>
            </a:r>
          </a:p>
        </p:txBody>
      </p:sp>
      <p:sp>
        <p:nvSpPr>
          <p:cNvPr id="13" name="footer-number-4">
            <a:extLst xmlns:a="http://schemas.openxmlformats.org/drawingml/2006/main">
              <a:ext uri="{FF2B5EF4-FFF2-40B4-BE49-F238E27FC236}">
                <a16:creationId xmlns:a16="http://schemas.microsoft.com/office/drawing/2014/main" id="{72D5C966-16CB-4994-A14E-DFEFA011D153}"/>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a:solidFill>
                  <a:srgbClr val="526273"/>
                </a:solidFill>
              </a:defRPr>
            </a:pPr>
            <a:r>
              <a:rPr sz="1050">
                <a:solidFill>
                  <a:srgbClr val="526273"/>
                </a:solidFill>
              </a:rPr>
              <a:t>04 / 12</a:t>
            </a:r>
          </a:p>
        </p:txBody>
      </p:sp>
    </p:spTree>
    <p:extLst>
      <p:ext uri="{BB962C8B-B14F-4D97-AF65-F5344CB8AC3E}">
        <p14:creationId xmlns:p14="http://schemas.microsoft.com/office/powerpoint/2010/main" val="1919129803"/>
      </p:ext>
    </p:extLst>
  </p:cSld>
</p:sld>
</file>

<file path=ppt/slides/slide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5">
            <a:extLst xmlns:a="http://schemas.openxmlformats.org/drawingml/2006/main">
              <a:ext uri="{FF2B5EF4-FFF2-40B4-BE49-F238E27FC236}">
                <a16:creationId xmlns:a16="http://schemas.microsoft.com/office/drawing/2014/main" id="{31EB5A99-CCBB-41AC-AB0C-167298CDF024}"/>
              </a:ext>
            </a:extLst>
          </p:cNvPr>
          <p:cNvSpPr>
            <a:spLocks xmlns:a="http://schemas.openxmlformats.org/drawingml/2006/main" noGrp="1"/>
          </p:cNvSpPr>
          <p:nvPr/>
        </p:nvSpPr>
        <p:spPr>
          <a:xfrm xmlns:a="http://schemas.openxmlformats.org/drawingml/2006/main">
            <a:off x="6858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86B9C"/>
                </a:solidFill>
              </a:defRPr>
            </a:pPr>
            <a:r>
              <a:rPr sz="1125" b="1">
                <a:solidFill>
                  <a:srgbClr val="086B9C"/>
                </a:solidFill>
              </a:rPr>
              <a:t>STAP 3 · BRIEFJES UITDELEN</a:t>
            </a:r>
          </a:p>
        </p:txBody>
      </p:sp>
      <p:sp>
        <p:nvSpPr>
          <p:cNvPr id="2" name="title-5">
            <a:extLst xmlns:a="http://schemas.openxmlformats.org/drawingml/2006/main">
              <a:ext uri="{FF2B5EF4-FFF2-40B4-BE49-F238E27FC236}">
                <a16:creationId xmlns:a16="http://schemas.microsoft.com/office/drawing/2014/main" id="{09DC13FC-8001-43A9-AF45-A95DAC520CCE}"/>
              </a:ext>
            </a:extLst>
          </p:cNvPr>
          <p:cNvSpPr>
            <a:spLocks xmlns:a="http://schemas.openxmlformats.org/drawingml/2006/main" noGrp="1"/>
          </p:cNvSpPr>
          <p:nvPr/>
        </p:nvSpPr>
        <p:spPr>
          <a:xfrm xmlns:a="http://schemas.openxmlformats.org/drawingml/2006/main">
            <a:off x="6858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925" b="1">
                <a:solidFill>
                  <a:srgbClr val="17212B"/>
                </a:solidFill>
              </a:defRPr>
            </a:pPr>
            <a:r>
              <a:rPr sz="2925" b="1">
                <a:solidFill>
                  <a:srgbClr val="17212B"/>
                </a:solidFill>
              </a:rPr>
              <a:t>Het briefje wijst iedere deelnemer de weg</a:t>
            </a:r>
          </a:p>
        </p:txBody>
      </p:sp>
      <p:sp>
        <p:nvSpPr>
          <p:cNvPr id="3" name="accent-5">
            <a:extLst xmlns:a="http://schemas.openxmlformats.org/drawingml/2006/main">
              <a:ext uri="{FF2B5EF4-FFF2-40B4-BE49-F238E27FC236}">
                <a16:creationId xmlns:a16="http://schemas.microsoft.com/office/drawing/2014/main" id="{403AD173-3D78-4FA0-BBA7-0C46B745F25E}"/>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5">
            <a:extLst xmlns:a="http://schemas.openxmlformats.org/drawingml/2006/main">
              <a:ext uri="{FF2B5EF4-FFF2-40B4-BE49-F238E27FC236}">
                <a16:creationId xmlns:a16="http://schemas.microsoft.com/office/drawing/2014/main" id="{D03DABB7-F004-47C3-B59F-17815BED48CC}"/>
              </a:ext>
            </a:extLst>
          </p:cNvPr>
          <p:cNvSpPr>
            <a:spLocks xmlns:a="http://schemas.openxmlformats.org/drawingml/2006/main" noGrp="1"/>
          </p:cNvSpPr>
          <p:nvPr/>
        </p:nvSpPr>
        <p:spPr>
          <a:xfrm xmlns:a="http://schemas.openxmlformats.org/drawingml/2006/main">
            <a:off x="6858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7212B"/>
                </a:solidFill>
              </a:defRPr>
            </a:pPr>
            <a:r>
              <a:rPr sz="1725">
                <a:solidFill>
                  <a:srgbClr val="17212B"/>
                </a:solidFill>
              </a:rPr>
              <a:t>• Eerst internet controleren</a:t>
            </a:r>
          </a:p>
          <a:p xmlns:a="http://schemas.openxmlformats.org/drawingml/2006/main">
            <a:pPr>
              <a:buNone/>
              <a:defRPr sz="1725">
                <a:solidFill>
                  <a:srgbClr val="17212B"/>
                </a:solidFill>
              </a:defRPr>
            </a:pPr>
            <a:r>
              <a:rPr sz="1725">
                <a:solidFill>
                  <a:srgbClr val="17212B"/>
                </a:solidFill>
              </a:rPr>
              <a:t>• Daarna de quiz-QR scannen</a:t>
            </a:r>
          </a:p>
          <a:p xmlns:a="http://schemas.openxmlformats.org/drawingml/2006/main">
            <a:pPr>
              <a:buNone/>
              <a:defRPr sz="1725">
                <a:solidFill>
                  <a:srgbClr val="17212B"/>
                </a:solidFill>
              </a:defRPr>
            </a:pPr>
            <a:r>
              <a:rPr sz="1725">
                <a:solidFill>
                  <a:srgbClr val="17212B"/>
                </a:solidFill>
              </a:rPr>
              <a:t>• De link en code zijn het alternatief</a:t>
            </a:r>
          </a:p>
        </p:txBody>
      </p:sp>
      <p:sp>
        <p:nvSpPr>
          <p:cNvPr id="5" name="takeaway-box-5">
            <a:extLst xmlns:a="http://schemas.openxmlformats.org/drawingml/2006/main">
              <a:ext uri="{FF2B5EF4-FFF2-40B4-BE49-F238E27FC236}">
                <a16:creationId xmlns:a16="http://schemas.microsoft.com/office/drawing/2014/main" id="{DE3B108E-8049-4240-A6A2-100E31DC194E}"/>
              </a:ext>
            </a:extLst>
          </p:cNvPr>
          <p:cNvSpPr>
            <a:spLocks xmlns:a="http://schemas.openxmlformats.org/drawingml/2006/main" noGrp="1"/>
          </p:cNvSpPr>
          <p:nvPr/>
        </p:nvSpPr>
        <p:spPr>
          <a:xfrm xmlns:a="http://schemas.openxmlformats.org/drawingml/2006/main">
            <a:off x="6858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5">
            <a:extLst xmlns:a="http://schemas.openxmlformats.org/drawingml/2006/main">
              <a:ext uri="{FF2B5EF4-FFF2-40B4-BE49-F238E27FC236}">
                <a16:creationId xmlns:a16="http://schemas.microsoft.com/office/drawing/2014/main" id="{99A78BF4-095C-4223-BF29-17572B35946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5">
            <a:extLst xmlns:a="http://schemas.openxmlformats.org/drawingml/2006/main">
              <a:ext uri="{FF2B5EF4-FFF2-40B4-BE49-F238E27FC236}">
                <a16:creationId xmlns:a16="http://schemas.microsoft.com/office/drawing/2014/main" id="{405D546E-438C-493C-BCDB-8001A6EB4F42}"/>
              </a:ext>
            </a:extLst>
          </p:cNvPr>
          <p:cNvSpPr>
            <a:spLocks xmlns:a="http://schemas.openxmlformats.org/drawingml/2006/main" noGrp="1"/>
          </p:cNvSpPr>
          <p:nvPr/>
        </p:nvSpPr>
        <p:spPr>
          <a:xfrm xmlns:a="http://schemas.openxmlformats.org/drawingml/2006/main">
            <a:off x="9525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76B3A"/>
                </a:solidFill>
              </a:defRPr>
            </a:pPr>
            <a:r>
              <a:rPr sz="1500" b="1">
                <a:solidFill>
                  <a:srgbClr val="176B3A"/>
                </a:solidFill>
              </a:rPr>
              <a:t>Deelnemers hoeven niets op het grote scherm te scannen.</a:t>
            </a:r>
          </a:p>
        </p:txBody>
      </p:sp>
      <p:sp>
        <p:nvSpPr>
          <p:cNvPr id="8" name="image-frame-deelnemersbriefje.jpg">
            <a:extLst xmlns:a="http://schemas.openxmlformats.org/drawingml/2006/main">
              <a:ext uri="{FF2B5EF4-FFF2-40B4-BE49-F238E27FC236}">
                <a16:creationId xmlns:a16="http://schemas.microsoft.com/office/drawing/2014/main" id="{4C18FA7B-CCF1-47CC-856F-CC668D7A08ED}"/>
              </a:ext>
            </a:extLst>
          </p:cNvPr>
          <p:cNvSpPr>
            <a:spLocks xmlns:a="http://schemas.openxmlformats.org/drawingml/2006/main" noGrp="1"/>
          </p:cNvSpPr>
          <p:nvPr/>
        </p:nvSpPr>
        <p:spPr>
          <a:xfrm xmlns:a="http://schemas.openxmlformats.org/drawingml/2006/main">
            <a:off x="51244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4534e4a325bc41fc"/>
          <a:stretch xmlns:a="http://schemas.openxmlformats.org/drawingml/2006/main"/>
        </p:blipFill>
        <p:spPr>
          <a:xfrm xmlns:a="http://schemas.openxmlformats.org/drawingml/2006/main">
            <a:off x="5223747" y="1600200"/>
            <a:ext cx="6278406" cy="3533775"/>
          </a:xfrm>
          <a:prstGeom xmlns:a="http://schemas.openxmlformats.org/drawingml/2006/main" prst="roundRect">
            <a:avLst>
              <a:gd name="adj" fmla="val 3235"/>
            </a:avLst>
          </a:prstGeom>
        </p:spPr>
      </p:pic>
      <p:sp>
        <p:nvSpPr>
          <p:cNvPr id="10" name="image-caption-5">
            <a:extLst xmlns:a="http://schemas.openxmlformats.org/drawingml/2006/main">
              <a:ext uri="{FF2B5EF4-FFF2-40B4-BE49-F238E27FC236}">
                <a16:creationId xmlns:a16="http://schemas.microsoft.com/office/drawing/2014/main" id="{7F7CA387-2A91-43E4-82C8-1C86D671A74C}"/>
              </a:ext>
            </a:extLst>
          </p:cNvPr>
          <p:cNvSpPr>
            <a:spLocks xmlns:a="http://schemas.openxmlformats.org/drawingml/2006/main" noGrp="1"/>
          </p:cNvSpPr>
          <p:nvPr/>
        </p:nvSpPr>
        <p:spPr>
          <a:xfrm xmlns:a="http://schemas.openxmlformats.org/drawingml/2006/main">
            <a:off x="52197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526273"/>
                </a:solidFill>
              </a:defRPr>
            </a:pPr>
            <a:r>
              <a:rPr sz="1050" b="1">
                <a:solidFill>
                  <a:srgbClr val="526273"/>
                </a:solidFill>
              </a:rPr>
              <a:t>Echt scherm uit de quiz</a:t>
            </a:r>
          </a:p>
        </p:txBody>
      </p:sp>
      <p:sp>
        <p:nvSpPr>
          <p:cNvPr id="11" name="progress-5">
            <a:extLst xmlns:a="http://schemas.openxmlformats.org/drawingml/2006/main">
              <a:ext uri="{FF2B5EF4-FFF2-40B4-BE49-F238E27FC236}">
                <a16:creationId xmlns:a16="http://schemas.microsoft.com/office/drawing/2014/main" id="{17AFB382-3B87-4982-92B7-9A479EFEE84C}"/>
              </a:ext>
            </a:extLst>
          </p:cNvPr>
          <p:cNvSpPr>
            <a:spLocks xmlns:a="http://schemas.openxmlformats.org/drawingml/2006/main" noGrp="1"/>
          </p:cNvSpPr>
          <p:nvPr/>
        </p:nvSpPr>
        <p:spPr>
          <a:xfrm xmlns:a="http://schemas.openxmlformats.org/drawingml/2006/main">
            <a:off x="0" y="6800850"/>
            <a:ext cx="5080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5">
            <a:extLst xmlns:a="http://schemas.openxmlformats.org/drawingml/2006/main">
              <a:ext uri="{FF2B5EF4-FFF2-40B4-BE49-F238E27FC236}">
                <a16:creationId xmlns:a16="http://schemas.microsoft.com/office/drawing/2014/main" id="{8EB57CB4-B979-44B2-9DE9-AA242DEE10A8}"/>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526273"/>
                </a:solidFill>
              </a:defRPr>
            </a:pPr>
            <a:r>
              <a:rPr sz="1050">
                <a:solidFill>
                  <a:srgbClr val="526273"/>
                </a:solidFill>
              </a:rPr>
              <a:t>Live Diabetes Quiz</a:t>
            </a:r>
          </a:p>
        </p:txBody>
      </p:sp>
      <p:sp>
        <p:nvSpPr>
          <p:cNvPr id="13" name="footer-number-5">
            <a:extLst xmlns:a="http://schemas.openxmlformats.org/drawingml/2006/main">
              <a:ext uri="{FF2B5EF4-FFF2-40B4-BE49-F238E27FC236}">
                <a16:creationId xmlns:a16="http://schemas.microsoft.com/office/drawing/2014/main" id="{65960C30-E7DC-47D8-BF67-D5C8F53120AF}"/>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a:solidFill>
                  <a:srgbClr val="526273"/>
                </a:solidFill>
              </a:defRPr>
            </a:pPr>
            <a:r>
              <a:rPr sz="1050">
                <a:solidFill>
                  <a:srgbClr val="526273"/>
                </a:solidFill>
              </a:rPr>
              <a:t>05 / 12</a:t>
            </a:r>
          </a:p>
        </p:txBody>
      </p:sp>
    </p:spTree>
    <p:extLst>
      <p:ext uri="{BB962C8B-B14F-4D97-AF65-F5344CB8AC3E}">
        <p14:creationId xmlns:p14="http://schemas.microsoft.com/office/powerpoint/2010/main" val="775123178"/>
      </p:ext>
    </p:extLst>
  </p:cSld>
</p:sld>
</file>

<file path=ppt/slides/slide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6">
            <a:extLst xmlns:a="http://schemas.openxmlformats.org/drawingml/2006/main">
              <a:ext uri="{FF2B5EF4-FFF2-40B4-BE49-F238E27FC236}">
                <a16:creationId xmlns:a16="http://schemas.microsoft.com/office/drawing/2014/main" id="{7F10629C-3BAF-4403-A10F-B96F5B83EAB8}"/>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86B9C"/>
                </a:solidFill>
              </a:defRPr>
            </a:pPr>
            <a:r>
              <a:rPr sz="1125" b="1">
                <a:solidFill>
                  <a:srgbClr val="086B9C"/>
                </a:solidFill>
              </a:rPr>
              <a:t>STAP 4 · DEELNEMER VERBONDEN</a:t>
            </a:r>
          </a:p>
        </p:txBody>
      </p:sp>
      <p:sp>
        <p:nvSpPr>
          <p:cNvPr id="2" name="title-6">
            <a:extLst xmlns:a="http://schemas.openxmlformats.org/drawingml/2006/main">
              <a:ext uri="{FF2B5EF4-FFF2-40B4-BE49-F238E27FC236}">
                <a16:creationId xmlns:a16="http://schemas.microsoft.com/office/drawing/2014/main" id="{5D0FD0FC-265D-4B5E-9B10-815DDD4F072A}"/>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925" b="1">
                <a:solidFill>
                  <a:srgbClr val="17212B"/>
                </a:solidFill>
              </a:defRPr>
            </a:pPr>
            <a:r>
              <a:rPr sz="2925" b="1">
                <a:solidFill>
                  <a:srgbClr val="17212B"/>
                </a:solidFill>
              </a:rPr>
              <a:t>Na het verbinden hoeft men alleen te wachten</a:t>
            </a:r>
          </a:p>
        </p:txBody>
      </p:sp>
      <p:sp>
        <p:nvSpPr>
          <p:cNvPr id="3" name="accent-6">
            <a:extLst xmlns:a="http://schemas.openxmlformats.org/drawingml/2006/main">
              <a:ext uri="{FF2B5EF4-FFF2-40B4-BE49-F238E27FC236}">
                <a16:creationId xmlns:a16="http://schemas.microsoft.com/office/drawing/2014/main" id="{F31EAB4C-80C4-4F87-B5CF-DF800A6A44D7}"/>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6">
            <a:extLst xmlns:a="http://schemas.openxmlformats.org/drawingml/2006/main">
              <a:ext uri="{FF2B5EF4-FFF2-40B4-BE49-F238E27FC236}">
                <a16:creationId xmlns:a16="http://schemas.microsoft.com/office/drawing/2014/main" id="{AD627647-69A5-4676-A93C-31B6AF348C63}"/>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7212B"/>
                </a:solidFill>
              </a:defRPr>
            </a:pPr>
            <a:r>
              <a:rPr sz="1725">
                <a:solidFill>
                  <a:srgbClr val="17212B"/>
                </a:solidFill>
              </a:rPr>
              <a:t>• De quizcode wordt bevestigd</a:t>
            </a:r>
          </a:p>
          <a:p xmlns:a="http://schemas.openxmlformats.org/drawingml/2006/main">
            <a:pPr>
              <a:buNone/>
              <a:defRPr sz="1725">
                <a:solidFill>
                  <a:srgbClr val="17212B"/>
                </a:solidFill>
              </a:defRPr>
            </a:pPr>
            <a:r>
              <a:rPr sz="1725">
                <a:solidFill>
                  <a:srgbClr val="17212B"/>
                </a:solidFill>
              </a:rPr>
              <a:t>• De status toont Wachtkamer</a:t>
            </a:r>
          </a:p>
          <a:p xmlns:a="http://schemas.openxmlformats.org/drawingml/2006/main">
            <a:pPr>
              <a:buNone/>
              <a:defRPr sz="1725">
                <a:solidFill>
                  <a:srgbClr val="17212B"/>
                </a:solidFill>
              </a:defRPr>
            </a:pPr>
            <a:r>
              <a:rPr sz="1725">
                <a:solidFill>
                  <a:srgbClr val="17212B"/>
                </a:solidFill>
              </a:rPr>
              <a:t>• Nieuwe vragen verschijnen vanzelf</a:t>
            </a:r>
          </a:p>
        </p:txBody>
      </p:sp>
      <p:sp>
        <p:nvSpPr>
          <p:cNvPr id="5" name="takeaway-box-6">
            <a:extLst xmlns:a="http://schemas.openxmlformats.org/drawingml/2006/main">
              <a:ext uri="{FF2B5EF4-FFF2-40B4-BE49-F238E27FC236}">
                <a16:creationId xmlns:a16="http://schemas.microsoft.com/office/drawing/2014/main" id="{1D58E47E-92AF-4A52-B440-368B723D0CC6}"/>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6">
            <a:extLst xmlns:a="http://schemas.openxmlformats.org/drawingml/2006/main">
              <a:ext uri="{FF2B5EF4-FFF2-40B4-BE49-F238E27FC236}">
                <a16:creationId xmlns:a16="http://schemas.microsoft.com/office/drawing/2014/main" id="{3AB23B1B-9632-4A8A-BDAE-5FC290844DF7}"/>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6">
            <a:extLst xmlns:a="http://schemas.openxmlformats.org/drawingml/2006/main">
              <a:ext uri="{FF2B5EF4-FFF2-40B4-BE49-F238E27FC236}">
                <a16:creationId xmlns:a16="http://schemas.microsoft.com/office/drawing/2014/main" id="{8EF545B0-9A70-4F49-98D7-6A44DADB320E}"/>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76B3A"/>
                </a:solidFill>
              </a:defRPr>
            </a:pPr>
            <a:r>
              <a:rPr sz="1500" b="1">
                <a:solidFill>
                  <a:srgbClr val="176B3A"/>
                </a:solidFill>
              </a:rPr>
              <a:t>Laat de pagina open; vernieuwen of opnieuw scannen is niet nodig.</a:t>
            </a:r>
          </a:p>
        </p:txBody>
      </p:sp>
      <p:sp>
        <p:nvSpPr>
          <p:cNvPr id="8" name="image-frame-deelnemer-wachtkamer.jpg">
            <a:extLst xmlns:a="http://schemas.openxmlformats.org/drawingml/2006/main">
              <a:ext uri="{FF2B5EF4-FFF2-40B4-BE49-F238E27FC236}">
                <a16:creationId xmlns:a16="http://schemas.microsoft.com/office/drawing/2014/main" id="{DCFCDF01-D4FD-4140-B9D9-8562F9379DD4}"/>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8c643d6d03c4a28"/>
          <a:stretch xmlns:a="http://schemas.openxmlformats.org/drawingml/2006/main"/>
        </p:blipFill>
        <p:spPr>
          <a:xfrm xmlns:a="http://schemas.openxmlformats.org/drawingml/2006/main">
            <a:off x="687917" y="1600200"/>
            <a:ext cx="6282267" cy="3533775"/>
          </a:xfrm>
          <a:prstGeom xmlns:a="http://schemas.openxmlformats.org/drawingml/2006/main" prst="roundRect">
            <a:avLst>
              <a:gd name="adj" fmla="val 3235"/>
            </a:avLst>
          </a:prstGeom>
        </p:spPr>
      </p:pic>
      <p:sp>
        <p:nvSpPr>
          <p:cNvPr id="10" name="image-caption-6">
            <a:extLst xmlns:a="http://schemas.openxmlformats.org/drawingml/2006/main">
              <a:ext uri="{FF2B5EF4-FFF2-40B4-BE49-F238E27FC236}">
                <a16:creationId xmlns:a16="http://schemas.microsoft.com/office/drawing/2014/main" id="{113989F2-9FF6-4356-B9FD-736E99C6EDF7}"/>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526273"/>
                </a:solidFill>
              </a:defRPr>
            </a:pPr>
            <a:r>
              <a:rPr sz="1050" b="1">
                <a:solidFill>
                  <a:srgbClr val="526273"/>
                </a:solidFill>
              </a:rPr>
              <a:t>Echt scherm uit de quiz</a:t>
            </a:r>
          </a:p>
        </p:txBody>
      </p:sp>
      <p:sp>
        <p:nvSpPr>
          <p:cNvPr id="11" name="progress-6">
            <a:extLst xmlns:a="http://schemas.openxmlformats.org/drawingml/2006/main">
              <a:ext uri="{FF2B5EF4-FFF2-40B4-BE49-F238E27FC236}">
                <a16:creationId xmlns:a16="http://schemas.microsoft.com/office/drawing/2014/main" id="{44EC848F-9163-47B3-83E1-B449202315E0}"/>
              </a:ext>
            </a:extLst>
          </p:cNvPr>
          <p:cNvSpPr>
            <a:spLocks xmlns:a="http://schemas.openxmlformats.org/drawingml/2006/main" noGrp="1"/>
          </p:cNvSpPr>
          <p:nvPr/>
        </p:nvSpPr>
        <p:spPr>
          <a:xfrm xmlns:a="http://schemas.openxmlformats.org/drawingml/2006/main">
            <a:off x="0" y="6800850"/>
            <a:ext cx="6096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6">
            <a:extLst xmlns:a="http://schemas.openxmlformats.org/drawingml/2006/main">
              <a:ext uri="{FF2B5EF4-FFF2-40B4-BE49-F238E27FC236}">
                <a16:creationId xmlns:a16="http://schemas.microsoft.com/office/drawing/2014/main" id="{F6FE8A9F-E219-44BC-8AFA-8DF542ADA438}"/>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526273"/>
                </a:solidFill>
              </a:defRPr>
            </a:pPr>
            <a:r>
              <a:rPr sz="1050">
                <a:solidFill>
                  <a:srgbClr val="526273"/>
                </a:solidFill>
              </a:rPr>
              <a:t>Live Diabetes Quiz</a:t>
            </a:r>
          </a:p>
        </p:txBody>
      </p:sp>
      <p:sp>
        <p:nvSpPr>
          <p:cNvPr id="13" name="footer-number-6">
            <a:extLst xmlns:a="http://schemas.openxmlformats.org/drawingml/2006/main">
              <a:ext uri="{FF2B5EF4-FFF2-40B4-BE49-F238E27FC236}">
                <a16:creationId xmlns:a16="http://schemas.microsoft.com/office/drawing/2014/main" id="{E970E04B-8936-4156-9590-422DB1252D87}"/>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a:solidFill>
                  <a:srgbClr val="526273"/>
                </a:solidFill>
              </a:defRPr>
            </a:pPr>
            <a:r>
              <a:rPr sz="1050">
                <a:solidFill>
                  <a:srgbClr val="526273"/>
                </a:solidFill>
              </a:rPr>
              <a:t>06 / 12</a:t>
            </a:r>
          </a:p>
        </p:txBody>
      </p:sp>
    </p:spTree>
    <p:extLst>
      <p:ext uri="{BB962C8B-B14F-4D97-AF65-F5344CB8AC3E}">
        <p14:creationId xmlns:p14="http://schemas.microsoft.com/office/powerpoint/2010/main" val="1458222356"/>
      </p:ext>
    </p:extLst>
  </p:cSld>
</p:sld>
</file>

<file path=ppt/slides/slide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7">
            <a:extLst xmlns:a="http://schemas.openxmlformats.org/drawingml/2006/main">
              <a:ext uri="{FF2B5EF4-FFF2-40B4-BE49-F238E27FC236}">
                <a16:creationId xmlns:a16="http://schemas.microsoft.com/office/drawing/2014/main" id="{C5AD9660-40B5-434F-A19E-5031BF84E4BE}"/>
              </a:ext>
            </a:extLst>
          </p:cNvPr>
          <p:cNvSpPr>
            <a:spLocks xmlns:a="http://schemas.openxmlformats.org/drawingml/2006/main" noGrp="1"/>
          </p:cNvSpPr>
          <p:nvPr/>
        </p:nvSpPr>
        <p:spPr>
          <a:xfrm xmlns:a="http://schemas.openxmlformats.org/drawingml/2006/main">
            <a:off x="6858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86B9C"/>
                </a:solidFill>
              </a:defRPr>
            </a:pPr>
            <a:r>
              <a:rPr sz="1125" b="1">
                <a:solidFill>
                  <a:srgbClr val="086B9C"/>
                </a:solidFill>
              </a:rPr>
              <a:t>STAP 5 · ANTWOORDEN OP DE GSM</a:t>
            </a:r>
          </a:p>
        </p:txBody>
      </p:sp>
      <p:sp>
        <p:nvSpPr>
          <p:cNvPr id="2" name="title-7">
            <a:extLst xmlns:a="http://schemas.openxmlformats.org/drawingml/2006/main">
              <a:ext uri="{FF2B5EF4-FFF2-40B4-BE49-F238E27FC236}">
                <a16:creationId xmlns:a16="http://schemas.microsoft.com/office/drawing/2014/main" id="{6F782A20-9613-48CE-B165-6070FF76FB82}"/>
              </a:ext>
            </a:extLst>
          </p:cNvPr>
          <p:cNvSpPr>
            <a:spLocks xmlns:a="http://schemas.openxmlformats.org/drawingml/2006/main" noGrp="1"/>
          </p:cNvSpPr>
          <p:nvPr/>
        </p:nvSpPr>
        <p:spPr>
          <a:xfrm xmlns:a="http://schemas.openxmlformats.org/drawingml/2006/main">
            <a:off x="6858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925" b="1">
                <a:solidFill>
                  <a:srgbClr val="17212B"/>
                </a:solidFill>
              </a:defRPr>
            </a:pPr>
            <a:r>
              <a:rPr sz="2925" b="1">
                <a:solidFill>
                  <a:srgbClr val="17212B"/>
                </a:solidFill>
              </a:rPr>
              <a:t>Iedere deelnemer kiest één antwoord</a:t>
            </a:r>
          </a:p>
        </p:txBody>
      </p:sp>
      <p:sp>
        <p:nvSpPr>
          <p:cNvPr id="3" name="accent-7">
            <a:extLst xmlns:a="http://schemas.openxmlformats.org/drawingml/2006/main">
              <a:ext uri="{FF2B5EF4-FFF2-40B4-BE49-F238E27FC236}">
                <a16:creationId xmlns:a16="http://schemas.microsoft.com/office/drawing/2014/main" id="{100D0F5E-8734-4AEC-8FA7-26913DB8DA9F}"/>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7">
            <a:extLst xmlns:a="http://schemas.openxmlformats.org/drawingml/2006/main">
              <a:ext uri="{FF2B5EF4-FFF2-40B4-BE49-F238E27FC236}">
                <a16:creationId xmlns:a16="http://schemas.microsoft.com/office/drawing/2014/main" id="{1B4C648C-3C44-43D5-B2E2-2AEA6B71B370}"/>
              </a:ext>
            </a:extLst>
          </p:cNvPr>
          <p:cNvSpPr>
            <a:spLocks xmlns:a="http://schemas.openxmlformats.org/drawingml/2006/main" noGrp="1"/>
          </p:cNvSpPr>
          <p:nvPr/>
        </p:nvSpPr>
        <p:spPr>
          <a:xfrm xmlns:a="http://schemas.openxmlformats.org/drawingml/2006/main">
            <a:off x="6858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7212B"/>
                </a:solidFill>
              </a:defRPr>
            </a:pPr>
            <a:r>
              <a:rPr sz="1725">
                <a:solidFill>
                  <a:srgbClr val="17212B"/>
                </a:solidFill>
              </a:rPr>
              <a:t>• Eén duidelijke vraag</a:t>
            </a:r>
          </a:p>
          <a:p xmlns:a="http://schemas.openxmlformats.org/drawingml/2006/main">
            <a:pPr>
              <a:buNone/>
              <a:defRPr sz="1725">
                <a:solidFill>
                  <a:srgbClr val="17212B"/>
                </a:solidFill>
              </a:defRPr>
            </a:pPr>
            <a:r>
              <a:rPr sz="1725">
                <a:solidFill>
                  <a:srgbClr val="17212B"/>
                </a:solidFill>
              </a:rPr>
              <a:t>• Vier grote antwoordknoppen</a:t>
            </a:r>
          </a:p>
          <a:p xmlns:a="http://schemas.openxmlformats.org/drawingml/2006/main">
            <a:pPr>
              <a:buNone/>
              <a:defRPr sz="1725">
                <a:solidFill>
                  <a:srgbClr val="17212B"/>
                </a:solidFill>
              </a:defRPr>
            </a:pPr>
            <a:r>
              <a:rPr sz="1725">
                <a:solidFill>
                  <a:srgbClr val="17212B"/>
                </a:solidFill>
              </a:rPr>
              <a:t>• Ieder antwoord wordt één keer bewaard</a:t>
            </a:r>
          </a:p>
        </p:txBody>
      </p:sp>
      <p:sp>
        <p:nvSpPr>
          <p:cNvPr id="5" name="takeaway-box-7">
            <a:extLst xmlns:a="http://schemas.openxmlformats.org/drawingml/2006/main">
              <a:ext uri="{FF2B5EF4-FFF2-40B4-BE49-F238E27FC236}">
                <a16:creationId xmlns:a16="http://schemas.microsoft.com/office/drawing/2014/main" id="{7B0EECD6-1A1A-4E91-AEFB-D7493989D8D6}"/>
              </a:ext>
            </a:extLst>
          </p:cNvPr>
          <p:cNvSpPr>
            <a:spLocks xmlns:a="http://schemas.openxmlformats.org/drawingml/2006/main" noGrp="1"/>
          </p:cNvSpPr>
          <p:nvPr/>
        </p:nvSpPr>
        <p:spPr>
          <a:xfrm xmlns:a="http://schemas.openxmlformats.org/drawingml/2006/main">
            <a:off x="6858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7">
            <a:extLst xmlns:a="http://schemas.openxmlformats.org/drawingml/2006/main">
              <a:ext uri="{FF2B5EF4-FFF2-40B4-BE49-F238E27FC236}">
                <a16:creationId xmlns:a16="http://schemas.microsoft.com/office/drawing/2014/main" id="{86599182-4DE1-4757-B78B-940C665E4B81}"/>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7">
            <a:extLst xmlns:a="http://schemas.openxmlformats.org/drawingml/2006/main">
              <a:ext uri="{FF2B5EF4-FFF2-40B4-BE49-F238E27FC236}">
                <a16:creationId xmlns:a16="http://schemas.microsoft.com/office/drawing/2014/main" id="{ED2BCB9F-5558-45B5-ACFB-210C346DF319}"/>
              </a:ext>
            </a:extLst>
          </p:cNvPr>
          <p:cNvSpPr>
            <a:spLocks xmlns:a="http://schemas.openxmlformats.org/drawingml/2006/main" noGrp="1"/>
          </p:cNvSpPr>
          <p:nvPr/>
        </p:nvSpPr>
        <p:spPr>
          <a:xfrm xmlns:a="http://schemas.openxmlformats.org/drawingml/2006/main">
            <a:off x="9525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76B3A"/>
                </a:solidFill>
              </a:defRPr>
            </a:pPr>
            <a:r>
              <a:rPr sz="1500" b="1">
                <a:solidFill>
                  <a:srgbClr val="176B3A"/>
                </a:solidFill>
              </a:rPr>
              <a:t>De grote knoppen zijn bewust eenvoudig gehouden voor gebruik op de gsm.</a:t>
            </a:r>
          </a:p>
        </p:txBody>
      </p:sp>
      <p:sp>
        <p:nvSpPr>
          <p:cNvPr id="8" name="image-frame-deelnemer-vraag.jpg">
            <a:extLst xmlns:a="http://schemas.openxmlformats.org/drawingml/2006/main">
              <a:ext uri="{FF2B5EF4-FFF2-40B4-BE49-F238E27FC236}">
                <a16:creationId xmlns:a16="http://schemas.microsoft.com/office/drawing/2014/main" id="{14DD711A-1B0E-4F6F-9A85-6FDA5C3A215A}"/>
              </a:ext>
            </a:extLst>
          </p:cNvPr>
          <p:cNvSpPr>
            <a:spLocks xmlns:a="http://schemas.openxmlformats.org/drawingml/2006/main" noGrp="1"/>
          </p:cNvSpPr>
          <p:nvPr/>
        </p:nvSpPr>
        <p:spPr>
          <a:xfrm xmlns:a="http://schemas.openxmlformats.org/drawingml/2006/main">
            <a:off x="51244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abc63ad042a48cf"/>
          <a:stretch xmlns:a="http://schemas.openxmlformats.org/drawingml/2006/main"/>
        </p:blipFill>
        <p:spPr>
          <a:xfrm xmlns:a="http://schemas.openxmlformats.org/drawingml/2006/main">
            <a:off x="5223747" y="1600200"/>
            <a:ext cx="6278406" cy="3533775"/>
          </a:xfrm>
          <a:prstGeom xmlns:a="http://schemas.openxmlformats.org/drawingml/2006/main" prst="roundRect">
            <a:avLst>
              <a:gd name="adj" fmla="val 3235"/>
            </a:avLst>
          </a:prstGeom>
        </p:spPr>
      </p:pic>
      <p:sp>
        <p:nvSpPr>
          <p:cNvPr id="10" name="image-caption-7">
            <a:extLst xmlns:a="http://schemas.openxmlformats.org/drawingml/2006/main">
              <a:ext uri="{FF2B5EF4-FFF2-40B4-BE49-F238E27FC236}">
                <a16:creationId xmlns:a16="http://schemas.microsoft.com/office/drawing/2014/main" id="{7D63C320-E8F8-4CCD-965B-E41B468AAB66}"/>
              </a:ext>
            </a:extLst>
          </p:cNvPr>
          <p:cNvSpPr>
            <a:spLocks xmlns:a="http://schemas.openxmlformats.org/drawingml/2006/main" noGrp="1"/>
          </p:cNvSpPr>
          <p:nvPr/>
        </p:nvSpPr>
        <p:spPr>
          <a:xfrm xmlns:a="http://schemas.openxmlformats.org/drawingml/2006/main">
            <a:off x="52197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526273"/>
                </a:solidFill>
              </a:defRPr>
            </a:pPr>
            <a:r>
              <a:rPr sz="1050" b="1">
                <a:solidFill>
                  <a:srgbClr val="526273"/>
                </a:solidFill>
              </a:rPr>
              <a:t>Echt scherm uit de quiz</a:t>
            </a:r>
          </a:p>
        </p:txBody>
      </p:sp>
      <p:sp>
        <p:nvSpPr>
          <p:cNvPr id="11" name="progress-7">
            <a:extLst xmlns:a="http://schemas.openxmlformats.org/drawingml/2006/main">
              <a:ext uri="{FF2B5EF4-FFF2-40B4-BE49-F238E27FC236}">
                <a16:creationId xmlns:a16="http://schemas.microsoft.com/office/drawing/2014/main" id="{685E54CB-C657-4334-A4D0-D8EDF9786CC1}"/>
              </a:ext>
            </a:extLst>
          </p:cNvPr>
          <p:cNvSpPr>
            <a:spLocks xmlns:a="http://schemas.openxmlformats.org/drawingml/2006/main" noGrp="1"/>
          </p:cNvSpPr>
          <p:nvPr/>
        </p:nvSpPr>
        <p:spPr>
          <a:xfrm xmlns:a="http://schemas.openxmlformats.org/drawingml/2006/main">
            <a:off x="0" y="6800850"/>
            <a:ext cx="7112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7">
            <a:extLst xmlns:a="http://schemas.openxmlformats.org/drawingml/2006/main">
              <a:ext uri="{FF2B5EF4-FFF2-40B4-BE49-F238E27FC236}">
                <a16:creationId xmlns:a16="http://schemas.microsoft.com/office/drawing/2014/main" id="{E05D23DD-2E87-4BBC-BEEB-731A71771E4C}"/>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526273"/>
                </a:solidFill>
              </a:defRPr>
            </a:pPr>
            <a:r>
              <a:rPr sz="1050">
                <a:solidFill>
                  <a:srgbClr val="526273"/>
                </a:solidFill>
              </a:rPr>
              <a:t>Live Diabetes Quiz</a:t>
            </a:r>
          </a:p>
        </p:txBody>
      </p:sp>
      <p:sp>
        <p:nvSpPr>
          <p:cNvPr id="13" name="footer-number-7">
            <a:extLst xmlns:a="http://schemas.openxmlformats.org/drawingml/2006/main">
              <a:ext uri="{FF2B5EF4-FFF2-40B4-BE49-F238E27FC236}">
                <a16:creationId xmlns:a16="http://schemas.microsoft.com/office/drawing/2014/main" id="{003A3AA8-B098-4038-B690-FBDEFFA51EE3}"/>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a:solidFill>
                  <a:srgbClr val="526273"/>
                </a:solidFill>
              </a:defRPr>
            </a:pPr>
            <a:r>
              <a:rPr sz="1050">
                <a:solidFill>
                  <a:srgbClr val="526273"/>
                </a:solidFill>
              </a:rPr>
              <a:t>07 / 12</a:t>
            </a:r>
          </a:p>
        </p:txBody>
      </p:sp>
    </p:spTree>
    <p:extLst>
      <p:ext uri="{BB962C8B-B14F-4D97-AF65-F5344CB8AC3E}">
        <p14:creationId xmlns:p14="http://schemas.microsoft.com/office/powerpoint/2010/main" val="1040554637"/>
      </p:ext>
    </p:extLst>
  </p:cSld>
</p:sld>
</file>

<file path=ppt/slides/slide8.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8">
            <a:extLst xmlns:a="http://schemas.openxmlformats.org/drawingml/2006/main">
              <a:ext uri="{FF2B5EF4-FFF2-40B4-BE49-F238E27FC236}">
                <a16:creationId xmlns:a16="http://schemas.microsoft.com/office/drawing/2014/main" id="{4C120874-D29A-4707-9268-85763C46A398}"/>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86B9C"/>
                </a:solidFill>
              </a:defRPr>
            </a:pPr>
            <a:r>
              <a:rPr sz="1125" b="1">
                <a:solidFill>
                  <a:srgbClr val="086B9C"/>
                </a:solidFill>
              </a:rPr>
              <a:t>STAP 6 · DE VRAGEN BEDIENEN</a:t>
            </a:r>
          </a:p>
        </p:txBody>
      </p:sp>
      <p:sp>
        <p:nvSpPr>
          <p:cNvPr id="2" name="title-8">
            <a:extLst xmlns:a="http://schemas.openxmlformats.org/drawingml/2006/main">
              <a:ext uri="{FF2B5EF4-FFF2-40B4-BE49-F238E27FC236}">
                <a16:creationId xmlns:a16="http://schemas.microsoft.com/office/drawing/2014/main" id="{86F048A7-10F2-4659-B06A-0F4CB8914AC2}"/>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925" b="1">
                <a:solidFill>
                  <a:srgbClr val="17212B"/>
                </a:solidFill>
              </a:defRPr>
            </a:pPr>
            <a:r>
              <a:rPr sz="2925" b="1">
                <a:solidFill>
                  <a:srgbClr val="17212B"/>
                </a:solidFill>
              </a:rPr>
              <a:t>De quizmaster houdt het overzicht</a:t>
            </a:r>
          </a:p>
        </p:txBody>
      </p:sp>
      <p:sp>
        <p:nvSpPr>
          <p:cNvPr id="3" name="accent-8">
            <a:extLst xmlns:a="http://schemas.openxmlformats.org/drawingml/2006/main">
              <a:ext uri="{FF2B5EF4-FFF2-40B4-BE49-F238E27FC236}">
                <a16:creationId xmlns:a16="http://schemas.microsoft.com/office/drawing/2014/main" id="{F5ACD563-D700-4390-81D2-CE221DC2BFDD}"/>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8">
            <a:extLst xmlns:a="http://schemas.openxmlformats.org/drawingml/2006/main">
              <a:ext uri="{FF2B5EF4-FFF2-40B4-BE49-F238E27FC236}">
                <a16:creationId xmlns:a16="http://schemas.microsoft.com/office/drawing/2014/main" id="{B458D6F4-DB80-479D-BFCA-FE5F263E650A}"/>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7212B"/>
                </a:solidFill>
              </a:defRPr>
            </a:pPr>
            <a:r>
              <a:rPr sz="1725">
                <a:solidFill>
                  <a:srgbClr val="17212B"/>
                </a:solidFill>
              </a:rPr>
              <a:t>• Hoeveel deelnemers zijn verbonden?</a:t>
            </a:r>
          </a:p>
          <a:p xmlns:a="http://schemas.openxmlformats.org/drawingml/2006/main">
            <a:pPr>
              <a:buNone/>
              <a:defRPr sz="1725">
                <a:solidFill>
                  <a:srgbClr val="17212B"/>
                </a:solidFill>
              </a:defRPr>
            </a:pPr>
            <a:r>
              <a:rPr sz="1725">
                <a:solidFill>
                  <a:srgbClr val="17212B"/>
                </a:solidFill>
              </a:rPr>
              <a:t>• Hoeveel antwoorden zijn ontvangen?</a:t>
            </a:r>
          </a:p>
          <a:p xmlns:a="http://schemas.openxmlformats.org/drawingml/2006/main">
            <a:pPr>
              <a:buNone/>
              <a:defRPr sz="1725">
                <a:solidFill>
                  <a:srgbClr val="17212B"/>
                </a:solidFill>
              </a:defRPr>
            </a:pPr>
            <a:r>
              <a:rPr sz="1725">
                <a:solidFill>
                  <a:srgbClr val="17212B"/>
                </a:solidFill>
              </a:rPr>
              <a:t>• Wanneer kan de vraag worden gesloten?</a:t>
            </a:r>
          </a:p>
        </p:txBody>
      </p:sp>
      <p:sp>
        <p:nvSpPr>
          <p:cNvPr id="5" name="takeaway-box-8">
            <a:extLst xmlns:a="http://schemas.openxmlformats.org/drawingml/2006/main">
              <a:ext uri="{FF2B5EF4-FFF2-40B4-BE49-F238E27FC236}">
                <a16:creationId xmlns:a16="http://schemas.microsoft.com/office/drawing/2014/main" id="{ADD49A95-7C96-42A0-91BF-D54236F15762}"/>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8">
            <a:extLst xmlns:a="http://schemas.openxmlformats.org/drawingml/2006/main">
              <a:ext uri="{FF2B5EF4-FFF2-40B4-BE49-F238E27FC236}">
                <a16:creationId xmlns:a16="http://schemas.microsoft.com/office/drawing/2014/main" id="{405C9E40-8355-4B28-A5F3-9AD751802A99}"/>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8">
            <a:extLst xmlns:a="http://schemas.openxmlformats.org/drawingml/2006/main">
              <a:ext uri="{FF2B5EF4-FFF2-40B4-BE49-F238E27FC236}">
                <a16:creationId xmlns:a16="http://schemas.microsoft.com/office/drawing/2014/main" id="{B42CDDF9-D274-4D5D-8BEB-30593C26307F}"/>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76B3A"/>
                </a:solidFill>
              </a:defRPr>
            </a:pPr>
            <a:r>
              <a:rPr sz="1500" b="1">
                <a:solidFill>
                  <a:srgbClr val="176B3A"/>
                </a:solidFill>
              </a:rPr>
              <a:t>De quizmaster bepaalt het tempo van de zaal.</a:t>
            </a:r>
          </a:p>
        </p:txBody>
      </p:sp>
      <p:sp>
        <p:nvSpPr>
          <p:cNvPr id="8" name="image-frame-quizmaster-vraag-open.jpg">
            <a:extLst xmlns:a="http://schemas.openxmlformats.org/drawingml/2006/main">
              <a:ext uri="{FF2B5EF4-FFF2-40B4-BE49-F238E27FC236}">
                <a16:creationId xmlns:a16="http://schemas.microsoft.com/office/drawing/2014/main" id="{38D35D45-8387-4089-BE15-3E783B875D9E}"/>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6b9606eb8414066"/>
          <a:stretch xmlns:a="http://schemas.openxmlformats.org/drawingml/2006/main"/>
        </p:blipFill>
        <p:spPr>
          <a:xfrm xmlns:a="http://schemas.openxmlformats.org/drawingml/2006/main">
            <a:off x="689847" y="1600200"/>
            <a:ext cx="6278406" cy="3533775"/>
          </a:xfrm>
          <a:prstGeom xmlns:a="http://schemas.openxmlformats.org/drawingml/2006/main" prst="roundRect">
            <a:avLst>
              <a:gd name="adj" fmla="val 3235"/>
            </a:avLst>
          </a:prstGeom>
        </p:spPr>
      </p:pic>
      <p:sp>
        <p:nvSpPr>
          <p:cNvPr id="10" name="image-caption-8">
            <a:extLst xmlns:a="http://schemas.openxmlformats.org/drawingml/2006/main">
              <a:ext uri="{FF2B5EF4-FFF2-40B4-BE49-F238E27FC236}">
                <a16:creationId xmlns:a16="http://schemas.microsoft.com/office/drawing/2014/main" id="{A04716EF-00CC-4227-8ABA-D7B2B6A76648}"/>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526273"/>
                </a:solidFill>
              </a:defRPr>
            </a:pPr>
            <a:r>
              <a:rPr sz="1050" b="1">
                <a:solidFill>
                  <a:srgbClr val="526273"/>
                </a:solidFill>
              </a:rPr>
              <a:t>Echt scherm uit de quiz</a:t>
            </a:r>
          </a:p>
        </p:txBody>
      </p:sp>
      <p:sp>
        <p:nvSpPr>
          <p:cNvPr id="11" name="progress-8">
            <a:extLst xmlns:a="http://schemas.openxmlformats.org/drawingml/2006/main">
              <a:ext uri="{FF2B5EF4-FFF2-40B4-BE49-F238E27FC236}">
                <a16:creationId xmlns:a16="http://schemas.microsoft.com/office/drawing/2014/main" id="{EAC9CF62-AB4F-45AB-BF19-C78701EFB9F0}"/>
              </a:ext>
            </a:extLst>
          </p:cNvPr>
          <p:cNvSpPr>
            <a:spLocks xmlns:a="http://schemas.openxmlformats.org/drawingml/2006/main" noGrp="1"/>
          </p:cNvSpPr>
          <p:nvPr/>
        </p:nvSpPr>
        <p:spPr>
          <a:xfrm xmlns:a="http://schemas.openxmlformats.org/drawingml/2006/main">
            <a:off x="0" y="6800850"/>
            <a:ext cx="8128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8">
            <a:extLst xmlns:a="http://schemas.openxmlformats.org/drawingml/2006/main">
              <a:ext uri="{FF2B5EF4-FFF2-40B4-BE49-F238E27FC236}">
                <a16:creationId xmlns:a16="http://schemas.microsoft.com/office/drawing/2014/main" id="{92C9BF5F-9D0D-4519-9F99-932C20BD957A}"/>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526273"/>
                </a:solidFill>
              </a:defRPr>
            </a:pPr>
            <a:r>
              <a:rPr sz="1050">
                <a:solidFill>
                  <a:srgbClr val="526273"/>
                </a:solidFill>
              </a:rPr>
              <a:t>Live Diabetes Quiz</a:t>
            </a:r>
          </a:p>
        </p:txBody>
      </p:sp>
      <p:sp>
        <p:nvSpPr>
          <p:cNvPr id="13" name="footer-number-8">
            <a:extLst xmlns:a="http://schemas.openxmlformats.org/drawingml/2006/main">
              <a:ext uri="{FF2B5EF4-FFF2-40B4-BE49-F238E27FC236}">
                <a16:creationId xmlns:a16="http://schemas.microsoft.com/office/drawing/2014/main" id="{08680A39-2F63-4C97-8569-E543A18F7F78}"/>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a:solidFill>
                  <a:srgbClr val="526273"/>
                </a:solidFill>
              </a:defRPr>
            </a:pPr>
            <a:r>
              <a:rPr sz="1050">
                <a:solidFill>
                  <a:srgbClr val="526273"/>
                </a:solidFill>
              </a:rPr>
              <a:t>08 / 12</a:t>
            </a:r>
          </a:p>
        </p:txBody>
      </p:sp>
    </p:spTree>
    <p:extLst>
      <p:ext uri="{BB962C8B-B14F-4D97-AF65-F5344CB8AC3E}">
        <p14:creationId xmlns:p14="http://schemas.microsoft.com/office/powerpoint/2010/main" val="640909469"/>
      </p:ext>
    </p:extLst>
  </p:cSld>
</p:sld>
</file>

<file path=ppt/slides/slide9.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9">
            <a:extLst xmlns:a="http://schemas.openxmlformats.org/drawingml/2006/main">
              <a:ext uri="{FF2B5EF4-FFF2-40B4-BE49-F238E27FC236}">
                <a16:creationId xmlns:a16="http://schemas.microsoft.com/office/drawing/2014/main" id="{9082EC45-BFFA-4C18-AF1C-74CEFC3B5065}"/>
              </a:ext>
            </a:extLst>
          </p:cNvPr>
          <p:cNvSpPr>
            <a:spLocks xmlns:a="http://schemas.openxmlformats.org/drawingml/2006/main" noGrp="1"/>
          </p:cNvSpPr>
          <p:nvPr/>
        </p:nvSpPr>
        <p:spPr>
          <a:xfrm xmlns:a="http://schemas.openxmlformats.org/drawingml/2006/main">
            <a:off x="6858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86B9C"/>
                </a:solidFill>
              </a:defRPr>
            </a:pPr>
            <a:r>
              <a:rPr sz="1125" b="1">
                <a:solidFill>
                  <a:srgbClr val="086B9C"/>
                </a:solidFill>
              </a:rPr>
              <a:t>STAP 7 · SAMEN LEREN</a:t>
            </a:r>
          </a:p>
        </p:txBody>
      </p:sp>
      <p:sp>
        <p:nvSpPr>
          <p:cNvPr id="2" name="title-9">
            <a:extLst xmlns:a="http://schemas.openxmlformats.org/drawingml/2006/main">
              <a:ext uri="{FF2B5EF4-FFF2-40B4-BE49-F238E27FC236}">
                <a16:creationId xmlns:a16="http://schemas.microsoft.com/office/drawing/2014/main" id="{98FFDB51-E79B-42D3-9685-551CE0B57107}"/>
              </a:ext>
            </a:extLst>
          </p:cNvPr>
          <p:cNvSpPr>
            <a:spLocks xmlns:a="http://schemas.openxmlformats.org/drawingml/2006/main" noGrp="1"/>
          </p:cNvSpPr>
          <p:nvPr/>
        </p:nvSpPr>
        <p:spPr>
          <a:xfrm xmlns:a="http://schemas.openxmlformats.org/drawingml/2006/main">
            <a:off x="6858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925" b="1">
                <a:solidFill>
                  <a:srgbClr val="17212B"/>
                </a:solidFill>
              </a:defRPr>
            </a:pPr>
            <a:r>
              <a:rPr sz="2925" b="1">
                <a:solidFill>
                  <a:srgbClr val="17212B"/>
                </a:solidFill>
              </a:rPr>
              <a:t>Toon de oplossing en bespreek ze kort</a:t>
            </a:r>
          </a:p>
        </p:txBody>
      </p:sp>
      <p:sp>
        <p:nvSpPr>
          <p:cNvPr id="3" name="accent-9">
            <a:extLst xmlns:a="http://schemas.openxmlformats.org/drawingml/2006/main">
              <a:ext uri="{FF2B5EF4-FFF2-40B4-BE49-F238E27FC236}">
                <a16:creationId xmlns:a16="http://schemas.microsoft.com/office/drawing/2014/main" id="{985D55C5-0C7E-404E-8C01-F8919E2AD596}"/>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9">
            <a:extLst xmlns:a="http://schemas.openxmlformats.org/drawingml/2006/main">
              <a:ext uri="{FF2B5EF4-FFF2-40B4-BE49-F238E27FC236}">
                <a16:creationId xmlns:a16="http://schemas.microsoft.com/office/drawing/2014/main" id="{931A95A6-D1E0-48F1-90F7-BE187C3E4126}"/>
              </a:ext>
            </a:extLst>
          </p:cNvPr>
          <p:cNvSpPr>
            <a:spLocks xmlns:a="http://schemas.openxmlformats.org/drawingml/2006/main" noGrp="1"/>
          </p:cNvSpPr>
          <p:nvPr/>
        </p:nvSpPr>
        <p:spPr>
          <a:xfrm xmlns:a="http://schemas.openxmlformats.org/drawingml/2006/main">
            <a:off x="6858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7212B"/>
                </a:solidFill>
              </a:defRPr>
            </a:pPr>
            <a:r>
              <a:rPr sz="1725">
                <a:solidFill>
                  <a:srgbClr val="17212B"/>
                </a:solidFill>
              </a:rPr>
              <a:t>• Verdeling van de antwoorden</a:t>
            </a:r>
          </a:p>
          <a:p xmlns:a="http://schemas.openxmlformats.org/drawingml/2006/main">
            <a:pPr>
              <a:buNone/>
              <a:defRPr sz="1725">
                <a:solidFill>
                  <a:srgbClr val="17212B"/>
                </a:solidFill>
              </a:defRPr>
            </a:pPr>
            <a:r>
              <a:rPr sz="1725">
                <a:solidFill>
                  <a:srgbClr val="17212B"/>
                </a:solidFill>
              </a:rPr>
              <a:t>• Juiste antwoord duidelijk gemarkeerd</a:t>
            </a:r>
          </a:p>
          <a:p xmlns:a="http://schemas.openxmlformats.org/drawingml/2006/main">
            <a:pPr>
              <a:buNone/>
              <a:defRPr sz="1725">
                <a:solidFill>
                  <a:srgbClr val="17212B"/>
                </a:solidFill>
              </a:defRPr>
            </a:pPr>
            <a:r>
              <a:rPr sz="1725">
                <a:solidFill>
                  <a:srgbClr val="17212B"/>
                </a:solidFill>
              </a:rPr>
              <a:t>• Daarna naar de volgende vraag</a:t>
            </a:r>
          </a:p>
        </p:txBody>
      </p:sp>
      <p:sp>
        <p:nvSpPr>
          <p:cNvPr id="5" name="takeaway-box-9">
            <a:extLst xmlns:a="http://schemas.openxmlformats.org/drawingml/2006/main">
              <a:ext uri="{FF2B5EF4-FFF2-40B4-BE49-F238E27FC236}">
                <a16:creationId xmlns:a16="http://schemas.microsoft.com/office/drawing/2014/main" id="{81D5C353-4933-4DDC-A4E2-EA215D67B657}"/>
              </a:ext>
            </a:extLst>
          </p:cNvPr>
          <p:cNvSpPr>
            <a:spLocks xmlns:a="http://schemas.openxmlformats.org/drawingml/2006/main" noGrp="1"/>
          </p:cNvSpPr>
          <p:nvPr/>
        </p:nvSpPr>
        <p:spPr>
          <a:xfrm xmlns:a="http://schemas.openxmlformats.org/drawingml/2006/main">
            <a:off x="6858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9">
            <a:extLst xmlns:a="http://schemas.openxmlformats.org/drawingml/2006/main">
              <a:ext uri="{FF2B5EF4-FFF2-40B4-BE49-F238E27FC236}">
                <a16:creationId xmlns:a16="http://schemas.microsoft.com/office/drawing/2014/main" id="{F4685FE4-AFCC-4967-9C9A-B5D29947CD95}"/>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9">
            <a:extLst xmlns:a="http://schemas.openxmlformats.org/drawingml/2006/main">
              <a:ext uri="{FF2B5EF4-FFF2-40B4-BE49-F238E27FC236}">
                <a16:creationId xmlns:a16="http://schemas.microsoft.com/office/drawing/2014/main" id="{46047647-7B57-44E1-A227-3067C1CFA580}"/>
              </a:ext>
            </a:extLst>
          </p:cNvPr>
          <p:cNvSpPr>
            <a:spLocks xmlns:a="http://schemas.openxmlformats.org/drawingml/2006/main" noGrp="1"/>
          </p:cNvSpPr>
          <p:nvPr/>
        </p:nvSpPr>
        <p:spPr>
          <a:xfrm xmlns:a="http://schemas.openxmlformats.org/drawingml/2006/main">
            <a:off x="9525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76B3A"/>
                </a:solidFill>
              </a:defRPr>
            </a:pPr>
            <a:r>
              <a:rPr sz="1500" b="1">
                <a:solidFill>
                  <a:srgbClr val="176B3A"/>
                </a:solidFill>
              </a:rPr>
              <a:t>Een korte toelichting maakt van de quiz ook een leermoment.</a:t>
            </a:r>
          </a:p>
        </p:txBody>
      </p:sp>
      <p:sp>
        <p:nvSpPr>
          <p:cNvPr id="8" name="image-frame-quizmaster-oplossing.jpg">
            <a:extLst xmlns:a="http://schemas.openxmlformats.org/drawingml/2006/main">
              <a:ext uri="{FF2B5EF4-FFF2-40B4-BE49-F238E27FC236}">
                <a16:creationId xmlns:a16="http://schemas.microsoft.com/office/drawing/2014/main" id="{C6BD6724-E5B3-4A19-8791-4054DC1B16EF}"/>
              </a:ext>
            </a:extLst>
          </p:cNvPr>
          <p:cNvSpPr>
            <a:spLocks xmlns:a="http://schemas.openxmlformats.org/drawingml/2006/main" noGrp="1"/>
          </p:cNvSpPr>
          <p:nvPr/>
        </p:nvSpPr>
        <p:spPr>
          <a:xfrm xmlns:a="http://schemas.openxmlformats.org/drawingml/2006/main">
            <a:off x="51244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055831e8c7c44c5a"/>
          <a:stretch xmlns:a="http://schemas.openxmlformats.org/drawingml/2006/main"/>
        </p:blipFill>
        <p:spPr>
          <a:xfrm xmlns:a="http://schemas.openxmlformats.org/drawingml/2006/main">
            <a:off x="5223747" y="1600200"/>
            <a:ext cx="6278406" cy="3533775"/>
          </a:xfrm>
          <a:prstGeom xmlns:a="http://schemas.openxmlformats.org/drawingml/2006/main" prst="roundRect">
            <a:avLst>
              <a:gd name="adj" fmla="val 3235"/>
            </a:avLst>
          </a:prstGeom>
        </p:spPr>
      </p:pic>
      <p:sp>
        <p:nvSpPr>
          <p:cNvPr id="10" name="image-caption-9">
            <a:extLst xmlns:a="http://schemas.openxmlformats.org/drawingml/2006/main">
              <a:ext uri="{FF2B5EF4-FFF2-40B4-BE49-F238E27FC236}">
                <a16:creationId xmlns:a16="http://schemas.microsoft.com/office/drawing/2014/main" id="{0D198644-9153-4D21-B682-F7F222AE88AC}"/>
              </a:ext>
            </a:extLst>
          </p:cNvPr>
          <p:cNvSpPr>
            <a:spLocks xmlns:a="http://schemas.openxmlformats.org/drawingml/2006/main" noGrp="1"/>
          </p:cNvSpPr>
          <p:nvPr/>
        </p:nvSpPr>
        <p:spPr>
          <a:xfrm xmlns:a="http://schemas.openxmlformats.org/drawingml/2006/main">
            <a:off x="52197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526273"/>
                </a:solidFill>
              </a:defRPr>
            </a:pPr>
            <a:r>
              <a:rPr sz="1050" b="1">
                <a:solidFill>
                  <a:srgbClr val="526273"/>
                </a:solidFill>
              </a:rPr>
              <a:t>Echt scherm uit de quiz</a:t>
            </a:r>
          </a:p>
        </p:txBody>
      </p:sp>
      <p:sp>
        <p:nvSpPr>
          <p:cNvPr id="11" name="progress-9">
            <a:extLst xmlns:a="http://schemas.openxmlformats.org/drawingml/2006/main">
              <a:ext uri="{FF2B5EF4-FFF2-40B4-BE49-F238E27FC236}">
                <a16:creationId xmlns:a16="http://schemas.microsoft.com/office/drawing/2014/main" id="{E69477D0-DB80-40A5-A80B-B504222507D8}"/>
              </a:ext>
            </a:extLst>
          </p:cNvPr>
          <p:cNvSpPr>
            <a:spLocks xmlns:a="http://schemas.openxmlformats.org/drawingml/2006/main" noGrp="1"/>
          </p:cNvSpPr>
          <p:nvPr/>
        </p:nvSpPr>
        <p:spPr>
          <a:xfrm xmlns:a="http://schemas.openxmlformats.org/drawingml/2006/main">
            <a:off x="0" y="6800850"/>
            <a:ext cx="9144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9">
            <a:extLst xmlns:a="http://schemas.openxmlformats.org/drawingml/2006/main">
              <a:ext uri="{FF2B5EF4-FFF2-40B4-BE49-F238E27FC236}">
                <a16:creationId xmlns:a16="http://schemas.microsoft.com/office/drawing/2014/main" id="{1BFF2CC2-7284-41D0-9F9B-2ED5A12E05BB}"/>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526273"/>
                </a:solidFill>
              </a:defRPr>
            </a:pPr>
            <a:r>
              <a:rPr sz="1050">
                <a:solidFill>
                  <a:srgbClr val="526273"/>
                </a:solidFill>
              </a:rPr>
              <a:t>Live Diabetes Quiz</a:t>
            </a:r>
          </a:p>
        </p:txBody>
      </p:sp>
      <p:sp>
        <p:nvSpPr>
          <p:cNvPr id="13" name="footer-number-9">
            <a:extLst xmlns:a="http://schemas.openxmlformats.org/drawingml/2006/main">
              <a:ext uri="{FF2B5EF4-FFF2-40B4-BE49-F238E27FC236}">
                <a16:creationId xmlns:a16="http://schemas.microsoft.com/office/drawing/2014/main" id="{8807071E-B2EB-4F79-98DE-211EB1739BD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a:solidFill>
                  <a:srgbClr val="526273"/>
                </a:solidFill>
              </a:defRPr>
            </a:pPr>
            <a:r>
              <a:rPr sz="1050">
                <a:solidFill>
                  <a:srgbClr val="526273"/>
                </a:solidFill>
              </a:rPr>
              <a:t>09 / 12</a:t>
            </a:r>
          </a:p>
        </p:txBody>
      </p:sp>
    </p:spTree>
    <p:extLst>
      <p:ext uri="{BB962C8B-B14F-4D97-AF65-F5344CB8AC3E}">
        <p14:creationId xmlns:p14="http://schemas.microsoft.com/office/powerpoint/2010/main" val="2076057286"/>
      </p:ext>
    </p:extLst>
  </p:cSld>
</p:sld>
</file>

<file path=ppt/slides/slide10.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0">
            <a:extLst xmlns:a="http://schemas.openxmlformats.org/drawingml/2006/main">
              <a:ext uri="{FF2B5EF4-FFF2-40B4-BE49-F238E27FC236}">
                <a16:creationId xmlns:a16="http://schemas.microsoft.com/office/drawing/2014/main" id="{C3B3B5DA-0D4D-4E93-807E-34A7C1EF576B}"/>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86B9C"/>
                </a:solidFill>
              </a:defRPr>
            </a:pPr>
            <a:r>
              <a:rPr sz="1125" b="1">
                <a:solidFill>
                  <a:srgbClr val="086B9C"/>
                </a:solidFill>
              </a:rPr>
              <a:t>NA DE LAATSTE VRAAG</a:t>
            </a:r>
          </a:p>
        </p:txBody>
      </p:sp>
      <p:sp>
        <p:nvSpPr>
          <p:cNvPr id="2" name="title-10">
            <a:extLst xmlns:a="http://schemas.openxmlformats.org/drawingml/2006/main">
              <a:ext uri="{FF2B5EF4-FFF2-40B4-BE49-F238E27FC236}">
                <a16:creationId xmlns:a16="http://schemas.microsoft.com/office/drawing/2014/main" id="{07C09F01-F572-462B-BC9A-B62FD6B5C905}"/>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925" b="1">
                <a:solidFill>
                  <a:srgbClr val="17212B"/>
                </a:solidFill>
              </a:defRPr>
            </a:pPr>
            <a:r>
              <a:rPr sz="2925" b="1">
                <a:solidFill>
                  <a:srgbClr val="17212B"/>
                </a:solidFill>
              </a:rPr>
              <a:t>Iedere deelnemer krijgt een persoonlijk resultaat</a:t>
            </a:r>
          </a:p>
        </p:txBody>
      </p:sp>
      <p:sp>
        <p:nvSpPr>
          <p:cNvPr id="3" name="accent-10">
            <a:extLst xmlns:a="http://schemas.openxmlformats.org/drawingml/2006/main">
              <a:ext uri="{FF2B5EF4-FFF2-40B4-BE49-F238E27FC236}">
                <a16:creationId xmlns:a16="http://schemas.microsoft.com/office/drawing/2014/main" id="{93D37278-69FB-492B-A240-30902EFA7018}"/>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10">
            <a:extLst xmlns:a="http://schemas.openxmlformats.org/drawingml/2006/main">
              <a:ext uri="{FF2B5EF4-FFF2-40B4-BE49-F238E27FC236}">
                <a16:creationId xmlns:a16="http://schemas.microsoft.com/office/drawing/2014/main" id="{21CE16E9-BBD8-4999-9B4F-F0F09647FFC4}"/>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7212B"/>
                </a:solidFill>
              </a:defRPr>
            </a:pPr>
            <a:r>
              <a:rPr sz="1725">
                <a:solidFill>
                  <a:srgbClr val="17212B"/>
                </a:solidFill>
              </a:rPr>
              <a:t>• Persoonlijke score</a:t>
            </a:r>
          </a:p>
          <a:p xmlns:a="http://schemas.openxmlformats.org/drawingml/2006/main">
            <a:pPr>
              <a:buNone/>
              <a:defRPr sz="1725">
                <a:solidFill>
                  <a:srgbClr val="17212B"/>
                </a:solidFill>
              </a:defRPr>
            </a:pPr>
            <a:r>
              <a:rPr sz="1725">
                <a:solidFill>
                  <a:srgbClr val="17212B"/>
                </a:solidFill>
              </a:rPr>
              <a:t>• Eigen foute antwoorden</a:t>
            </a:r>
          </a:p>
          <a:p xmlns:a="http://schemas.openxmlformats.org/drawingml/2006/main">
            <a:pPr>
              <a:buNone/>
              <a:defRPr sz="1725">
                <a:solidFill>
                  <a:srgbClr val="17212B"/>
                </a:solidFill>
              </a:defRPr>
            </a:pPr>
            <a:r>
              <a:rPr sz="1725">
                <a:solidFill>
                  <a:srgbClr val="17212B"/>
                </a:solidFill>
              </a:rPr>
              <a:t>• Geen namen of rangschikking</a:t>
            </a:r>
          </a:p>
        </p:txBody>
      </p:sp>
      <p:sp>
        <p:nvSpPr>
          <p:cNvPr id="5" name="takeaway-box-10">
            <a:extLst xmlns:a="http://schemas.openxmlformats.org/drawingml/2006/main">
              <a:ext uri="{FF2B5EF4-FFF2-40B4-BE49-F238E27FC236}">
                <a16:creationId xmlns:a16="http://schemas.microsoft.com/office/drawing/2014/main" id="{2B8F8519-C136-4D2F-B4B8-A9A733A9A931}"/>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10">
            <a:extLst xmlns:a="http://schemas.openxmlformats.org/drawingml/2006/main">
              <a:ext uri="{FF2B5EF4-FFF2-40B4-BE49-F238E27FC236}">
                <a16:creationId xmlns:a16="http://schemas.microsoft.com/office/drawing/2014/main" id="{0A67FAB1-BB6C-415F-9E92-844F6E236270}"/>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10">
            <a:extLst xmlns:a="http://schemas.openxmlformats.org/drawingml/2006/main">
              <a:ext uri="{FF2B5EF4-FFF2-40B4-BE49-F238E27FC236}">
                <a16:creationId xmlns:a16="http://schemas.microsoft.com/office/drawing/2014/main" id="{59294509-EB92-4E7B-A4B4-F2F3D8A4280C}"/>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76B3A"/>
                </a:solidFill>
              </a:defRPr>
            </a:pPr>
            <a:r>
              <a:rPr sz="1500" b="1">
                <a:solidFill>
                  <a:srgbClr val="176B3A"/>
                </a:solidFill>
              </a:rPr>
              <a:t>Alleen de deelnemer zelf ziet het persoonlijke overzicht.</a:t>
            </a:r>
          </a:p>
        </p:txBody>
      </p:sp>
      <p:sp>
        <p:nvSpPr>
          <p:cNvPr id="8" name="image-frame-deelnemer-resultaat.jpg">
            <a:extLst xmlns:a="http://schemas.openxmlformats.org/drawingml/2006/main">
              <a:ext uri="{FF2B5EF4-FFF2-40B4-BE49-F238E27FC236}">
                <a16:creationId xmlns:a16="http://schemas.microsoft.com/office/drawing/2014/main" id="{7E7EA968-73D3-458E-9097-9F9378B2505D}"/>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91756e5c5f44942"/>
          <a:stretch xmlns:a="http://schemas.openxmlformats.org/drawingml/2006/main"/>
        </p:blipFill>
        <p:spPr>
          <a:xfrm xmlns:a="http://schemas.openxmlformats.org/drawingml/2006/main">
            <a:off x="689847" y="1600200"/>
            <a:ext cx="6278406" cy="3533775"/>
          </a:xfrm>
          <a:prstGeom xmlns:a="http://schemas.openxmlformats.org/drawingml/2006/main" prst="roundRect">
            <a:avLst>
              <a:gd name="adj" fmla="val 3235"/>
            </a:avLst>
          </a:prstGeom>
        </p:spPr>
      </p:pic>
      <p:sp>
        <p:nvSpPr>
          <p:cNvPr id="10" name="image-caption-10">
            <a:extLst xmlns:a="http://schemas.openxmlformats.org/drawingml/2006/main">
              <a:ext uri="{FF2B5EF4-FFF2-40B4-BE49-F238E27FC236}">
                <a16:creationId xmlns:a16="http://schemas.microsoft.com/office/drawing/2014/main" id="{C305491A-E457-438E-BCDC-8783C00064E7}"/>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526273"/>
                </a:solidFill>
              </a:defRPr>
            </a:pPr>
            <a:r>
              <a:rPr sz="1050" b="1">
                <a:solidFill>
                  <a:srgbClr val="526273"/>
                </a:solidFill>
              </a:rPr>
              <a:t>Echt scherm uit de quiz</a:t>
            </a:r>
          </a:p>
        </p:txBody>
      </p:sp>
      <p:sp>
        <p:nvSpPr>
          <p:cNvPr id="11" name="progress-10">
            <a:extLst xmlns:a="http://schemas.openxmlformats.org/drawingml/2006/main">
              <a:ext uri="{FF2B5EF4-FFF2-40B4-BE49-F238E27FC236}">
                <a16:creationId xmlns:a16="http://schemas.microsoft.com/office/drawing/2014/main" id="{0E18519D-212C-4951-8105-778599CA0C66}"/>
              </a:ext>
            </a:extLst>
          </p:cNvPr>
          <p:cNvSpPr>
            <a:spLocks xmlns:a="http://schemas.openxmlformats.org/drawingml/2006/main" noGrp="1"/>
          </p:cNvSpPr>
          <p:nvPr/>
        </p:nvSpPr>
        <p:spPr>
          <a:xfrm xmlns:a="http://schemas.openxmlformats.org/drawingml/2006/main">
            <a:off x="0" y="6800850"/>
            <a:ext cx="10160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10">
            <a:extLst xmlns:a="http://schemas.openxmlformats.org/drawingml/2006/main">
              <a:ext uri="{FF2B5EF4-FFF2-40B4-BE49-F238E27FC236}">
                <a16:creationId xmlns:a16="http://schemas.microsoft.com/office/drawing/2014/main" id="{F456A8A4-0D31-4024-ADBA-51C1515938E2}"/>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526273"/>
                </a:solidFill>
              </a:defRPr>
            </a:pPr>
            <a:r>
              <a:rPr sz="1050">
                <a:solidFill>
                  <a:srgbClr val="526273"/>
                </a:solidFill>
              </a:rPr>
              <a:t>Live Diabetes Quiz</a:t>
            </a:r>
          </a:p>
        </p:txBody>
      </p:sp>
      <p:sp>
        <p:nvSpPr>
          <p:cNvPr id="13" name="footer-number-10">
            <a:extLst xmlns:a="http://schemas.openxmlformats.org/drawingml/2006/main">
              <a:ext uri="{FF2B5EF4-FFF2-40B4-BE49-F238E27FC236}">
                <a16:creationId xmlns:a16="http://schemas.microsoft.com/office/drawing/2014/main" id="{9C16D4C3-00E7-41EE-8657-E47B1141E85E}"/>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a:solidFill>
                  <a:srgbClr val="526273"/>
                </a:solidFill>
              </a:defRPr>
            </a:pPr>
            <a:r>
              <a:rPr sz="1050">
                <a:solidFill>
                  <a:srgbClr val="526273"/>
                </a:solidFill>
              </a:rPr>
              <a:t>10 / 12</a:t>
            </a:r>
          </a:p>
        </p:txBody>
      </p:sp>
    </p:spTree>
    <p:extLst>
      <p:ext uri="{BB962C8B-B14F-4D97-AF65-F5344CB8AC3E}">
        <p14:creationId xmlns:p14="http://schemas.microsoft.com/office/powerpoint/2010/main" val="2132287556"/>
      </p:ext>
    </p:extLst>
  </p:cSld>
</p:sld>
</file>

<file path=ppt/slides/slide11.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1">
            <a:extLst xmlns:a="http://schemas.openxmlformats.org/drawingml/2006/main">
              <a:ext uri="{FF2B5EF4-FFF2-40B4-BE49-F238E27FC236}">
                <a16:creationId xmlns:a16="http://schemas.microsoft.com/office/drawing/2014/main" id="{0A6EB091-244C-4297-9328-312178889F9B}"/>
              </a:ext>
            </a:extLst>
          </p:cNvPr>
          <p:cNvSpPr>
            <a:spLocks xmlns:a="http://schemas.openxmlformats.org/drawingml/2006/main" noGrp="1"/>
          </p:cNvSpPr>
          <p:nvPr/>
        </p:nvSpPr>
        <p:spPr>
          <a:xfrm xmlns:a="http://schemas.openxmlformats.org/drawingml/2006/main">
            <a:off x="6858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86B9C"/>
                </a:solidFill>
              </a:defRPr>
            </a:pPr>
            <a:r>
              <a:rPr sz="1125" b="1">
                <a:solidFill>
                  <a:srgbClr val="086B9C"/>
                </a:solidFill>
              </a:rPr>
              <a:t>GEZAMENLIJKE EINDANALYSE</a:t>
            </a:r>
          </a:p>
        </p:txBody>
      </p:sp>
      <p:sp>
        <p:nvSpPr>
          <p:cNvPr id="2" name="title-11">
            <a:extLst xmlns:a="http://schemas.openxmlformats.org/drawingml/2006/main">
              <a:ext uri="{FF2B5EF4-FFF2-40B4-BE49-F238E27FC236}">
                <a16:creationId xmlns:a16="http://schemas.microsoft.com/office/drawing/2014/main" id="{7A472040-157A-460E-B91C-FE908E48D5E1}"/>
              </a:ext>
            </a:extLst>
          </p:cNvPr>
          <p:cNvSpPr>
            <a:spLocks xmlns:a="http://schemas.openxmlformats.org/drawingml/2006/main" noGrp="1"/>
          </p:cNvSpPr>
          <p:nvPr/>
        </p:nvSpPr>
        <p:spPr>
          <a:xfrm xmlns:a="http://schemas.openxmlformats.org/drawingml/2006/main">
            <a:off x="6858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925" b="1">
                <a:solidFill>
                  <a:srgbClr val="17212B"/>
                </a:solidFill>
              </a:defRPr>
            </a:pPr>
            <a:r>
              <a:rPr sz="2925" b="1">
                <a:solidFill>
                  <a:srgbClr val="17212B"/>
                </a:solidFill>
              </a:rPr>
              <a:t>De zaal sluit af met drie leerpunten</a:t>
            </a:r>
          </a:p>
        </p:txBody>
      </p:sp>
      <p:sp>
        <p:nvSpPr>
          <p:cNvPr id="3" name="accent-11">
            <a:extLst xmlns:a="http://schemas.openxmlformats.org/drawingml/2006/main">
              <a:ext uri="{FF2B5EF4-FFF2-40B4-BE49-F238E27FC236}">
                <a16:creationId xmlns:a16="http://schemas.microsoft.com/office/drawing/2014/main" id="{A8A6733A-603F-473C-ABB7-7047DCECD306}"/>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11">
            <a:extLst xmlns:a="http://schemas.openxmlformats.org/drawingml/2006/main">
              <a:ext uri="{FF2B5EF4-FFF2-40B4-BE49-F238E27FC236}">
                <a16:creationId xmlns:a16="http://schemas.microsoft.com/office/drawing/2014/main" id="{22A88B48-AB05-4681-85A7-50B82DA576EF}"/>
              </a:ext>
            </a:extLst>
          </p:cNvPr>
          <p:cNvSpPr>
            <a:spLocks xmlns:a="http://schemas.openxmlformats.org/drawingml/2006/main" noGrp="1"/>
          </p:cNvSpPr>
          <p:nvPr/>
        </p:nvSpPr>
        <p:spPr>
          <a:xfrm xmlns:a="http://schemas.openxmlformats.org/drawingml/2006/main">
            <a:off x="6858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7212B"/>
                </a:solidFill>
              </a:defRPr>
            </a:pPr>
            <a:r>
              <a:rPr sz="1725">
                <a:solidFill>
                  <a:srgbClr val="17212B"/>
                </a:solidFill>
              </a:rPr>
              <a:t>• Top drie meest fout beantwoorde vragen</a:t>
            </a:r>
          </a:p>
          <a:p xmlns:a="http://schemas.openxmlformats.org/drawingml/2006/main">
            <a:pPr>
              <a:buNone/>
              <a:defRPr sz="1725">
                <a:solidFill>
                  <a:srgbClr val="17212B"/>
                </a:solidFill>
              </a:defRPr>
            </a:pPr>
            <a:r>
              <a:rPr sz="1725">
                <a:solidFill>
                  <a:srgbClr val="17212B"/>
                </a:solidFill>
              </a:rPr>
              <a:t>• De vraag opnieuw zichtbaar</a:t>
            </a:r>
          </a:p>
          <a:p xmlns:a="http://schemas.openxmlformats.org/drawingml/2006/main">
            <a:pPr>
              <a:buNone/>
              <a:defRPr sz="1725">
                <a:solidFill>
                  <a:srgbClr val="17212B"/>
                </a:solidFill>
              </a:defRPr>
            </a:pPr>
            <a:r>
              <a:rPr sz="1725">
                <a:solidFill>
                  <a:srgbClr val="17212B"/>
                </a:solidFill>
              </a:rPr>
              <a:t>• Het juiste antwoord erbij</a:t>
            </a:r>
          </a:p>
        </p:txBody>
      </p:sp>
      <p:sp>
        <p:nvSpPr>
          <p:cNvPr id="5" name="takeaway-box-11">
            <a:extLst xmlns:a="http://schemas.openxmlformats.org/drawingml/2006/main">
              <a:ext uri="{FF2B5EF4-FFF2-40B4-BE49-F238E27FC236}">
                <a16:creationId xmlns:a16="http://schemas.microsoft.com/office/drawing/2014/main" id="{755956FE-31C7-40DA-A2EE-075C074D426C}"/>
              </a:ext>
            </a:extLst>
          </p:cNvPr>
          <p:cNvSpPr>
            <a:spLocks xmlns:a="http://schemas.openxmlformats.org/drawingml/2006/main" noGrp="1"/>
          </p:cNvSpPr>
          <p:nvPr/>
        </p:nvSpPr>
        <p:spPr>
          <a:xfrm xmlns:a="http://schemas.openxmlformats.org/drawingml/2006/main">
            <a:off x="6858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11">
            <a:extLst xmlns:a="http://schemas.openxmlformats.org/drawingml/2006/main">
              <a:ext uri="{FF2B5EF4-FFF2-40B4-BE49-F238E27FC236}">
                <a16:creationId xmlns:a16="http://schemas.microsoft.com/office/drawing/2014/main" id="{7B62B28C-858E-44D9-B5D4-4CEDC342CBDE}"/>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11">
            <a:extLst xmlns:a="http://schemas.openxmlformats.org/drawingml/2006/main">
              <a:ext uri="{FF2B5EF4-FFF2-40B4-BE49-F238E27FC236}">
                <a16:creationId xmlns:a16="http://schemas.microsoft.com/office/drawing/2014/main" id="{6A9DAEBB-EA01-470D-88D2-6AEC69C24908}"/>
              </a:ext>
            </a:extLst>
          </p:cNvPr>
          <p:cNvSpPr>
            <a:spLocks xmlns:a="http://schemas.openxmlformats.org/drawingml/2006/main" noGrp="1"/>
          </p:cNvSpPr>
          <p:nvPr/>
        </p:nvSpPr>
        <p:spPr>
          <a:xfrm xmlns:a="http://schemas.openxmlformats.org/drawingml/2006/main">
            <a:off x="9525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76B3A"/>
                </a:solidFill>
              </a:defRPr>
            </a:pPr>
            <a:r>
              <a:rPr sz="1500" b="1">
                <a:solidFill>
                  <a:srgbClr val="176B3A"/>
                </a:solidFill>
              </a:rPr>
              <a:t>De eindanalyse herhaalt wat voor de groep het moeilijkst was.</a:t>
            </a:r>
          </a:p>
        </p:txBody>
      </p:sp>
      <p:sp>
        <p:nvSpPr>
          <p:cNvPr id="8" name="image-frame-zaalscherm-eindanalyse.jpg">
            <a:extLst xmlns:a="http://schemas.openxmlformats.org/drawingml/2006/main">
              <a:ext uri="{FF2B5EF4-FFF2-40B4-BE49-F238E27FC236}">
                <a16:creationId xmlns:a16="http://schemas.microsoft.com/office/drawing/2014/main" id="{7E8B703C-5ED7-4E40-98D5-FB11CD7A388F}"/>
              </a:ext>
            </a:extLst>
          </p:cNvPr>
          <p:cNvSpPr>
            <a:spLocks xmlns:a="http://schemas.openxmlformats.org/drawingml/2006/main" noGrp="1"/>
          </p:cNvSpPr>
          <p:nvPr/>
        </p:nvSpPr>
        <p:spPr>
          <a:xfrm xmlns:a="http://schemas.openxmlformats.org/drawingml/2006/main">
            <a:off x="51244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b03f6525feb4ad5"/>
          <a:stretch xmlns:a="http://schemas.openxmlformats.org/drawingml/2006/main"/>
        </p:blipFill>
        <p:spPr>
          <a:xfrm xmlns:a="http://schemas.openxmlformats.org/drawingml/2006/main">
            <a:off x="5223747" y="1600200"/>
            <a:ext cx="6278406" cy="3533775"/>
          </a:xfrm>
          <a:prstGeom xmlns:a="http://schemas.openxmlformats.org/drawingml/2006/main" prst="roundRect">
            <a:avLst>
              <a:gd name="adj" fmla="val 3235"/>
            </a:avLst>
          </a:prstGeom>
        </p:spPr>
      </p:pic>
      <p:sp>
        <p:nvSpPr>
          <p:cNvPr id="10" name="image-caption-11">
            <a:extLst xmlns:a="http://schemas.openxmlformats.org/drawingml/2006/main">
              <a:ext uri="{FF2B5EF4-FFF2-40B4-BE49-F238E27FC236}">
                <a16:creationId xmlns:a16="http://schemas.microsoft.com/office/drawing/2014/main" id="{591FDBCE-CD42-4FF2-BAC1-19B6D8C3CF32}"/>
              </a:ext>
            </a:extLst>
          </p:cNvPr>
          <p:cNvSpPr>
            <a:spLocks xmlns:a="http://schemas.openxmlformats.org/drawingml/2006/main" noGrp="1"/>
          </p:cNvSpPr>
          <p:nvPr/>
        </p:nvSpPr>
        <p:spPr>
          <a:xfrm xmlns:a="http://schemas.openxmlformats.org/drawingml/2006/main">
            <a:off x="52197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526273"/>
                </a:solidFill>
              </a:defRPr>
            </a:pPr>
            <a:r>
              <a:rPr sz="1050" b="1">
                <a:solidFill>
                  <a:srgbClr val="526273"/>
                </a:solidFill>
              </a:rPr>
              <a:t>Echt scherm uit de quiz</a:t>
            </a:r>
          </a:p>
        </p:txBody>
      </p:sp>
      <p:sp>
        <p:nvSpPr>
          <p:cNvPr id="11" name="progress-11">
            <a:extLst xmlns:a="http://schemas.openxmlformats.org/drawingml/2006/main">
              <a:ext uri="{FF2B5EF4-FFF2-40B4-BE49-F238E27FC236}">
                <a16:creationId xmlns:a16="http://schemas.microsoft.com/office/drawing/2014/main" id="{DE2B645F-0140-4991-951A-DF2CDBBA6D92}"/>
              </a:ext>
            </a:extLst>
          </p:cNvPr>
          <p:cNvSpPr>
            <a:spLocks xmlns:a="http://schemas.openxmlformats.org/drawingml/2006/main" noGrp="1"/>
          </p:cNvSpPr>
          <p:nvPr/>
        </p:nvSpPr>
        <p:spPr>
          <a:xfrm xmlns:a="http://schemas.openxmlformats.org/drawingml/2006/main">
            <a:off x="0" y="6800850"/>
            <a:ext cx="11176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11">
            <a:extLst xmlns:a="http://schemas.openxmlformats.org/drawingml/2006/main">
              <a:ext uri="{FF2B5EF4-FFF2-40B4-BE49-F238E27FC236}">
                <a16:creationId xmlns:a16="http://schemas.microsoft.com/office/drawing/2014/main" id="{38E9989F-A6A0-4F93-AF37-C10F6E45E796}"/>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526273"/>
                </a:solidFill>
              </a:defRPr>
            </a:pPr>
            <a:r>
              <a:rPr sz="1050">
                <a:solidFill>
                  <a:srgbClr val="526273"/>
                </a:solidFill>
              </a:rPr>
              <a:t>Live Diabetes Quiz</a:t>
            </a:r>
          </a:p>
        </p:txBody>
      </p:sp>
      <p:sp>
        <p:nvSpPr>
          <p:cNvPr id="13" name="footer-number-11">
            <a:extLst xmlns:a="http://schemas.openxmlformats.org/drawingml/2006/main">
              <a:ext uri="{FF2B5EF4-FFF2-40B4-BE49-F238E27FC236}">
                <a16:creationId xmlns:a16="http://schemas.microsoft.com/office/drawing/2014/main" id="{D9D45C24-D66A-4B50-9823-085BD0266E0F}"/>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a:solidFill>
                  <a:srgbClr val="526273"/>
                </a:solidFill>
              </a:defRPr>
            </a:pPr>
            <a:r>
              <a:rPr sz="1050">
                <a:solidFill>
                  <a:srgbClr val="526273"/>
                </a:solidFill>
              </a:rPr>
              <a:t>11 / 12</a:t>
            </a:r>
          </a:p>
        </p:txBody>
      </p:sp>
    </p:spTree>
    <p:extLst>
      <p:ext uri="{BB962C8B-B14F-4D97-AF65-F5344CB8AC3E}">
        <p14:creationId xmlns:p14="http://schemas.microsoft.com/office/powerpoint/2010/main" val="989803388"/>
      </p:ext>
    </p:extLst>
  </p:cSld>
</p:sld>
</file>

<file path=ppt/slides/slide1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2">
            <a:extLst xmlns:a="http://schemas.openxmlformats.org/drawingml/2006/main">
              <a:ext uri="{FF2B5EF4-FFF2-40B4-BE49-F238E27FC236}">
                <a16:creationId xmlns:a16="http://schemas.microsoft.com/office/drawing/2014/main" id="{CCF1F5E2-7CCE-45C7-B97D-0185EAC19776}"/>
              </a:ext>
            </a:extLst>
          </p:cNvPr>
          <p:cNvSpPr>
            <a:spLocks xmlns:a="http://schemas.openxmlformats.org/drawingml/2006/main" noGrp="1"/>
          </p:cNvSpPr>
          <p:nvPr/>
        </p:nvSpPr>
        <p:spPr>
          <a:xfrm xmlns:a="http://schemas.openxmlformats.org/drawingml/2006/main">
            <a:off x="7239000" y="552450"/>
            <a:ext cx="419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086B9C"/>
                </a:solidFill>
              </a:defRPr>
            </a:pPr>
            <a:r>
              <a:rPr sz="1125" b="1">
                <a:solidFill>
                  <a:srgbClr val="086B9C"/>
                </a:solidFill>
              </a:rPr>
              <a:t>TOT SLOT</a:t>
            </a:r>
          </a:p>
        </p:txBody>
      </p:sp>
      <p:sp>
        <p:nvSpPr>
          <p:cNvPr id="2" name="title-12">
            <a:extLst xmlns:a="http://schemas.openxmlformats.org/drawingml/2006/main">
              <a:ext uri="{FF2B5EF4-FFF2-40B4-BE49-F238E27FC236}">
                <a16:creationId xmlns:a16="http://schemas.microsoft.com/office/drawing/2014/main" id="{8F0D33FF-7050-4770-A16A-A52F0D848291}"/>
              </a:ext>
            </a:extLst>
          </p:cNvPr>
          <p:cNvSpPr>
            <a:spLocks xmlns:a="http://schemas.openxmlformats.org/drawingml/2006/main" noGrp="1"/>
          </p:cNvSpPr>
          <p:nvPr/>
        </p:nvSpPr>
        <p:spPr>
          <a:xfrm xmlns:a="http://schemas.openxmlformats.org/drawingml/2006/main">
            <a:off x="7239000" y="933450"/>
            <a:ext cx="42672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925" b="1">
                <a:solidFill>
                  <a:srgbClr val="17212B"/>
                </a:solidFill>
              </a:defRPr>
            </a:pPr>
            <a:r>
              <a:rPr sz="2925" b="1">
                <a:solidFill>
                  <a:srgbClr val="17212B"/>
                </a:solidFill>
              </a:rPr>
              <a:t>Afronden of opnieuw beginnen</a:t>
            </a:r>
          </a:p>
        </p:txBody>
      </p:sp>
      <p:sp>
        <p:nvSpPr>
          <p:cNvPr id="3" name="accent-12">
            <a:extLst xmlns:a="http://schemas.openxmlformats.org/drawingml/2006/main">
              <a:ext uri="{FF2B5EF4-FFF2-40B4-BE49-F238E27FC236}">
                <a16:creationId xmlns:a16="http://schemas.microsoft.com/office/drawing/2014/main" id="{68039F37-641A-440C-82D4-5C83BD3B2E01}"/>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4" name="bullets-12">
            <a:extLst xmlns:a="http://schemas.openxmlformats.org/drawingml/2006/main">
              <a:ext uri="{FF2B5EF4-FFF2-40B4-BE49-F238E27FC236}">
                <a16:creationId xmlns:a16="http://schemas.microsoft.com/office/drawing/2014/main" id="{B4790C87-6EF8-4F0C-8111-3E1B7466414A}"/>
              </a:ext>
            </a:extLst>
          </p:cNvPr>
          <p:cNvSpPr>
            <a:spLocks xmlns:a="http://schemas.openxmlformats.org/drawingml/2006/main" noGrp="1"/>
          </p:cNvSpPr>
          <p:nvPr/>
        </p:nvSpPr>
        <p:spPr>
          <a:xfrm xmlns:a="http://schemas.openxmlformats.org/drawingml/2006/main">
            <a:off x="7239000" y="2571750"/>
            <a:ext cx="42291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725">
                <a:solidFill>
                  <a:srgbClr val="17212B"/>
                </a:solidFill>
              </a:defRPr>
            </a:pPr>
            <a:r>
              <a:rPr sz="1725">
                <a:solidFill>
                  <a:srgbClr val="17212B"/>
                </a:solidFill>
              </a:rPr>
              <a:t>• Bekijk de volledige groepsanalyse</a:t>
            </a:r>
          </a:p>
          <a:p xmlns:a="http://schemas.openxmlformats.org/drawingml/2006/main">
            <a:pPr>
              <a:buNone/>
              <a:defRPr sz="1725">
                <a:solidFill>
                  <a:srgbClr val="17212B"/>
                </a:solidFill>
              </a:defRPr>
            </a:pPr>
            <a:r>
              <a:rPr sz="1725">
                <a:solidFill>
                  <a:srgbClr val="17212B"/>
                </a:solidFill>
              </a:rPr>
              <a:t>• Bereid eventueel een nieuwe sessie voor</a:t>
            </a:r>
          </a:p>
          <a:p xmlns:a="http://schemas.openxmlformats.org/drawingml/2006/main">
            <a:pPr>
              <a:buNone/>
              <a:defRPr sz="1725">
                <a:solidFill>
                  <a:srgbClr val="17212B"/>
                </a:solidFill>
              </a:defRPr>
            </a:pPr>
            <a:r>
              <a:rPr sz="1725">
                <a:solidFill>
                  <a:srgbClr val="17212B"/>
                </a:solidFill>
              </a:rPr>
              <a:t>• Gebruik bij twijfel de handleiding</a:t>
            </a:r>
          </a:p>
        </p:txBody>
      </p:sp>
      <p:sp>
        <p:nvSpPr>
          <p:cNvPr id="5" name="takeaway-box-12">
            <a:extLst xmlns:a="http://schemas.openxmlformats.org/drawingml/2006/main">
              <a:ext uri="{FF2B5EF4-FFF2-40B4-BE49-F238E27FC236}">
                <a16:creationId xmlns:a16="http://schemas.microsoft.com/office/drawing/2014/main" id="{AC424BF4-61D3-422A-8506-C718F65A53CC}"/>
              </a:ext>
            </a:extLst>
          </p:cNvPr>
          <p:cNvSpPr>
            <a:spLocks xmlns:a="http://schemas.openxmlformats.org/drawingml/2006/main" noGrp="1"/>
          </p:cNvSpPr>
          <p:nvPr/>
        </p:nvSpPr>
        <p:spPr>
          <a:xfrm xmlns:a="http://schemas.openxmlformats.org/drawingml/2006/main">
            <a:off x="7239000" y="4229100"/>
            <a:ext cx="4229100" cy="1104900"/>
          </a:xfrm>
          <a:prstGeom xmlns:a="http://schemas.openxmlformats.org/drawingml/2006/main" prst="roundRect">
            <a:avLst>
              <a:gd name="adj" fmla="val 10345"/>
            </a:avLst>
          </a:prstGeom>
          <a:solidFill xmlns:a="http://schemas.openxmlformats.org/drawingml/2006/main">
            <a:srgbClr val="FFFFFF"/>
          </a:solidFill>
          <a:ln xmlns:a="http://schemas.openxmlformats.org/drawingml/2006/main" w="9525">
            <a:solidFill>
              <a:srgbClr val="C9D7DF"/>
            </a:solidFill>
            <a:prstDash val="solid"/>
          </a:ln>
        </p:spPr>
      </p:sp>
      <p:sp>
        <p:nvSpPr>
          <p:cNvPr id="6" name="takeaway-line-12">
            <a:extLst xmlns:a="http://schemas.openxmlformats.org/drawingml/2006/main">
              <a:ext uri="{FF2B5EF4-FFF2-40B4-BE49-F238E27FC236}">
                <a16:creationId xmlns:a16="http://schemas.microsoft.com/office/drawing/2014/main" id="{0DB9385D-5F2D-4335-A656-95355E258166}"/>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76B3A"/>
          </a:solidFill>
          <a:ln xmlns:a="http://schemas.openxmlformats.org/drawingml/2006/main" w="0">
            <a:noFill/>
            <a:prstDash val="solid"/>
          </a:ln>
        </p:spPr>
      </p:sp>
      <p:sp>
        <p:nvSpPr>
          <p:cNvPr id="7" name="takeaway-12">
            <a:extLst xmlns:a="http://schemas.openxmlformats.org/drawingml/2006/main">
              <a:ext uri="{FF2B5EF4-FFF2-40B4-BE49-F238E27FC236}">
                <a16:creationId xmlns:a16="http://schemas.microsoft.com/office/drawing/2014/main" id="{CF2AA6BF-C04C-4C43-ACDE-63D997761D15}"/>
              </a:ext>
            </a:extLst>
          </p:cNvPr>
          <p:cNvSpPr>
            <a:spLocks xmlns:a="http://schemas.openxmlformats.org/drawingml/2006/main" noGrp="1"/>
          </p:cNvSpPr>
          <p:nvPr/>
        </p:nvSpPr>
        <p:spPr>
          <a:xfrm xmlns:a="http://schemas.openxmlformats.org/drawingml/2006/main">
            <a:off x="7505700" y="4476750"/>
            <a:ext cx="3695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76B3A"/>
                </a:solidFill>
              </a:defRPr>
            </a:pPr>
            <a:r>
              <a:rPr sz="1500" b="1">
                <a:solidFill>
                  <a:srgbClr val="176B3A"/>
                </a:solidFill>
              </a:rPr>
              <a:t>Met één korte proef vooraf bent u klaar voor de echte zaalquiz.</a:t>
            </a:r>
          </a:p>
        </p:txBody>
      </p:sp>
      <p:sp>
        <p:nvSpPr>
          <p:cNvPr id="8" name="image-frame-quizmaster-eindanalyse.jpg">
            <a:extLst xmlns:a="http://schemas.openxmlformats.org/drawingml/2006/main">
              <a:ext uri="{FF2B5EF4-FFF2-40B4-BE49-F238E27FC236}">
                <a16:creationId xmlns:a16="http://schemas.microsoft.com/office/drawing/2014/main" id="{234A2BC1-75A3-422A-AA43-E5D029C7DC2F}"/>
              </a:ext>
            </a:extLst>
          </p:cNvPr>
          <p:cNvSpPr>
            <a:spLocks xmlns:a="http://schemas.openxmlformats.org/drawingml/2006/main" noGrp="1"/>
          </p:cNvSpPr>
          <p:nvPr/>
        </p:nvSpPr>
        <p:spPr>
          <a:xfrm xmlns:a="http://schemas.openxmlformats.org/drawingml/2006/main">
            <a:off x="590550" y="1504950"/>
            <a:ext cx="6477000" cy="3724275"/>
          </a:xfrm>
          <a:prstGeom xmlns:a="http://schemas.openxmlformats.org/drawingml/2006/main" prst="roundRect">
            <a:avLst>
              <a:gd name="adj" fmla="val 4092"/>
            </a:avLst>
          </a:prstGeom>
          <a:solidFill xmlns:a="http://schemas.openxmlformats.org/drawingml/2006/main">
            <a:srgbClr val="FFFFFF"/>
          </a:solidFill>
          <a:ln xmlns:a="http://schemas.openxmlformats.org/drawingml/2006/main" w="9525">
            <a:solidFill>
              <a:srgbClr val="C9D7D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7634f51851c4016"/>
          <a:stretch xmlns:a="http://schemas.openxmlformats.org/drawingml/2006/main"/>
        </p:blipFill>
        <p:spPr>
          <a:xfrm xmlns:a="http://schemas.openxmlformats.org/drawingml/2006/main">
            <a:off x="689847" y="1600200"/>
            <a:ext cx="6278406" cy="3533775"/>
          </a:xfrm>
          <a:prstGeom xmlns:a="http://schemas.openxmlformats.org/drawingml/2006/main" prst="roundRect">
            <a:avLst>
              <a:gd name="adj" fmla="val 3235"/>
            </a:avLst>
          </a:prstGeom>
        </p:spPr>
      </p:pic>
      <p:sp>
        <p:nvSpPr>
          <p:cNvPr id="10" name="image-caption-12">
            <a:extLst xmlns:a="http://schemas.openxmlformats.org/drawingml/2006/main">
              <a:ext uri="{FF2B5EF4-FFF2-40B4-BE49-F238E27FC236}">
                <a16:creationId xmlns:a16="http://schemas.microsoft.com/office/drawing/2014/main" id="{696C2487-45E7-4849-9C47-FA887A6FB426}"/>
              </a:ext>
            </a:extLst>
          </p:cNvPr>
          <p:cNvSpPr>
            <a:spLocks xmlns:a="http://schemas.openxmlformats.org/drawingml/2006/main" noGrp="1"/>
          </p:cNvSpPr>
          <p:nvPr/>
        </p:nvSpPr>
        <p:spPr>
          <a:xfrm xmlns:a="http://schemas.openxmlformats.org/drawingml/2006/main">
            <a:off x="685800" y="53530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a:solidFill>
                  <a:srgbClr val="526273"/>
                </a:solidFill>
              </a:defRPr>
            </a:pPr>
            <a:r>
              <a:rPr sz="1050" b="1">
                <a:solidFill>
                  <a:srgbClr val="526273"/>
                </a:solidFill>
              </a:rPr>
              <a:t>Echt scherm uit de quiz</a:t>
            </a:r>
          </a:p>
        </p:txBody>
      </p:sp>
      <p:sp>
        <p:nvSpPr>
          <p:cNvPr id="11" name="progress-12">
            <a:extLst xmlns:a="http://schemas.openxmlformats.org/drawingml/2006/main">
              <a:ext uri="{FF2B5EF4-FFF2-40B4-BE49-F238E27FC236}">
                <a16:creationId xmlns:a16="http://schemas.microsoft.com/office/drawing/2014/main" id="{8BD8F329-F44A-4EF2-8057-3BE1F448AD48}"/>
              </a:ext>
            </a:extLst>
          </p:cNvPr>
          <p:cNvSpPr>
            <a:spLocks xmlns:a="http://schemas.openxmlformats.org/drawingml/2006/main" noGrp="1"/>
          </p:cNvSpPr>
          <p:nvPr/>
        </p:nvSpPr>
        <p:spPr>
          <a:xfrm xmlns:a="http://schemas.openxmlformats.org/drawingml/2006/main">
            <a:off x="0" y="6800850"/>
            <a:ext cx="12192000" cy="57150"/>
          </a:xfrm>
          <a:prstGeom xmlns:a="http://schemas.openxmlformats.org/drawingml/2006/main" prst="rect">
            <a:avLst/>
          </a:prstGeom>
          <a:solidFill xmlns:a="http://schemas.openxmlformats.org/drawingml/2006/main">
            <a:srgbClr val="19A5CA"/>
          </a:solidFill>
          <a:ln xmlns:a="http://schemas.openxmlformats.org/drawingml/2006/main" w="0">
            <a:noFill/>
            <a:prstDash val="solid"/>
          </a:ln>
        </p:spPr>
      </p:sp>
      <p:sp>
        <p:nvSpPr>
          <p:cNvPr id="12" name="footer-label-12">
            <a:extLst xmlns:a="http://schemas.openxmlformats.org/drawingml/2006/main">
              <a:ext uri="{FF2B5EF4-FFF2-40B4-BE49-F238E27FC236}">
                <a16:creationId xmlns:a16="http://schemas.microsoft.com/office/drawing/2014/main" id="{4EA3BF4E-AE92-430F-ADB6-B547059177E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50">
                <a:solidFill>
                  <a:srgbClr val="526273"/>
                </a:solidFill>
              </a:defRPr>
            </a:pPr>
            <a:r>
              <a:rPr sz="1050">
                <a:solidFill>
                  <a:srgbClr val="526273"/>
                </a:solidFill>
              </a:rPr>
              <a:t>Live Diabetes Quiz</a:t>
            </a:r>
          </a:p>
        </p:txBody>
      </p:sp>
      <p:sp>
        <p:nvSpPr>
          <p:cNvPr id="13" name="footer-number-12">
            <a:extLst xmlns:a="http://schemas.openxmlformats.org/drawingml/2006/main">
              <a:ext uri="{FF2B5EF4-FFF2-40B4-BE49-F238E27FC236}">
                <a16:creationId xmlns:a16="http://schemas.microsoft.com/office/drawing/2014/main" id="{8AF9E2B4-5DEB-4675-9FB6-9614C541070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a:solidFill>
                  <a:srgbClr val="526273"/>
                </a:solidFill>
              </a:defRPr>
            </a:pPr>
            <a:r>
              <a:rPr sz="1050">
                <a:solidFill>
                  <a:srgbClr val="526273"/>
                </a:solidFill>
              </a:rPr>
              <a:t>12 / 12</a:t>
            </a:r>
          </a:p>
        </p:txBody>
      </p:sp>
    </p:spTree>
    <p:extLst>
      <p:ext uri="{BB962C8B-B14F-4D97-AF65-F5344CB8AC3E}">
        <p14:creationId xmlns:p14="http://schemas.microsoft.com/office/powerpoint/2010/main" val="10278241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2026-08-10T07:13:31.0890000Z</dcterms:created>
  <dcterms:modified xsi:type="dcterms:W3CDTF">2026-08-10T07:13:31.0890000Z</dcterms:modified>
</coreProperties>
</file>